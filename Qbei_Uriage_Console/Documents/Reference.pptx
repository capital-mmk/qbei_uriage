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removePersonalInfoOnSave="1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551" r:id="rId2"/>
    <p:sldId id="663" r:id="rId3"/>
    <p:sldId id="642" r:id="rId4"/>
    <p:sldId id="643" r:id="rId5"/>
    <p:sldId id="661" r:id="rId6"/>
    <p:sldId id="660" r:id="rId7"/>
    <p:sldId id="644" r:id="rId8"/>
    <p:sldId id="662" r:id="rId9"/>
    <p:sldId id="664" r:id="rId10"/>
    <p:sldId id="650" r:id="rId11"/>
    <p:sldId id="651" r:id="rId12"/>
    <p:sldId id="653" r:id="rId13"/>
    <p:sldId id="647" r:id="rId14"/>
    <p:sldId id="654" r:id="rId15"/>
    <p:sldId id="640" r:id="rId16"/>
    <p:sldId id="620" r:id="rId17"/>
    <p:sldId id="628" r:id="rId18"/>
    <p:sldId id="626" r:id="rId19"/>
    <p:sldId id="629" r:id="rId20"/>
    <p:sldId id="627" r:id="rId21"/>
    <p:sldId id="605" r:id="rId22"/>
    <p:sldId id="595" r:id="rId23"/>
    <p:sldId id="590" r:id="rId24"/>
    <p:sldId id="591" r:id="rId25"/>
    <p:sldId id="600" r:id="rId26"/>
    <p:sldId id="655" r:id="rId27"/>
    <p:sldId id="656" r:id="rId28"/>
    <p:sldId id="657" r:id="rId29"/>
    <p:sldId id="658" r:id="rId30"/>
    <p:sldId id="593" r:id="rId31"/>
    <p:sldId id="601" r:id="rId32"/>
    <p:sldId id="625" r:id="rId33"/>
    <p:sldId id="630" r:id="rId34"/>
    <p:sldId id="631" r:id="rId35"/>
    <p:sldId id="632" r:id="rId36"/>
    <p:sldId id="633" r:id="rId37"/>
    <p:sldId id="636" r:id="rId38"/>
    <p:sldId id="634" r:id="rId39"/>
    <p:sldId id="637" r:id="rId40"/>
    <p:sldId id="635" r:id="rId41"/>
    <p:sldId id="638" r:id="rId42"/>
    <p:sldId id="621" r:id="rId43"/>
    <p:sldId id="597" r:id="rId44"/>
    <p:sldId id="599" r:id="rId45"/>
    <p:sldId id="604" r:id="rId46"/>
    <p:sldId id="602" r:id="rId47"/>
    <p:sldId id="639" r:id="rId48"/>
    <p:sldId id="622" r:id="rId49"/>
    <p:sldId id="610" r:id="rId50"/>
    <p:sldId id="659" r:id="rId51"/>
    <p:sldId id="611" r:id="rId52"/>
  </p:sldIdLst>
  <p:sldSz cx="9144000" cy="6858000" type="screen4x3"/>
  <p:notesSz cx="6735763" cy="9869488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1000" kern="1200">
        <a:solidFill>
          <a:srgbClr val="000000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CCCC"/>
    <a:srgbClr val="CCECFF"/>
    <a:srgbClr val="FFFF99"/>
    <a:srgbClr val="CCFFCC"/>
    <a:srgbClr val="F2F2F2"/>
    <a:srgbClr val="99CCFF"/>
    <a:srgbClr val="FFFFCC"/>
    <a:srgbClr val="0033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3" autoAdjust="0"/>
    <p:restoredTop sz="96118" autoAdjust="0"/>
  </p:normalViewPr>
  <p:slideViewPr>
    <p:cSldViewPr>
      <p:cViewPr varScale="1">
        <p:scale>
          <a:sx n="74" d="100"/>
          <a:sy n="74" d="100"/>
        </p:scale>
        <p:origin x="566" y="4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image" Target="../media/image4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" y="4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934" y="4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" y="9376018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934" y="9376018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5B5871CA-7C8C-3249-8E0D-0E6D0E5A24B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502456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" y="4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934" y="4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8188"/>
            <a:ext cx="4941887" cy="3706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106" y="4688009"/>
            <a:ext cx="4939559" cy="4441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" y="9376018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934" y="9376018"/>
            <a:ext cx="2918830" cy="493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11" tIns="47406" rIns="94811" bIns="47406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158BA567-EAFD-0448-A791-C5884B57D3E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20025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ＭＳ Ｐ明朝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ＭＳ Ｐ明朝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ＭＳ Ｐ明朝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ＭＳ Ｐ明朝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pitchFamily="18" charset="-128"/>
        <a:cs typeface="ＭＳ Ｐ明朝" charset="0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明朝" charset="0"/>
            </a:endParaRPr>
          </a:p>
        </p:txBody>
      </p:sp>
      <p:sp>
        <p:nvSpPr>
          <p:cNvPr id="614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D4E2861-1A46-8E43-AB5F-31C503C03EEA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0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146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02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03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863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072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5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71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6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31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7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733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8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647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5933" indent="-298436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93743" indent="-238749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71240" indent="-238749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48736" indent="-238749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26232" indent="-238749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103730" indent="-238749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81228" indent="-238749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58724" indent="-238749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9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996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10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96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11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32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12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737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13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646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スライド イメージ プレースホル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ノート プレースホル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明朝" charset="0"/>
            </a:endParaRPr>
          </a:p>
        </p:txBody>
      </p:sp>
      <p:sp>
        <p:nvSpPr>
          <p:cNvPr id="6148" name="スライド番号プレースホル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D4E2861-1A46-8E43-AB5F-31C503C03EEA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14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022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15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1574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16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2011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17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063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18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616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19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1281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20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836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21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836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22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37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23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3530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24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005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25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7551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26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8689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27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1570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28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465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29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536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30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801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31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6792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32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0785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33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434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34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6894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35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8794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36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9474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37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408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38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304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39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0190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40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15623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41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1629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42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198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43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31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44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5177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45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3051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46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087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47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1672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48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3727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804492" indent="-30942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237681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732753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227824" indent="-24753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722895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217968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713041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208112" indent="-247537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49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4683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70346" indent="-296287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85148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59207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133265" indent="-237030" eaLnBrk="0" hangingPunct="0"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60732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308138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555443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4029501" indent="-237030" eaLnBrk="0" fontAlgn="base" hangingPunct="0">
              <a:spcBef>
                <a:spcPct val="0"/>
              </a:spcBef>
              <a:spcAft>
                <a:spcPct val="0"/>
              </a:spcAft>
              <a:defRPr kumimoji="1" sz="11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9E67F7-C842-5048-B7A5-89F2055FF93D}" type="slidenum">
              <a:rPr lang="en-US" altLang="ja-JP" sz="1400">
                <a:solidFill>
                  <a:schemeClr val="tx1"/>
                </a:solidFill>
                <a:latin typeface="Times New Roman" charset="0"/>
              </a:rPr>
              <a:pPr eaLnBrk="1" hangingPunct="1"/>
              <a:t>50</a:t>
            </a:fld>
            <a:endParaRPr lang="en-US" altLang="ja-JP" sz="1400" dirty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717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>
              <a:ea typeface="ＭＳ Ｐ明朝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779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648200"/>
            <a:ext cx="11430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/>
          <a:lstStyle>
            <a:lvl1pPr>
              <a:defRPr sz="1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43000" y="2895600"/>
            <a:ext cx="7315200" cy="762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defRPr sz="1200">
                <a:solidFill>
                  <a:srgbClr val="000000"/>
                </a:solidFill>
              </a:defRPr>
            </a:lvl1pPr>
          </a:lstStyle>
          <a:p>
            <a:r>
              <a:rPr lang="ja-JP" altLang="en-US"/>
              <a:t>マスタ サブタイトルの書式設定</a:t>
            </a:r>
            <a:endParaRPr lang="en-US" altLang="ja-JP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1143000" y="4038600"/>
            <a:ext cx="1905000" cy="3810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Times New Roman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9094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ja-JP"/>
              <a:t>Copyright© 2015 R3 institute Ltd. All rights reserved.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A4F188-2989-4149-B83C-C798F3781EE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510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4800600" cy="304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553200"/>
            <a:ext cx="5638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/>
            </a:lvl1pPr>
          </a:lstStyle>
          <a:p>
            <a:r>
              <a:rPr lang="en-US" altLang="ja-JP"/>
              <a:t>Copyright© 2015 R3 institute Ltd. All rights reserved.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11C42197-118B-F64C-9260-3ACB7B1A368B}" type="slidenum">
              <a:rPr lang="en-US" altLang="ja-JP"/>
              <a:pPr/>
              <a:t>‹#›</a:t>
            </a:fld>
            <a:endParaRPr lang="en-US" altLang="ja-JP"/>
          </a:p>
        </p:txBody>
      </p:sp>
      <p:pic>
        <p:nvPicPr>
          <p:cNvPr id="2" name="Picture 1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28600"/>
            <a:ext cx="533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685800" y="685800"/>
            <a:ext cx="7772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>
              <a:ea typeface="ＭＳ Ｐゴシック" pitchFamily="50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9" r:id="rId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+mj-lt"/>
          <a:ea typeface="+mj-ea"/>
          <a:cs typeface="ＭＳ Ｐゴシック" charset="0"/>
        </a:defRPr>
      </a:lvl1pPr>
      <a:lvl2pPr algn="l" rtl="0" fontAlgn="base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  <a:cs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  <a:cs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  <a:cs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1200" b="1">
          <a:solidFill>
            <a:srgbClr val="000000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defRPr kumimoji="1" sz="1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 charset="0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Times New Roman" charset="0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Times New Roman" charset="0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charset="0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charset="0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charset="0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 charset="0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emf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20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3.bin"/><Relationship Id="rId5" Type="http://schemas.openxmlformats.org/officeDocument/2006/relationships/image" Target="../media/image31.emf"/><Relationship Id="rId4" Type="http://schemas.openxmlformats.org/officeDocument/2006/relationships/oleObject" Target="../embeddings/oleObject22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33.emf"/><Relationship Id="rId4" Type="http://schemas.openxmlformats.org/officeDocument/2006/relationships/oleObject" Target="../embeddings/oleObject2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6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7" Type="http://schemas.openxmlformats.org/officeDocument/2006/relationships/image" Target="../media/image4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1.emf"/><Relationship Id="rId4" Type="http://schemas.openxmlformats.org/officeDocument/2006/relationships/oleObject" Target="../embeddings/oleObject28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分析データ設計の方針</a:t>
            </a:r>
            <a:endParaRPr 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売上編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1270696"/>
            <a:ext cx="1500559" cy="648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4664"/>
            <a:ext cx="1909196" cy="596256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666" y="406600"/>
            <a:ext cx="1743869" cy="599070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295400" y="3459088"/>
            <a:ext cx="7315200" cy="762000"/>
          </a:xfrm>
          <a:prstGeom prst="rect">
            <a:avLst/>
          </a:prstGeom>
          <a:noFill/>
          <a:ln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defRPr kumimoji="1" sz="1200">
                <a:solidFill>
                  <a:srgbClr val="000000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Times New Roman" charset="0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Times New Roman" charset="0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Times New Roman" charset="0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charset="0"/>
                <a:ea typeface="+mn-ea"/>
              </a:defRPr>
            </a:lvl9pPr>
          </a:lstStyle>
          <a:p>
            <a:r>
              <a:rPr lang="en-US" altLang="ja-JP" sz="1400" kern="0">
                <a:latin typeface="メイリオ" panose="020B0604030504040204" pitchFamily="50" charset="-128"/>
                <a:ea typeface="メイリオ" panose="020B0604030504040204" pitchFamily="50" charset="-128"/>
              </a:rPr>
              <a:t>2017.05.11</a:t>
            </a:r>
            <a:endParaRPr lang="en-US" altLang="ja-JP" sz="1400" kern="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8728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正方形/長方形 76"/>
          <p:cNvSpPr/>
          <p:nvPr/>
        </p:nvSpPr>
        <p:spPr bwMode="auto">
          <a:xfrm>
            <a:off x="469218" y="5151188"/>
            <a:ext cx="1058559" cy="1516311"/>
          </a:xfrm>
          <a:prstGeom prst="rect">
            <a:avLst/>
          </a:prstGeom>
          <a:solidFill>
            <a:srgbClr val="CCECFF"/>
          </a:solidFill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データソースと加工ステップ　 ～①売上関連～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3568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619673" y="284776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8108840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7232779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619672" y="529827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401461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5265557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" name="コネクタ: カギ線 5"/>
          <p:cNvCxnSpPr>
            <a:cxnSpLocks/>
            <a:stCxn id="15" idx="2"/>
            <a:endCxn id="21" idx="0"/>
          </p:cNvCxnSpPr>
          <p:nvPr/>
        </p:nvCxnSpPr>
        <p:spPr bwMode="auto">
          <a:xfrm rot="16200000" flipH="1">
            <a:off x="2790190" y="2469340"/>
            <a:ext cx="1160834" cy="278178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コネクタ: カギ線 27"/>
          <p:cNvCxnSpPr>
            <a:cxnSpLocks/>
            <a:stCxn id="15" idx="2"/>
            <a:endCxn id="22" idx="0"/>
          </p:cNvCxnSpPr>
          <p:nvPr/>
        </p:nvCxnSpPr>
        <p:spPr bwMode="auto">
          <a:xfrm rot="16200000" flipH="1">
            <a:off x="3222238" y="2037292"/>
            <a:ext cx="1160834" cy="3645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コネクタ: カギ線 43"/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970482" y="4289048"/>
            <a:ext cx="201846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正方形/長方形 135"/>
          <p:cNvSpPr/>
          <p:nvPr/>
        </p:nvSpPr>
        <p:spPr bwMode="auto">
          <a:xfrm>
            <a:off x="5899843" y="385859"/>
            <a:ext cx="296480" cy="1881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202803" y="367653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</a:p>
        </p:txBody>
      </p:sp>
      <p:sp>
        <p:nvSpPr>
          <p:cNvPr id="2" name="フローチャート: 書類 1"/>
          <p:cNvSpPr/>
          <p:nvPr/>
        </p:nvSpPr>
        <p:spPr bwMode="auto">
          <a:xfrm>
            <a:off x="684476" y="609329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フローチャート: 書類 96"/>
          <p:cNvSpPr/>
          <p:nvPr/>
        </p:nvSpPr>
        <p:spPr bwMode="auto">
          <a:xfrm>
            <a:off x="3168286" y="6057373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フローチャート: 書類 98"/>
          <p:cNvSpPr/>
          <p:nvPr/>
        </p:nvSpPr>
        <p:spPr bwMode="auto">
          <a:xfrm>
            <a:off x="6262771" y="6106340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正方形/長方形 102"/>
          <p:cNvSpPr/>
          <p:nvPr/>
        </p:nvSpPr>
        <p:spPr bwMode="auto">
          <a:xfrm>
            <a:off x="6300192" y="5345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106" name="フローチャート: 書類 105"/>
          <p:cNvSpPr/>
          <p:nvPr/>
        </p:nvSpPr>
        <p:spPr bwMode="auto">
          <a:xfrm>
            <a:off x="8028384" y="609717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フローチャート: 書類 106"/>
          <p:cNvSpPr/>
          <p:nvPr/>
        </p:nvSpPr>
        <p:spPr bwMode="auto">
          <a:xfrm>
            <a:off x="7258436" y="6101102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" name="直線矢印コネクタ 9"/>
          <p:cNvCxnSpPr>
            <a:cxnSpLocks/>
            <a:stCxn id="2" idx="0"/>
            <a:endCxn id="14" idx="2"/>
          </p:cNvCxnSpPr>
          <p:nvPr/>
        </p:nvCxnSpPr>
        <p:spPr bwMode="auto">
          <a:xfrm flipH="1" flipV="1">
            <a:off x="1043608" y="5717072"/>
            <a:ext cx="908" cy="37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直線矢印コネクタ 108"/>
          <p:cNvCxnSpPr>
            <a:cxnSpLocks/>
            <a:stCxn id="107" idx="0"/>
            <a:endCxn id="17" idx="2"/>
          </p:cNvCxnSpPr>
          <p:nvPr/>
        </p:nvCxnSpPr>
        <p:spPr bwMode="auto">
          <a:xfrm flipH="1" flipV="1">
            <a:off x="7592819" y="5588656"/>
            <a:ext cx="25657" cy="5124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線矢印コネクタ 109"/>
          <p:cNvCxnSpPr>
            <a:cxnSpLocks/>
            <a:stCxn id="106" idx="0"/>
            <a:endCxn id="16" idx="2"/>
          </p:cNvCxnSpPr>
          <p:nvPr/>
        </p:nvCxnSpPr>
        <p:spPr bwMode="auto">
          <a:xfrm flipV="1">
            <a:off x="8388424" y="5588656"/>
            <a:ext cx="80456" cy="5085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円弧 41"/>
          <p:cNvSpPr/>
          <p:nvPr/>
        </p:nvSpPr>
        <p:spPr bwMode="auto">
          <a:xfrm>
            <a:off x="7455535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5" name="直線コネクタ 44"/>
          <p:cNvCxnSpPr>
            <a:cxnSpLocks/>
            <a:stCxn id="42" idx="2"/>
          </p:cNvCxnSpPr>
          <p:nvPr/>
        </p:nvCxnSpPr>
        <p:spPr bwMode="auto">
          <a:xfrm flipV="1">
            <a:off x="7730103" y="4998839"/>
            <a:ext cx="495381" cy="1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/>
          <p:cNvCxnSpPr>
            <a:cxnSpLocks/>
          </p:cNvCxnSpPr>
          <p:nvPr/>
        </p:nvCxnSpPr>
        <p:spPr bwMode="auto">
          <a:xfrm>
            <a:off x="8224216" y="4992891"/>
            <a:ext cx="635" cy="1582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線コネクタ 118"/>
          <p:cNvCxnSpPr>
            <a:cxnSpLocks/>
            <a:endCxn id="101" idx="0"/>
          </p:cNvCxnSpPr>
          <p:nvPr/>
        </p:nvCxnSpPr>
        <p:spPr bwMode="auto">
          <a:xfrm>
            <a:off x="5727160" y="4992891"/>
            <a:ext cx="802534" cy="5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線コネクタ 121"/>
          <p:cNvCxnSpPr>
            <a:cxnSpLocks/>
          </p:cNvCxnSpPr>
          <p:nvPr/>
        </p:nvCxnSpPr>
        <p:spPr bwMode="auto">
          <a:xfrm>
            <a:off x="5734976" y="4869160"/>
            <a:ext cx="0" cy="116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フローチャート: 書類 124"/>
          <p:cNvSpPr/>
          <p:nvPr/>
        </p:nvSpPr>
        <p:spPr bwMode="auto">
          <a:xfrm>
            <a:off x="6982851" y="389342"/>
            <a:ext cx="289983" cy="22362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7344918" y="384317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フローチャート: 書類 127"/>
          <p:cNvSpPr/>
          <p:nvPr/>
        </p:nvSpPr>
        <p:spPr bwMode="auto">
          <a:xfrm>
            <a:off x="787648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9" name="直線矢印コネクタ 128"/>
          <p:cNvCxnSpPr>
            <a:cxnSpLocks/>
            <a:stCxn id="14" idx="0"/>
            <a:endCxn id="128" idx="2"/>
          </p:cNvCxnSpPr>
          <p:nvPr/>
        </p:nvCxnSpPr>
        <p:spPr bwMode="auto">
          <a:xfrm flipV="1">
            <a:off x="1043608" y="1333397"/>
            <a:ext cx="111974" cy="39516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1" name="テキスト ボックス 130"/>
          <p:cNvSpPr txBox="1"/>
          <p:nvPr/>
        </p:nvSpPr>
        <p:spPr>
          <a:xfrm>
            <a:off x="191465" y="845787"/>
            <a:ext cx="658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これを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へ送る→</a:t>
            </a:r>
          </a:p>
        </p:txBody>
      </p:sp>
      <p:sp>
        <p:nvSpPr>
          <p:cNvPr id="61" name="フローチャート: 書類 60"/>
          <p:cNvSpPr/>
          <p:nvPr/>
        </p:nvSpPr>
        <p:spPr bwMode="auto">
          <a:xfrm>
            <a:off x="1665062" y="608132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勤怠ﾃﾞｰﾀ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/>
          <p:cNvSpPr/>
          <p:nvPr/>
        </p:nvSpPr>
        <p:spPr bwMode="auto">
          <a:xfrm>
            <a:off x="2393381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cxnSp>
        <p:nvCxnSpPr>
          <p:cNvPr id="63" name="直線矢印コネクタ 62"/>
          <p:cNvCxnSpPr>
            <a:cxnSpLocks/>
            <a:stCxn id="61" idx="0"/>
            <a:endCxn id="62" idx="2"/>
          </p:cNvCxnSpPr>
          <p:nvPr/>
        </p:nvCxnSpPr>
        <p:spPr bwMode="auto">
          <a:xfrm flipV="1">
            <a:off x="2025102" y="5717072"/>
            <a:ext cx="728319" cy="3642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直線矢印コネクタ 65"/>
          <p:cNvCxnSpPr>
            <a:cxnSpLocks/>
            <a:stCxn id="61" idx="0"/>
            <a:endCxn id="18" idx="2"/>
          </p:cNvCxnSpPr>
          <p:nvPr/>
        </p:nvCxnSpPr>
        <p:spPr bwMode="auto">
          <a:xfrm flipH="1" flipV="1">
            <a:off x="1979712" y="5730327"/>
            <a:ext cx="45390" cy="35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テキスト ボックス 69"/>
          <p:cNvSpPr txBox="1"/>
          <p:nvPr/>
        </p:nvSpPr>
        <p:spPr>
          <a:xfrm>
            <a:off x="5767109" y="5805533"/>
            <a:ext cx="80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売上分は生成しない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1503460" y="4125517"/>
            <a:ext cx="84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人件費を計算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199994" y="4118373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例外的に賞与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/>
          <p:cNvCxnSpPr>
            <a:cxnSpLocks/>
            <a:stCxn id="99" idx="0"/>
            <a:endCxn id="103" idx="2"/>
          </p:cNvCxnSpPr>
          <p:nvPr/>
        </p:nvCxnSpPr>
        <p:spPr bwMode="auto">
          <a:xfrm flipV="1">
            <a:off x="6622811" y="5777166"/>
            <a:ext cx="37421" cy="32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コネクタ: カギ線 77"/>
          <p:cNvCxnSpPr>
            <a:cxnSpLocks/>
            <a:stCxn id="15" idx="3"/>
            <a:endCxn id="103" idx="0"/>
          </p:cNvCxnSpPr>
          <p:nvPr/>
        </p:nvCxnSpPr>
        <p:spPr bwMode="auto">
          <a:xfrm>
            <a:off x="2339753" y="3063793"/>
            <a:ext cx="4320479" cy="228132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4" name="フローチャート: 書類 83"/>
          <p:cNvSpPr/>
          <p:nvPr/>
        </p:nvSpPr>
        <p:spPr bwMode="auto">
          <a:xfrm>
            <a:off x="2726331" y="898377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5" name="直線矢印コネクタ 84"/>
          <p:cNvCxnSpPr>
            <a:cxnSpLocks/>
            <a:stCxn id="18" idx="0"/>
            <a:endCxn id="84" idx="2"/>
          </p:cNvCxnSpPr>
          <p:nvPr/>
        </p:nvCxnSpPr>
        <p:spPr bwMode="auto">
          <a:xfrm flipV="1">
            <a:off x="1979712" y="1327876"/>
            <a:ext cx="1100590" cy="39704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4" name="フローチャート: 書類 93"/>
          <p:cNvSpPr/>
          <p:nvPr/>
        </p:nvSpPr>
        <p:spPr bwMode="auto">
          <a:xfrm>
            <a:off x="3623301" y="891819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8" name="直線矢印コネクタ 97"/>
          <p:cNvCxnSpPr>
            <a:cxnSpLocks/>
            <a:stCxn id="62" idx="0"/>
            <a:endCxn id="94" idx="2"/>
          </p:cNvCxnSpPr>
          <p:nvPr/>
        </p:nvCxnSpPr>
        <p:spPr bwMode="auto">
          <a:xfrm flipV="1">
            <a:off x="2753421" y="1321318"/>
            <a:ext cx="1223851" cy="39637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5" name="正方形/長方形 74"/>
          <p:cNvSpPr/>
          <p:nvPr/>
        </p:nvSpPr>
        <p:spPr bwMode="auto">
          <a:xfrm>
            <a:off x="3168286" y="5287237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2" name="直線矢印コネクタ 81"/>
          <p:cNvCxnSpPr>
            <a:cxnSpLocks/>
            <a:stCxn id="97" idx="0"/>
            <a:endCxn id="75" idx="2"/>
          </p:cNvCxnSpPr>
          <p:nvPr/>
        </p:nvCxnSpPr>
        <p:spPr bwMode="auto">
          <a:xfrm flipV="1">
            <a:off x="3528326" y="5719285"/>
            <a:ext cx="0" cy="338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フローチャート: 書類 87"/>
          <p:cNvSpPr/>
          <p:nvPr/>
        </p:nvSpPr>
        <p:spPr bwMode="auto">
          <a:xfrm>
            <a:off x="4517185" y="886586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/>
          <p:cNvCxnSpPr>
            <a:cxnSpLocks/>
            <a:stCxn id="75" idx="0"/>
            <a:endCxn id="88" idx="2"/>
          </p:cNvCxnSpPr>
          <p:nvPr/>
        </p:nvCxnSpPr>
        <p:spPr bwMode="auto">
          <a:xfrm flipV="1">
            <a:off x="3528326" y="1316085"/>
            <a:ext cx="1398014" cy="39711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9" name="テキスト ボックス 78"/>
          <p:cNvSpPr txBox="1"/>
          <p:nvPr/>
        </p:nvSpPr>
        <p:spPr>
          <a:xfrm>
            <a:off x="3970720" y="410431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例外的に福利費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3" name="直線矢印コネクタ 82"/>
          <p:cNvCxnSpPr>
            <a:cxnSpLocks/>
            <a:stCxn id="18" idx="3"/>
            <a:endCxn id="21" idx="1"/>
          </p:cNvCxnSpPr>
          <p:nvPr/>
        </p:nvCxnSpPr>
        <p:spPr bwMode="auto">
          <a:xfrm flipV="1">
            <a:off x="2339752" y="4656675"/>
            <a:ext cx="2061709" cy="857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正方形/長方形 70"/>
          <p:cNvSpPr/>
          <p:nvPr/>
        </p:nvSpPr>
        <p:spPr bwMode="auto">
          <a:xfrm>
            <a:off x="206346" y="460748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3" name="直線矢印コネクタ 92"/>
          <p:cNvCxnSpPr>
            <a:cxnSpLocks/>
            <a:stCxn id="71" idx="3"/>
            <a:endCxn id="21" idx="1"/>
          </p:cNvCxnSpPr>
          <p:nvPr/>
        </p:nvCxnSpPr>
        <p:spPr bwMode="auto">
          <a:xfrm flipV="1">
            <a:off x="926426" y="4656675"/>
            <a:ext cx="3475035" cy="16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コネクタ: カギ線 94"/>
          <p:cNvCxnSpPr>
            <a:cxnSpLocks/>
            <a:stCxn id="71" idx="2"/>
            <a:endCxn id="14" idx="1"/>
          </p:cNvCxnSpPr>
          <p:nvPr/>
        </p:nvCxnSpPr>
        <p:spPr bwMode="auto">
          <a:xfrm rot="16200000" flipH="1">
            <a:off x="394218" y="5211697"/>
            <a:ext cx="461519" cy="1171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フローチャート: 複数書類 25"/>
          <p:cNvSpPr/>
          <p:nvPr/>
        </p:nvSpPr>
        <p:spPr bwMode="auto">
          <a:xfrm>
            <a:off x="4421158" y="5976909"/>
            <a:ext cx="621549" cy="603920"/>
          </a:xfrm>
          <a:prstGeom prst="flowChartMulti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直線矢印コネクタ 99"/>
          <p:cNvCxnSpPr>
            <a:cxnSpLocks/>
            <a:stCxn id="26" idx="0"/>
            <a:endCxn id="21" idx="2"/>
          </p:cNvCxnSpPr>
          <p:nvPr/>
        </p:nvCxnSpPr>
        <p:spPr bwMode="auto">
          <a:xfrm flipH="1" flipV="1">
            <a:off x="4761501" y="4872699"/>
            <a:ext cx="13192" cy="1104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円弧 100"/>
          <p:cNvSpPr/>
          <p:nvPr/>
        </p:nvSpPr>
        <p:spPr bwMode="auto">
          <a:xfrm>
            <a:off x="6529680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04" name="直線コネクタ 103"/>
          <p:cNvCxnSpPr>
            <a:cxnSpLocks/>
            <a:stCxn id="101" idx="2"/>
            <a:endCxn id="42" idx="0"/>
          </p:cNvCxnSpPr>
          <p:nvPr/>
        </p:nvCxnSpPr>
        <p:spPr bwMode="auto">
          <a:xfrm flipV="1">
            <a:off x="6804248" y="4998088"/>
            <a:ext cx="651301" cy="2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フローチャート: 書類 91"/>
          <p:cNvSpPr/>
          <p:nvPr/>
        </p:nvSpPr>
        <p:spPr bwMode="auto">
          <a:xfrm>
            <a:off x="1639809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6" name="直線矢印コネクタ 95"/>
          <p:cNvCxnSpPr>
            <a:cxnSpLocks/>
            <a:stCxn id="15" idx="0"/>
            <a:endCxn id="92" idx="2"/>
          </p:cNvCxnSpPr>
          <p:nvPr/>
        </p:nvCxnSpPr>
        <p:spPr bwMode="auto">
          <a:xfrm flipV="1">
            <a:off x="1979713" y="1333397"/>
            <a:ext cx="28030" cy="15143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4" name="フローチャート: 書類 113"/>
          <p:cNvSpPr/>
          <p:nvPr/>
        </p:nvSpPr>
        <p:spPr bwMode="auto">
          <a:xfrm>
            <a:off x="7176223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フローチャート: 書類 114"/>
          <p:cNvSpPr/>
          <p:nvPr/>
        </p:nvSpPr>
        <p:spPr bwMode="auto">
          <a:xfrm>
            <a:off x="8028384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6" name="直線矢印コネクタ 115"/>
          <p:cNvCxnSpPr>
            <a:cxnSpLocks/>
            <a:stCxn id="16" idx="0"/>
            <a:endCxn id="115" idx="2"/>
          </p:cNvCxnSpPr>
          <p:nvPr/>
        </p:nvCxnSpPr>
        <p:spPr bwMode="auto">
          <a:xfrm flipH="1" flipV="1">
            <a:off x="8396318" y="1313404"/>
            <a:ext cx="725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7" name="直線矢印コネクタ 116"/>
          <p:cNvCxnSpPr>
            <a:cxnSpLocks/>
            <a:stCxn id="17" idx="0"/>
            <a:endCxn id="114" idx="2"/>
          </p:cNvCxnSpPr>
          <p:nvPr/>
        </p:nvCxnSpPr>
        <p:spPr bwMode="auto">
          <a:xfrm flipH="1" flipV="1">
            <a:off x="7544157" y="1313404"/>
            <a:ext cx="486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80" name="コネクタ: 曲線 79"/>
          <p:cNvCxnSpPr>
            <a:cxnSpLocks/>
          </p:cNvCxnSpPr>
          <p:nvPr/>
        </p:nvCxnSpPr>
        <p:spPr bwMode="auto">
          <a:xfrm rot="5400000" flipH="1" flipV="1">
            <a:off x="5153461" y="1982860"/>
            <a:ext cx="141671" cy="6489168"/>
          </a:xfrm>
          <a:prstGeom prst="curvedConnector3">
            <a:avLst>
              <a:gd name="adj1" fmla="val 9608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7" name="テキスト ボックス 86"/>
          <p:cNvSpPr txBox="1"/>
          <p:nvPr/>
        </p:nvSpPr>
        <p:spPr>
          <a:xfrm>
            <a:off x="7655090" y="450505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シフト計画で予算を上書き</a:t>
            </a:r>
          </a:p>
        </p:txBody>
      </p:sp>
    </p:spTree>
    <p:extLst>
      <p:ext uri="{BB962C8B-B14F-4D97-AF65-F5344CB8AC3E}">
        <p14:creationId xmlns:p14="http://schemas.microsoft.com/office/powerpoint/2010/main" val="286094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フローチャート: 書類 65"/>
          <p:cNvSpPr/>
          <p:nvPr/>
        </p:nvSpPr>
        <p:spPr bwMode="auto">
          <a:xfrm>
            <a:off x="2804766" y="5130189"/>
            <a:ext cx="2607048" cy="1251139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に持つ項目および概要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5800" y="1052736"/>
            <a:ext cx="7846640" cy="165618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矢印: 上 4"/>
          <p:cNvSpPr/>
          <p:nvPr/>
        </p:nvSpPr>
        <p:spPr bwMode="auto">
          <a:xfrm>
            <a:off x="3244194" y="4331420"/>
            <a:ext cx="1543830" cy="676521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4932040" y="2879385"/>
            <a:ext cx="3744416" cy="216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加工のポイント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（</a:t>
            </a:r>
            <a:r>
              <a:rPr lang="en-US" altLang="ja-JP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詳細は後述する）</a:t>
            </a:r>
          </a:p>
          <a:p>
            <a:endParaRPr lang="en-US" altLang="ja-JP" sz="5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・する蔵より受信したデータから、まず、売上と見做さないデータを削除する。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・データを伝票単位と明細単位にいったん分ける。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・明細単位の値引きの数量を削除した後、</a:t>
            </a:r>
            <a:r>
              <a:rPr lang="en-US" altLang="ja-JP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05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つの</a:t>
            </a:r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ファイルに戻す（大福帳形式）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・マスタ類（カテゴリマスタ、店舗マスタ）を結合して分類処理を行う。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・モールの場合に使用ポイント、クーポンを集計しないようにする。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・消費税を割り戻して税抜きの金額にする。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05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・別途、変動費算出用の集計ファイルを作る。</a:t>
            </a:r>
            <a:endParaRPr lang="en-US" altLang="ja-JP" sz="105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/>
          <p:cNvSpPr/>
          <p:nvPr/>
        </p:nvSpPr>
        <p:spPr bwMode="auto">
          <a:xfrm>
            <a:off x="755576" y="944040"/>
            <a:ext cx="1224136" cy="23804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zh-TW" altLang="en-US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  <a:endParaRPr kumimoji="1" lang="ja-JP" altLang="en-US" sz="1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589174" y="5112281"/>
            <a:ext cx="1966601" cy="23804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する蔵より受信した明細データ</a:t>
            </a:r>
            <a:endParaRPr kumimoji="1" lang="ja-JP" altLang="en-US" sz="1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4" name="オブジェクト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2802145"/>
              </p:ext>
            </p:extLst>
          </p:nvPr>
        </p:nvGraphicFramePr>
        <p:xfrm>
          <a:off x="766763" y="1352550"/>
          <a:ext cx="769143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2" name="Worksheet" r:id="rId4" imgW="23309528" imgH="2720340" progId="Excel.Sheet.12">
                  <p:embed/>
                </p:oleObj>
              </mc:Choice>
              <mc:Fallback>
                <p:oleObj name="Worksheet" r:id="rId4" imgW="23309528" imgH="272034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6763" y="1352550"/>
                        <a:ext cx="7691437" cy="896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オブジェクト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7641311"/>
              </p:ext>
            </p:extLst>
          </p:nvPr>
        </p:nvGraphicFramePr>
        <p:xfrm>
          <a:off x="192454" y="5468387"/>
          <a:ext cx="15841030" cy="466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" name="Worksheet" r:id="rId6" imgW="38846864" imgH="1135519" progId="Excel.Sheet.12">
                  <p:embed/>
                </p:oleObj>
              </mc:Choice>
              <mc:Fallback>
                <p:oleObj name="Worksheet" r:id="rId6" imgW="38846864" imgH="1135519" progId="Excel.Sheet.12">
                  <p:embed/>
                  <p:pic>
                    <p:nvPicPr>
                      <p:cNvPr id="8" name="オブジェクト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2454" y="5468387"/>
                        <a:ext cx="15841030" cy="466154"/>
                      </a:xfrm>
                      <a:prstGeom prst="rect">
                        <a:avLst/>
                      </a:prstGeom>
                      <a:ln w="3175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75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0580037"/>
              </p:ext>
            </p:extLst>
          </p:nvPr>
        </p:nvGraphicFramePr>
        <p:xfrm>
          <a:off x="755651" y="1042988"/>
          <a:ext cx="7702550" cy="645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3" name="Worksheet" r:id="rId4" imgW="9365032" imgH="682059" progId="Excel.Sheet.12">
                  <p:embed/>
                </p:oleObj>
              </mc:Choice>
              <mc:Fallback>
                <p:oleObj name="Worksheet" r:id="rId4" imgW="9365032" imgH="682059" progId="Excel.Sheet.12">
                  <p:embed/>
                  <p:pic>
                    <p:nvPicPr>
                      <p:cNvPr id="2" name="オブジェクト 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651" y="1042988"/>
                        <a:ext cx="7702550" cy="645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加工のポイント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(1)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83568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■する蔵データ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211960" y="1041703"/>
            <a:ext cx="1368152" cy="64647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正方形/長方形 23"/>
          <p:cNvSpPr/>
          <p:nvPr/>
        </p:nvSpPr>
        <p:spPr bwMode="auto">
          <a:xfrm>
            <a:off x="6012160" y="1036127"/>
            <a:ext cx="1584176" cy="64647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82417" y="2780928"/>
            <a:ext cx="410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(2) </a:t>
            </a:r>
            <a:r>
              <a:rPr lang="ja-JP" altLang="en-US" sz="1200" dirty="0">
                <a:latin typeface="+mn-ea"/>
                <a:ea typeface="+mn-ea"/>
              </a:rPr>
              <a:t>データを伝票単位の情報と明細単位の情報とに分ける。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682417" y="1772816"/>
            <a:ext cx="58707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(1) </a:t>
            </a:r>
            <a:r>
              <a:rPr lang="ja-JP" altLang="en-US" sz="1200" dirty="0">
                <a:latin typeface="+mn-ea"/>
                <a:ea typeface="+mn-ea"/>
              </a:rPr>
              <a:t>全レコードを走査して、以下に該当する受注番号のデータを除外（削除）する。</a:t>
            </a:r>
          </a:p>
          <a:p>
            <a:r>
              <a:rPr lang="ja-JP" altLang="en-US" sz="1200" dirty="0">
                <a:latin typeface="+mn-ea"/>
                <a:ea typeface="+mn-ea"/>
              </a:rPr>
              <a:t>　　</a:t>
            </a:r>
            <a:r>
              <a:rPr lang="en-US" altLang="ja-JP" sz="1200" dirty="0">
                <a:latin typeface="+mn-ea"/>
                <a:ea typeface="+mn-ea"/>
              </a:rPr>
              <a:t>a) </a:t>
            </a:r>
            <a:r>
              <a:rPr lang="ja-JP" altLang="en-US" sz="1200" dirty="0">
                <a:latin typeface="+mn-ea"/>
                <a:ea typeface="+mn-ea"/>
              </a:rPr>
              <a:t>売上日が入っていない</a:t>
            </a:r>
          </a:p>
          <a:p>
            <a:r>
              <a:rPr lang="ja-JP" altLang="en-US" sz="1200" dirty="0">
                <a:latin typeface="+mn-ea"/>
              </a:rPr>
              <a:t>　　</a:t>
            </a:r>
            <a:r>
              <a:rPr lang="en-US" altLang="ja-JP" sz="1200" u="sng" dirty="0">
                <a:solidFill>
                  <a:srgbClr val="FF0000"/>
                </a:solidFill>
                <a:latin typeface="+mn-ea"/>
              </a:rPr>
              <a:t>b) </a:t>
            </a:r>
            <a:r>
              <a:rPr lang="ja-JP" altLang="en-US" sz="1200" u="sng" dirty="0">
                <a:solidFill>
                  <a:srgbClr val="FF0000"/>
                </a:solidFill>
                <a:latin typeface="+mn-ea"/>
                <a:ea typeface="+mn-ea"/>
              </a:rPr>
              <a:t>返品日が入っている</a:t>
            </a:r>
          </a:p>
          <a:p>
            <a:r>
              <a:rPr lang="ja-JP" altLang="en-US" sz="1200" dirty="0">
                <a:latin typeface="+mn-ea"/>
              </a:rPr>
              <a:t>　　</a:t>
            </a:r>
            <a:r>
              <a:rPr lang="en-US" altLang="ja-JP" sz="1200" dirty="0">
                <a:latin typeface="+mn-ea"/>
              </a:rPr>
              <a:t>c) </a:t>
            </a:r>
            <a:r>
              <a:rPr lang="ja-JP" altLang="en-US" sz="1200" dirty="0">
                <a:latin typeface="+mn-ea"/>
                <a:ea typeface="+mn-ea"/>
              </a:rPr>
              <a:t>キャンセル日が入っている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82416" y="5271591"/>
            <a:ext cx="4897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(3) </a:t>
            </a:r>
            <a:r>
              <a:rPr lang="ja-JP" altLang="en-US" sz="1200" dirty="0">
                <a:latin typeface="+mn-ea"/>
                <a:ea typeface="+mn-ea"/>
              </a:rPr>
              <a:t>明細単位の全レコードを走査して、以下のレコードを除外（削除）する。</a:t>
            </a:r>
          </a:p>
          <a:p>
            <a:r>
              <a:rPr lang="ja-JP" altLang="en-US" sz="1200" dirty="0">
                <a:latin typeface="+mn-ea"/>
                <a:ea typeface="+mn-ea"/>
              </a:rPr>
              <a:t>　　</a:t>
            </a:r>
            <a:r>
              <a:rPr lang="en-US" altLang="ja-JP" sz="1200" dirty="0">
                <a:latin typeface="+mn-ea"/>
                <a:ea typeface="+mn-ea"/>
              </a:rPr>
              <a:t>a) </a:t>
            </a:r>
            <a:r>
              <a:rPr lang="ja-JP" altLang="en-US" sz="1200" dirty="0">
                <a:latin typeface="+mn-ea"/>
              </a:rPr>
              <a:t>金額が </a:t>
            </a:r>
            <a:r>
              <a:rPr lang="en-US" altLang="ja-JP" sz="1200" dirty="0">
                <a:latin typeface="+mn-ea"/>
              </a:rPr>
              <a:t>0</a:t>
            </a:r>
            <a:r>
              <a:rPr lang="ja-JP" altLang="en-US" sz="1200" dirty="0">
                <a:latin typeface="+mn-ea"/>
              </a:rPr>
              <a:t>　（セット商品の内訳データなど）</a:t>
            </a:r>
            <a:endParaRPr lang="ja-JP" altLang="en-US" sz="1200" dirty="0">
              <a:latin typeface="+mn-ea"/>
              <a:ea typeface="+mn-ea"/>
            </a:endParaRPr>
          </a:p>
        </p:txBody>
      </p:sp>
      <p:grpSp>
        <p:nvGrpSpPr>
          <p:cNvPr id="15" name="グループ化 14"/>
          <p:cNvGrpSpPr/>
          <p:nvPr/>
        </p:nvGrpSpPr>
        <p:grpSpPr>
          <a:xfrm>
            <a:off x="755651" y="3068960"/>
            <a:ext cx="5307013" cy="959624"/>
            <a:chOff x="755651" y="3068960"/>
            <a:chExt cx="5307013" cy="959624"/>
          </a:xfrm>
        </p:grpSpPr>
        <p:sp>
          <p:nvSpPr>
            <p:cNvPr id="26" name="テキスト ボックス 25"/>
            <p:cNvSpPr txBox="1"/>
            <p:nvPr/>
          </p:nvSpPr>
          <p:spPr>
            <a:xfrm>
              <a:off x="755651" y="3068960"/>
              <a:ext cx="16561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+mn-ea"/>
                  <a:ea typeface="+mn-ea"/>
                </a:rPr>
                <a:t>・明細単位の情報</a:t>
              </a:r>
            </a:p>
          </p:txBody>
        </p:sp>
        <p:graphicFrame>
          <p:nvGraphicFramePr>
            <p:cNvPr id="10" name="オブジェクト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9891178"/>
                </p:ext>
              </p:extLst>
            </p:nvPr>
          </p:nvGraphicFramePr>
          <p:xfrm>
            <a:off x="755651" y="3345959"/>
            <a:ext cx="5307013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" name="Worksheet" r:id="rId6" imgW="5307252" imgH="682059" progId="Excel.Sheet.12">
                    <p:embed/>
                  </p:oleObj>
                </mc:Choice>
                <mc:Fallback>
                  <p:oleObj name="Worksheet" r:id="rId6" imgW="5307252" imgH="682059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55651" y="3345959"/>
                          <a:ext cx="5307013" cy="6826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グループ化 13"/>
          <p:cNvGrpSpPr/>
          <p:nvPr/>
        </p:nvGrpSpPr>
        <p:grpSpPr>
          <a:xfrm>
            <a:off x="755651" y="4077072"/>
            <a:ext cx="5330825" cy="796449"/>
            <a:chOff x="4067944" y="3068960"/>
            <a:chExt cx="5330825" cy="796449"/>
          </a:xfrm>
        </p:grpSpPr>
        <p:sp>
          <p:nvSpPr>
            <p:cNvPr id="27" name="テキスト ボックス 26"/>
            <p:cNvSpPr txBox="1"/>
            <p:nvPr/>
          </p:nvSpPr>
          <p:spPr>
            <a:xfrm>
              <a:off x="4067944" y="3068960"/>
              <a:ext cx="16561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200" dirty="0">
                  <a:latin typeface="+mn-ea"/>
                  <a:ea typeface="+mn-ea"/>
                </a:rPr>
                <a:t>・伝票単位の情報</a:t>
              </a:r>
            </a:p>
          </p:txBody>
        </p:sp>
        <p:graphicFrame>
          <p:nvGraphicFramePr>
            <p:cNvPr id="11" name="オブジェクト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812307"/>
                </p:ext>
              </p:extLst>
            </p:nvPr>
          </p:nvGraphicFramePr>
          <p:xfrm>
            <a:off x="4067944" y="3351059"/>
            <a:ext cx="5330825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" name="Worksheet" r:id="rId8" imgW="5330060" imgH="514558" progId="Excel.Sheet.12">
                    <p:embed/>
                  </p:oleObj>
                </mc:Choice>
                <mc:Fallback>
                  <p:oleObj name="Worksheet" r:id="rId8" imgW="5330060" imgH="514558" progId="Excel.Shee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067944" y="3351059"/>
                          <a:ext cx="5330825" cy="514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7" name="コネクタ: カギ線 16"/>
          <p:cNvCxnSpPr/>
          <p:nvPr/>
        </p:nvCxnSpPr>
        <p:spPr bwMode="auto">
          <a:xfrm rot="5400000">
            <a:off x="5184068" y="2816932"/>
            <a:ext cx="2880320" cy="792088"/>
          </a:xfrm>
          <a:prstGeom prst="bentConnector3">
            <a:avLst>
              <a:gd name="adj1" fmla="val 9999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89175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235965"/>
              </p:ext>
            </p:extLst>
          </p:nvPr>
        </p:nvGraphicFramePr>
        <p:xfrm>
          <a:off x="827584" y="1412777"/>
          <a:ext cx="5501744" cy="849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0" name="Worksheet" r:id="rId4" imgW="5501744" imgH="849561" progId="Excel.Sheet.12">
                  <p:embed/>
                </p:oleObj>
              </mc:Choice>
              <mc:Fallback>
                <p:oleObj name="Worksheet" r:id="rId4" imgW="5501744" imgH="849561" progId="Excel.Sheet.12">
                  <p:embed/>
                  <p:pic>
                    <p:nvPicPr>
                      <p:cNvPr id="3" name="オブジェクト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584" y="1412777"/>
                        <a:ext cx="5501744" cy="849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オブジェクト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500818"/>
              </p:ext>
            </p:extLst>
          </p:nvPr>
        </p:nvGraphicFramePr>
        <p:xfrm>
          <a:off x="827584" y="2723455"/>
          <a:ext cx="5501744" cy="8495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1" name="Worksheet" r:id="rId6" imgW="5501744" imgH="849561" progId="Excel.Sheet.12">
                  <p:embed/>
                </p:oleObj>
              </mc:Choice>
              <mc:Fallback>
                <p:oleObj name="Worksheet" r:id="rId6" imgW="5501744" imgH="849561" progId="Excel.Sheet.12">
                  <p:embed/>
                  <p:pic>
                    <p:nvPicPr>
                      <p:cNvPr id="3" name="オブジェクト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27584" y="2723455"/>
                        <a:ext cx="5501744" cy="8495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テキスト ボックス 28"/>
          <p:cNvSpPr txBox="1"/>
          <p:nvPr/>
        </p:nvSpPr>
        <p:spPr>
          <a:xfrm>
            <a:off x="682417" y="797803"/>
            <a:ext cx="7775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US" altLang="ja-JP" sz="1200" dirty="0">
                <a:latin typeface="+mn-ea"/>
                <a:ea typeface="+mn-ea"/>
              </a:rPr>
              <a:t>(4) </a:t>
            </a:r>
            <a:r>
              <a:rPr lang="ja-JP" altLang="en-US" sz="1200" dirty="0">
                <a:latin typeface="+mn-ea"/>
              </a:rPr>
              <a:t>明細単位の全レコードを走査して、</a:t>
            </a:r>
            <a:r>
              <a:rPr lang="ja-JP" altLang="en-US" sz="1200" dirty="0">
                <a:latin typeface="+mn-ea"/>
                <a:ea typeface="+mn-ea"/>
              </a:rPr>
              <a:t>金額がマイナスのレコードを見つけた場合、「数量」欄と「原価」欄の値を消去する。（明細単位の値引きデータの数量、原価を分析に反映させないようにするため）</a:t>
            </a:r>
            <a:endParaRPr kumimoji="1" lang="ja-JP" altLang="en-US" sz="1200" dirty="0">
              <a:latin typeface="+mn-ea"/>
              <a:ea typeface="+mn-ea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加工のポイント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(2)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 bwMode="auto">
          <a:xfrm>
            <a:off x="827584" y="1412776"/>
            <a:ext cx="5501744" cy="504055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 flipV="1">
            <a:off x="4211960" y="3068960"/>
            <a:ext cx="1080120" cy="14401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3" name="矢印: 上 22"/>
          <p:cNvSpPr/>
          <p:nvPr/>
        </p:nvSpPr>
        <p:spPr bwMode="auto">
          <a:xfrm rot="10800000">
            <a:off x="3077326" y="2359353"/>
            <a:ext cx="515402" cy="244933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682416" y="3946905"/>
            <a:ext cx="80660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(5) </a:t>
            </a:r>
            <a:r>
              <a:rPr lang="ja-JP" altLang="en-US" sz="1200" dirty="0">
                <a:latin typeface="+mn-ea"/>
                <a:ea typeface="+mn-ea"/>
              </a:rPr>
              <a:t>伝票単位の情報と明細単位の情報を結合して、</a:t>
            </a:r>
            <a:r>
              <a:rPr lang="en-US" altLang="ja-JP" sz="1200" dirty="0">
                <a:latin typeface="+mn-ea"/>
                <a:ea typeface="+mn-ea"/>
              </a:rPr>
              <a:t>1</a:t>
            </a:r>
            <a:r>
              <a:rPr lang="ja-JP" altLang="en-US" sz="1200" dirty="0" err="1">
                <a:latin typeface="+mn-ea"/>
                <a:ea typeface="+mn-ea"/>
              </a:rPr>
              <a:t>つの</a:t>
            </a:r>
            <a:r>
              <a:rPr lang="ja-JP" altLang="en-US" sz="1200" dirty="0">
                <a:latin typeface="+mn-ea"/>
                <a:ea typeface="+mn-ea"/>
              </a:rPr>
              <a:t>ファイルに戻す（大福帳形式）</a:t>
            </a:r>
            <a:endParaRPr lang="en-US" altLang="ja-JP" sz="1200" dirty="0">
              <a:latin typeface="+mn-ea"/>
              <a:ea typeface="+mn-ea"/>
            </a:endParaRPr>
          </a:p>
          <a:p>
            <a:r>
              <a:rPr lang="ja-JP" altLang="en-US" sz="800" dirty="0">
                <a:latin typeface="+mn-ea"/>
                <a:ea typeface="+mn-ea"/>
              </a:rPr>
              <a:t>　　</a:t>
            </a:r>
            <a:endParaRPr lang="en-US" altLang="ja-JP" sz="800" dirty="0">
              <a:latin typeface="+mn-ea"/>
              <a:ea typeface="+mn-ea"/>
            </a:endParaRPr>
          </a:p>
          <a:p>
            <a:r>
              <a:rPr lang="ja-JP" altLang="en-US" sz="1200" dirty="0">
                <a:latin typeface="+mn-ea"/>
                <a:ea typeface="+mn-ea"/>
              </a:rPr>
              <a:t>　　結合キーは受注番号とする。</a:t>
            </a:r>
            <a:endParaRPr lang="en-US" altLang="ja-JP" sz="1200" dirty="0">
              <a:latin typeface="+mn-ea"/>
              <a:ea typeface="+mn-ea"/>
            </a:endParaRPr>
          </a:p>
          <a:p>
            <a:r>
              <a:rPr lang="ja-JP" altLang="en-US" sz="1200" dirty="0">
                <a:latin typeface="+mn-ea"/>
                <a:ea typeface="+mn-ea"/>
              </a:rPr>
              <a:t>　　</a:t>
            </a:r>
            <a:r>
              <a:rPr lang="en-US" altLang="ja-JP" sz="1200" dirty="0">
                <a:latin typeface="+mn-ea"/>
                <a:ea typeface="+mn-ea"/>
              </a:rPr>
              <a:t>1</a:t>
            </a:r>
            <a:r>
              <a:rPr lang="ja-JP" altLang="en-US" sz="1200" dirty="0" err="1">
                <a:latin typeface="+mn-ea"/>
                <a:ea typeface="+mn-ea"/>
              </a:rPr>
              <a:t>つの</a:t>
            </a:r>
            <a:r>
              <a:rPr lang="ja-JP" altLang="en-US" sz="1200" dirty="0">
                <a:latin typeface="+mn-ea"/>
                <a:ea typeface="+mn-ea"/>
              </a:rPr>
              <a:t>受注番号が複数の明細で構成されている場合、複数明細のうち</a:t>
            </a:r>
            <a:r>
              <a:rPr lang="en-US" altLang="ja-JP" sz="1200" dirty="0">
                <a:latin typeface="+mn-ea"/>
                <a:ea typeface="+mn-ea"/>
              </a:rPr>
              <a:t>1</a:t>
            </a:r>
            <a:r>
              <a:rPr lang="ja-JP" altLang="en-US" sz="1200" dirty="0">
                <a:latin typeface="+mn-ea"/>
                <a:ea typeface="+mn-ea"/>
              </a:rPr>
              <a:t>件に対してのみ伝票単位の情報を結合する。</a:t>
            </a:r>
            <a:endParaRPr lang="en-US" altLang="ja-JP" sz="1200" dirty="0">
              <a:latin typeface="+mn-ea"/>
              <a:ea typeface="+mn-ea"/>
            </a:endParaRPr>
          </a:p>
          <a:p>
            <a:r>
              <a:rPr lang="ja-JP" altLang="en-US" sz="1200" dirty="0">
                <a:latin typeface="+mn-ea"/>
                <a:ea typeface="+mn-ea"/>
              </a:rPr>
              <a:t>　　ただし、売上日と支店コードは全レコードに値を入れる。</a:t>
            </a:r>
          </a:p>
        </p:txBody>
      </p:sp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774059"/>
              </p:ext>
            </p:extLst>
          </p:nvPr>
        </p:nvGraphicFramePr>
        <p:xfrm>
          <a:off x="827584" y="4978623"/>
          <a:ext cx="7627938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2" name="Worksheet" r:id="rId8" imgW="7627464" imgH="682059" progId="Excel.Sheet.12">
                  <p:embed/>
                </p:oleObj>
              </mc:Choice>
              <mc:Fallback>
                <p:oleObj name="Worksheet" r:id="rId8" imgW="7627464" imgH="6820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7584" y="4978623"/>
                        <a:ext cx="7627938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正方形/長方形 30"/>
          <p:cNvSpPr/>
          <p:nvPr/>
        </p:nvSpPr>
        <p:spPr bwMode="auto">
          <a:xfrm>
            <a:off x="5580112" y="4974617"/>
            <a:ext cx="576064" cy="686631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2" name="正方形/長方形 31"/>
          <p:cNvSpPr/>
          <p:nvPr/>
        </p:nvSpPr>
        <p:spPr bwMode="auto">
          <a:xfrm>
            <a:off x="827584" y="4956602"/>
            <a:ext cx="1296144" cy="704646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652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5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加工のポイント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(3)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827584" y="764704"/>
            <a:ext cx="7488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(6) </a:t>
            </a:r>
            <a:r>
              <a:rPr lang="ja-JP" altLang="en-US" sz="1200" dirty="0">
                <a:latin typeface="+mn-ea"/>
                <a:ea typeface="+mn-ea"/>
              </a:rPr>
              <a:t>自社品番をキーとして、最新の 「商品マスタ」・「ブランドマスタ」・「カテゴリマスタ」 を結合する。</a:t>
            </a:r>
            <a:endParaRPr kumimoji="1" lang="ja-JP" altLang="en-US" sz="1200" dirty="0">
              <a:latin typeface="+mn-ea"/>
              <a:ea typeface="+mn-ea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27584" y="998464"/>
            <a:ext cx="7673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(7) </a:t>
            </a:r>
            <a:r>
              <a:rPr lang="ja-JP" altLang="en-US" sz="1200" dirty="0">
                <a:latin typeface="+mn-ea"/>
                <a:ea typeface="+mn-ea"/>
              </a:rPr>
              <a:t>支店コードをキーとして、店舗マスタを結合し、マスタに存在しない店舗のレコードがあれば削除する。</a:t>
            </a:r>
            <a:endParaRPr kumimoji="1" lang="ja-JP" altLang="en-US" sz="1200" dirty="0">
              <a:latin typeface="+mn-ea"/>
              <a:ea typeface="+mn-ea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2123728" y="1337164"/>
            <a:ext cx="2952328" cy="142522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6926888" y="1337164"/>
            <a:ext cx="1531312" cy="144016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aphicFrame>
        <p:nvGraphicFramePr>
          <p:cNvPr id="8" name="オブジェクト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089177"/>
              </p:ext>
            </p:extLst>
          </p:nvPr>
        </p:nvGraphicFramePr>
        <p:xfrm>
          <a:off x="693739" y="1340768"/>
          <a:ext cx="7771845" cy="143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6" name="Worksheet" r:id="rId4" imgW="10946260" imgH="2023318" progId="Excel.Sheet.12">
                  <p:embed/>
                </p:oleObj>
              </mc:Choice>
              <mc:Fallback>
                <p:oleObj name="Worksheet" r:id="rId4" imgW="10946260" imgH="20233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3739" y="1340768"/>
                        <a:ext cx="7771845" cy="1436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テキスト ボックス 23"/>
          <p:cNvSpPr txBox="1"/>
          <p:nvPr/>
        </p:nvSpPr>
        <p:spPr>
          <a:xfrm>
            <a:off x="755576" y="2996952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■（参考）店舗マスタの定義・データ内容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5" name="オブジェクト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662039"/>
              </p:ext>
            </p:extLst>
          </p:nvPr>
        </p:nvGraphicFramePr>
        <p:xfrm>
          <a:off x="682119" y="3307267"/>
          <a:ext cx="5547982" cy="2431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37" name="Worksheet" r:id="rId6" imgW="6164424" imgH="2701221" progId="Excel.Sheet.12">
                  <p:embed/>
                </p:oleObj>
              </mc:Choice>
              <mc:Fallback>
                <p:oleObj name="Worksheet" r:id="rId6" imgW="6164424" imgH="2701221" progId="Excel.Sheet.12">
                  <p:embed/>
                  <p:pic>
                    <p:nvPicPr>
                      <p:cNvPr id="2" name="オブジェクト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2119" y="3307267"/>
                        <a:ext cx="5547982" cy="24310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テキスト ボックス 25"/>
          <p:cNvSpPr txBox="1"/>
          <p:nvPr/>
        </p:nvSpPr>
        <p:spPr>
          <a:xfrm>
            <a:off x="827584" y="5805264"/>
            <a:ext cx="6971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ea typeface="+mn-ea"/>
              </a:rPr>
              <a:t>「店舗区分」で集計することにより、「実店舗」「（ネット）本店」「（ネット）モール」の区分けを行う。</a:t>
            </a:r>
            <a:endParaRPr lang="en-US" altLang="ja-JP" sz="1200" dirty="0">
              <a:latin typeface="+mn-ea"/>
              <a:ea typeface="+mn-ea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n-US" altLang="ja-JP" sz="400" dirty="0">
              <a:latin typeface="+mn-ea"/>
              <a:ea typeface="+mn-ea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ja-JP" altLang="en-US" sz="1200" dirty="0">
                <a:latin typeface="+mn-ea"/>
                <a:ea typeface="+mn-ea"/>
              </a:rPr>
              <a:t>「集計部門」で集計することにより、「店舗毎（実店舗）」と「ネット（店）」の区分けを行う。</a:t>
            </a:r>
            <a:endParaRPr kumimoji="1" lang="ja-JP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541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オブジェクト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75672"/>
              </p:ext>
            </p:extLst>
          </p:nvPr>
        </p:nvGraphicFramePr>
        <p:xfrm>
          <a:off x="693739" y="1056340"/>
          <a:ext cx="7771845" cy="1436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Worksheet" r:id="rId4" imgW="10946260" imgH="2023318" progId="Excel.Sheet.12">
                  <p:embed/>
                </p:oleObj>
              </mc:Choice>
              <mc:Fallback>
                <p:oleObj name="Worksheet" r:id="rId4" imgW="10946260" imgH="2023318" progId="Excel.Sheet.12">
                  <p:embed/>
                  <p:pic>
                    <p:nvPicPr>
                      <p:cNvPr id="8" name="オブジェクト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3739" y="1056340"/>
                        <a:ext cx="7771845" cy="1436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6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加工のポイント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(4)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83568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マスタファイルを結合した売上データ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827583" y="2564904"/>
            <a:ext cx="76734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  <a:ea typeface="+mn-ea"/>
              </a:rPr>
              <a:t>(8) </a:t>
            </a:r>
            <a:r>
              <a:rPr lang="ja-JP" altLang="en-US" sz="1200" dirty="0">
                <a:latin typeface="+mn-ea"/>
                <a:ea typeface="+mn-ea"/>
              </a:rPr>
              <a:t>カテゴリとブランドをもとに 「売上区分</a:t>
            </a:r>
            <a:r>
              <a:rPr lang="en-US" altLang="ja-JP" sz="1200" dirty="0">
                <a:latin typeface="+mn-ea"/>
                <a:ea typeface="+mn-ea"/>
              </a:rPr>
              <a:t>1</a:t>
            </a:r>
            <a:r>
              <a:rPr lang="ja-JP" altLang="en-US" sz="1200" dirty="0">
                <a:latin typeface="+mn-ea"/>
                <a:ea typeface="+mn-ea"/>
              </a:rPr>
              <a:t>」・「売上区分</a:t>
            </a:r>
            <a:r>
              <a:rPr lang="en-US" altLang="ja-JP" sz="1200" dirty="0">
                <a:latin typeface="+mn-ea"/>
                <a:ea typeface="+mn-ea"/>
              </a:rPr>
              <a:t>2</a:t>
            </a:r>
            <a:r>
              <a:rPr lang="ja-JP" altLang="en-US" sz="1200" dirty="0">
                <a:latin typeface="+mn-ea"/>
                <a:ea typeface="+mn-ea"/>
              </a:rPr>
              <a:t>」</a:t>
            </a:r>
            <a:r>
              <a:rPr lang="en-US" altLang="ja-JP" sz="1200" dirty="0">
                <a:latin typeface="+mn-ea"/>
                <a:ea typeface="+mn-ea"/>
              </a:rPr>
              <a:t> </a:t>
            </a:r>
            <a:r>
              <a:rPr lang="ja-JP" altLang="en-US" sz="1200" dirty="0">
                <a:latin typeface="+mn-ea"/>
                <a:ea typeface="+mn-ea"/>
              </a:rPr>
              <a:t>を判定する。</a:t>
            </a:r>
            <a:endParaRPr lang="en-US" altLang="ja-JP" sz="1200" dirty="0">
              <a:latin typeface="+mn-ea"/>
              <a:ea typeface="+mn-ea"/>
            </a:endParaRPr>
          </a:p>
          <a:p>
            <a:pPr marL="228600" indent="-228600">
              <a:buAutoNum type="arabicParenBoth"/>
            </a:pPr>
            <a:endParaRPr lang="en-US" altLang="ja-JP" sz="800" dirty="0">
              <a:latin typeface="+mn-ea"/>
              <a:ea typeface="+mn-ea"/>
            </a:endParaRPr>
          </a:p>
          <a:p>
            <a:r>
              <a:rPr lang="ja-JP" altLang="en-US" sz="1200" dirty="0">
                <a:latin typeface="+mn-ea"/>
                <a:ea typeface="+mn-ea"/>
              </a:rPr>
              <a:t>　</a:t>
            </a:r>
            <a:r>
              <a:rPr lang="en-US" altLang="ja-JP" sz="1200" dirty="0">
                <a:latin typeface="+mn-ea"/>
                <a:ea typeface="+mn-ea"/>
              </a:rPr>
              <a:t>a) </a:t>
            </a:r>
            <a:r>
              <a:rPr lang="ja-JP" altLang="en-US" sz="1200" dirty="0">
                <a:latin typeface="+mn-ea"/>
                <a:ea typeface="+mn-ea"/>
              </a:rPr>
              <a:t>全レコードを走査し、本店カテゴリ</a:t>
            </a:r>
            <a:r>
              <a:rPr lang="en-US" altLang="ja-JP" sz="1200" dirty="0">
                <a:latin typeface="+mn-ea"/>
                <a:ea typeface="+mn-ea"/>
              </a:rPr>
              <a:t>URL</a:t>
            </a:r>
            <a:r>
              <a:rPr lang="ja-JP" altLang="en-US" sz="1200" dirty="0">
                <a:latin typeface="+mn-ea"/>
                <a:ea typeface="+mn-ea"/>
              </a:rPr>
              <a:t>が「パーツ」（ </a:t>
            </a:r>
            <a:r>
              <a:rPr lang="en-US" altLang="ja-JP" sz="1200" dirty="0">
                <a:latin typeface="+mn-ea"/>
                <a:ea typeface="+mn-ea"/>
              </a:rPr>
              <a:t>pa </a:t>
            </a:r>
            <a:r>
              <a:rPr lang="ja-JP" altLang="en-US" sz="1200" dirty="0">
                <a:latin typeface="+mn-ea"/>
                <a:ea typeface="+mn-ea"/>
              </a:rPr>
              <a:t>で始まる）レコードを見つけた時、同じ受注番号で本店カテゴリ</a:t>
            </a:r>
            <a:r>
              <a:rPr lang="en-US" altLang="ja-JP" sz="1200" dirty="0">
                <a:latin typeface="+mn-ea"/>
                <a:ea typeface="+mn-ea"/>
              </a:rPr>
              <a:t>URL</a:t>
            </a:r>
            <a:r>
              <a:rPr lang="ja-JP" altLang="en-US" sz="1200" dirty="0">
                <a:latin typeface="+mn-ea"/>
                <a:ea typeface="+mn-ea"/>
              </a:rPr>
              <a:t>が「自転車」（ </a:t>
            </a:r>
            <a:r>
              <a:rPr lang="en-US" altLang="ja-JP" sz="1200" dirty="0">
                <a:latin typeface="+mn-ea"/>
                <a:ea typeface="+mn-ea"/>
              </a:rPr>
              <a:t>bicycle, </a:t>
            </a:r>
            <a:r>
              <a:rPr lang="en-US" altLang="ja-JP" sz="1200" dirty="0" err="1">
                <a:latin typeface="+mn-ea"/>
                <a:ea typeface="+mn-ea"/>
              </a:rPr>
              <a:t>citycycle</a:t>
            </a:r>
            <a:r>
              <a:rPr lang="en-US" altLang="ja-JP" sz="1200" dirty="0">
                <a:latin typeface="+mn-ea"/>
                <a:ea typeface="+mn-ea"/>
              </a:rPr>
              <a:t>, electric, kids</a:t>
            </a:r>
            <a:r>
              <a:rPr lang="ja-JP" altLang="en-US" sz="1200" dirty="0">
                <a:latin typeface="+mn-ea"/>
                <a:ea typeface="+mn-ea"/>
              </a:rPr>
              <a:t>のいずれかで始まる ）レコードが存在するかどうかを確認する。</a:t>
            </a:r>
            <a:endParaRPr lang="en-US" altLang="ja-JP" sz="1200" dirty="0">
              <a:latin typeface="+mn-ea"/>
              <a:ea typeface="+mn-ea"/>
            </a:endParaRPr>
          </a:p>
          <a:p>
            <a:r>
              <a:rPr lang="ja-JP" altLang="en-US" sz="1200" dirty="0">
                <a:latin typeface="+mn-ea"/>
                <a:ea typeface="+mn-ea"/>
              </a:rPr>
              <a:t>　存在する場合は「売上区分</a:t>
            </a:r>
            <a:r>
              <a:rPr lang="en-US" altLang="ja-JP" sz="1200" dirty="0">
                <a:latin typeface="+mn-ea"/>
                <a:ea typeface="+mn-ea"/>
              </a:rPr>
              <a:t>1</a:t>
            </a:r>
            <a:r>
              <a:rPr lang="ja-JP" altLang="en-US" sz="1200" dirty="0">
                <a:latin typeface="+mn-ea"/>
                <a:ea typeface="+mn-ea"/>
              </a:rPr>
              <a:t>･</a:t>
            </a:r>
            <a:r>
              <a:rPr lang="en-US" altLang="ja-JP" sz="1200" dirty="0">
                <a:latin typeface="+mn-ea"/>
                <a:ea typeface="+mn-ea"/>
              </a:rPr>
              <a:t>2</a:t>
            </a:r>
            <a:r>
              <a:rPr lang="ja-JP" altLang="en-US" sz="1200" dirty="0">
                <a:latin typeface="+mn-ea"/>
                <a:ea typeface="+mn-ea"/>
              </a:rPr>
              <a:t>」に「パーツ（自転車同時購入）」を設定する。存在しない場合は「パーツ（単体）」を設定する。</a:t>
            </a:r>
            <a:endParaRPr lang="en-US" altLang="ja-JP" sz="1200" dirty="0">
              <a:latin typeface="+mn-ea"/>
              <a:ea typeface="+mn-ea"/>
            </a:endParaRPr>
          </a:p>
          <a:p>
            <a:endParaRPr lang="en-US" altLang="ja-JP" sz="1200" dirty="0">
              <a:latin typeface="+mn-ea"/>
              <a:ea typeface="+mn-ea"/>
            </a:endParaRPr>
          </a:p>
          <a:p>
            <a:endParaRPr lang="en-US" altLang="ja-JP" sz="1200" dirty="0">
              <a:latin typeface="+mn-ea"/>
              <a:ea typeface="+mn-ea"/>
            </a:endParaRPr>
          </a:p>
          <a:p>
            <a:endParaRPr lang="en-US" altLang="ja-JP" sz="1200" dirty="0">
              <a:latin typeface="+mn-ea"/>
              <a:ea typeface="+mn-ea"/>
            </a:endParaRPr>
          </a:p>
          <a:p>
            <a:endParaRPr lang="en-US" altLang="ja-JP" sz="1200" dirty="0">
              <a:latin typeface="+mn-ea"/>
              <a:ea typeface="+mn-ea"/>
            </a:endParaRPr>
          </a:p>
          <a:p>
            <a:endParaRPr lang="en-US" altLang="ja-JP" sz="1200" dirty="0">
              <a:latin typeface="+mn-ea"/>
              <a:ea typeface="+mn-ea"/>
            </a:endParaRPr>
          </a:p>
          <a:p>
            <a:pPr marL="228600" indent="-228600">
              <a:buAutoNum type="arabicParenBoth"/>
            </a:pP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</a:t>
            </a:r>
            <a:r>
              <a:rPr lang="en-US" altLang="ja-JP" sz="1200" dirty="0">
                <a:latin typeface="+mn-ea"/>
              </a:rPr>
              <a:t>b) </a:t>
            </a:r>
            <a:r>
              <a:rPr lang="ja-JP" altLang="en-US" sz="1200" dirty="0">
                <a:latin typeface="+mn-ea"/>
              </a:rPr>
              <a:t>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「自転車」（ </a:t>
            </a:r>
            <a:r>
              <a:rPr lang="en-US" altLang="ja-JP" sz="1200" dirty="0">
                <a:latin typeface="+mn-ea"/>
              </a:rPr>
              <a:t>bicycle, </a:t>
            </a:r>
            <a:r>
              <a:rPr lang="en-US" altLang="ja-JP" sz="1200" dirty="0" err="1">
                <a:latin typeface="+mn-ea"/>
              </a:rPr>
              <a:t>citycycle</a:t>
            </a:r>
            <a:r>
              <a:rPr lang="en-US" altLang="ja-JP" sz="1200" dirty="0">
                <a:latin typeface="+mn-ea"/>
              </a:rPr>
              <a:t>, electric, kids</a:t>
            </a:r>
            <a:r>
              <a:rPr lang="ja-JP" altLang="en-US" sz="1200" dirty="0">
                <a:latin typeface="+mn-ea"/>
              </a:rPr>
              <a:t>のいずれかで始まる ）レコードの「売上区分</a:t>
            </a:r>
            <a:r>
              <a:rPr lang="en-US" altLang="ja-JP" sz="1200" dirty="0">
                <a:latin typeface="+mn-ea"/>
              </a:rPr>
              <a:t>1</a:t>
            </a:r>
            <a:r>
              <a:rPr lang="ja-JP" altLang="en-US" sz="1200" dirty="0">
                <a:latin typeface="+mn-ea"/>
              </a:rPr>
              <a:t>」に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「自転車」を設定する。「売上区分</a:t>
            </a: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」を以下のルールに基づき設定する。</a:t>
            </a:r>
            <a:endParaRPr lang="en-US" altLang="ja-JP" sz="1200" dirty="0">
              <a:latin typeface="+mn-ea"/>
            </a:endParaRPr>
          </a:p>
          <a:p>
            <a:endParaRPr lang="en-US" altLang="ja-JP" sz="8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・電動自転車</a:t>
            </a:r>
            <a:r>
              <a:rPr lang="en-US" altLang="ja-JP" sz="1200" dirty="0">
                <a:latin typeface="+mn-ea"/>
              </a:rPr>
              <a:t>	</a:t>
            </a:r>
            <a:r>
              <a:rPr lang="ja-JP" altLang="en-US" sz="1200" dirty="0">
                <a:latin typeface="+mn-ea"/>
              </a:rPr>
              <a:t>←本店カテゴリ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>
                <a:latin typeface="+mn-ea"/>
              </a:rPr>
              <a:t>electric</a:t>
            </a:r>
            <a:r>
              <a:rPr lang="ja-JP" altLang="en-US" sz="1200" dirty="0">
                <a:latin typeface="+mn-ea"/>
              </a:rPr>
              <a:t> で始まる</a:t>
            </a: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　　・メーカー車</a:t>
            </a:r>
            <a:r>
              <a:rPr lang="en-US" altLang="ja-JP" sz="1200" dirty="0">
                <a:latin typeface="+mn-ea"/>
              </a:rPr>
              <a:t>	</a:t>
            </a:r>
            <a:r>
              <a:rPr lang="ja-JP" altLang="en-US" sz="1200" dirty="0">
                <a:latin typeface="+mn-ea"/>
              </a:rPr>
              <a:t>←本店カテゴリ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 err="1">
                <a:latin typeface="+mn-ea"/>
              </a:rPr>
              <a:t>citycycle</a:t>
            </a:r>
            <a:r>
              <a:rPr lang="ja-JP" altLang="en-US" sz="1200" dirty="0">
                <a:latin typeface="+mn-ea"/>
              </a:rPr>
              <a:t> で始まる、かつ、ブランドが</a:t>
            </a:r>
            <a:r>
              <a:rPr lang="en-US" altLang="ja-JP" sz="1200" dirty="0">
                <a:latin typeface="+mn-ea"/>
              </a:rPr>
              <a:t> </a:t>
            </a:r>
            <a:r>
              <a:rPr lang="en-US" altLang="ja-JP" sz="1200" dirty="0" err="1">
                <a:latin typeface="+mn-ea"/>
              </a:rPr>
              <a:t>bridgestone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・一般車</a:t>
            </a:r>
            <a:r>
              <a:rPr lang="en-US" altLang="ja-JP" sz="1200" dirty="0">
                <a:latin typeface="+mn-ea"/>
              </a:rPr>
              <a:t>		</a:t>
            </a:r>
            <a:r>
              <a:rPr lang="ja-JP" altLang="en-US" sz="1200" dirty="0">
                <a:latin typeface="+mn-ea"/>
              </a:rPr>
              <a:t>←本店カテゴリ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 err="1">
                <a:latin typeface="+mn-ea"/>
              </a:rPr>
              <a:t>citycycle</a:t>
            </a:r>
            <a:r>
              <a:rPr lang="ja-JP" altLang="en-US" sz="1200" dirty="0">
                <a:latin typeface="+mn-ea"/>
              </a:rPr>
              <a:t> で始まる、かつ、ブランドが</a:t>
            </a:r>
            <a:r>
              <a:rPr lang="en-US" altLang="ja-JP" sz="1200" dirty="0">
                <a:latin typeface="+mn-ea"/>
              </a:rPr>
              <a:t> </a:t>
            </a:r>
            <a:r>
              <a:rPr lang="en-US" altLang="ja-JP" sz="1200" dirty="0" err="1">
                <a:latin typeface="+mn-ea"/>
              </a:rPr>
              <a:t>bridgestone</a:t>
            </a:r>
            <a:r>
              <a:rPr lang="en-US" altLang="ja-JP" sz="1200" dirty="0">
                <a:latin typeface="+mn-ea"/>
              </a:rPr>
              <a:t> </a:t>
            </a:r>
            <a:r>
              <a:rPr lang="ja-JP" altLang="en-US" sz="1200" dirty="0">
                <a:latin typeface="+mn-ea"/>
              </a:rPr>
              <a:t>でない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・子供用自転車</a:t>
            </a:r>
            <a:r>
              <a:rPr lang="en-US" altLang="ja-JP" sz="1200" dirty="0">
                <a:latin typeface="+mn-ea"/>
              </a:rPr>
              <a:t>	</a:t>
            </a:r>
            <a:r>
              <a:rPr lang="ja-JP" altLang="en-US" sz="1200" dirty="0">
                <a:latin typeface="+mn-ea"/>
              </a:rPr>
              <a:t>←本店カテゴリ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>
                <a:latin typeface="+mn-ea"/>
              </a:rPr>
              <a:t>kids</a:t>
            </a:r>
            <a:r>
              <a:rPr lang="ja-JP" altLang="en-US" sz="1200" dirty="0">
                <a:latin typeface="+mn-ea"/>
              </a:rPr>
              <a:t> で始まる、または</a:t>
            </a:r>
            <a:r>
              <a:rPr lang="en-US" altLang="ja-JP" sz="1200" dirty="0">
                <a:latin typeface="+mn-ea"/>
              </a:rPr>
              <a:t> bicycle/kids</a:t>
            </a:r>
            <a:r>
              <a:rPr lang="ja-JP" altLang="en-US" sz="1200" dirty="0">
                <a:latin typeface="+mn-ea"/>
              </a:rPr>
              <a:t> で始まる</a:t>
            </a:r>
            <a:br>
              <a:rPr lang="en-US" altLang="ja-JP" sz="1200" dirty="0">
                <a:latin typeface="+mn-ea"/>
              </a:rPr>
            </a:br>
            <a:r>
              <a:rPr lang="ja-JP" altLang="en-US" sz="1200" dirty="0">
                <a:latin typeface="+mn-ea"/>
              </a:rPr>
              <a:t>　　・スポーツ車</a:t>
            </a:r>
            <a:r>
              <a:rPr lang="en-US" altLang="ja-JP" sz="1200" dirty="0">
                <a:latin typeface="+mn-ea"/>
              </a:rPr>
              <a:t>	</a:t>
            </a:r>
            <a:r>
              <a:rPr lang="ja-JP" altLang="en-US" sz="1200" dirty="0">
                <a:latin typeface="+mn-ea"/>
              </a:rPr>
              <a:t>←本店カテゴリ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>
                <a:latin typeface="+mn-ea"/>
              </a:rPr>
              <a:t>bicycle</a:t>
            </a:r>
            <a:r>
              <a:rPr lang="ja-JP" altLang="en-US" sz="1200" dirty="0">
                <a:latin typeface="+mn-ea"/>
              </a:rPr>
              <a:t> で始まる、ただし、 </a:t>
            </a:r>
            <a:r>
              <a:rPr lang="en-US" altLang="ja-JP" sz="1200" dirty="0">
                <a:latin typeface="+mn-ea"/>
              </a:rPr>
              <a:t>bicycle/kids </a:t>
            </a:r>
            <a:r>
              <a:rPr lang="ja-JP" altLang="en-US" sz="1200" dirty="0">
                <a:latin typeface="+mn-ea"/>
              </a:rPr>
              <a:t>で始まるものを除く</a:t>
            </a:r>
            <a:br>
              <a:rPr lang="en-US" altLang="ja-JP" sz="1200" dirty="0">
                <a:latin typeface="+mn-ea"/>
              </a:rPr>
            </a:br>
            <a:endParaRPr lang="en-US" altLang="ja-JP" sz="1200" dirty="0">
              <a:latin typeface="+mn-ea"/>
            </a:endParaRPr>
          </a:p>
        </p:txBody>
      </p:sp>
      <p:sp>
        <p:nvSpPr>
          <p:cNvPr id="11" name="正方形/長方形 10"/>
          <p:cNvSpPr/>
          <p:nvPr/>
        </p:nvSpPr>
        <p:spPr bwMode="auto">
          <a:xfrm>
            <a:off x="2123728" y="1772816"/>
            <a:ext cx="144016" cy="28803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5148064" y="3861048"/>
            <a:ext cx="3166120" cy="743851"/>
            <a:chOff x="5220072" y="3861048"/>
            <a:chExt cx="3166120" cy="743851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6"/>
            <a:srcRect r="10703" b="67384"/>
            <a:stretch/>
          </p:blipFill>
          <p:spPr>
            <a:xfrm>
              <a:off x="5220072" y="3861048"/>
              <a:ext cx="3166120" cy="720080"/>
            </a:xfrm>
            <a:prstGeom prst="rect">
              <a:avLst/>
            </a:prstGeom>
          </p:spPr>
        </p:pic>
        <p:sp>
          <p:nvSpPr>
            <p:cNvPr id="14" name="正方形/長方形 13"/>
            <p:cNvSpPr/>
            <p:nvPr/>
          </p:nvSpPr>
          <p:spPr bwMode="auto">
            <a:xfrm>
              <a:off x="6588224" y="3861048"/>
              <a:ext cx="1008112" cy="743851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</p:grpSp>
      <p:grpSp>
        <p:nvGrpSpPr>
          <p:cNvPr id="4" name="グループ化 3"/>
          <p:cNvGrpSpPr/>
          <p:nvPr/>
        </p:nvGrpSpPr>
        <p:grpSpPr>
          <a:xfrm>
            <a:off x="1530416" y="3645024"/>
            <a:ext cx="3185600" cy="1008112"/>
            <a:chOff x="1242384" y="3789040"/>
            <a:chExt cx="3185600" cy="1008112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 rotWithShape="1">
            <a:blip r:embed="rId6"/>
            <a:srcRect r="10154" b="54337"/>
            <a:stretch/>
          </p:blipFill>
          <p:spPr>
            <a:xfrm>
              <a:off x="1242384" y="3789040"/>
              <a:ext cx="3185600" cy="1008112"/>
            </a:xfrm>
            <a:prstGeom prst="rect">
              <a:avLst/>
            </a:prstGeom>
          </p:spPr>
        </p:pic>
        <p:sp>
          <p:nvSpPr>
            <p:cNvPr id="17" name="正方形/長方形 16"/>
            <p:cNvSpPr/>
            <p:nvPr/>
          </p:nvSpPr>
          <p:spPr bwMode="auto">
            <a:xfrm>
              <a:off x="1674358" y="4509120"/>
              <a:ext cx="1944216" cy="239795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44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7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加工のポイント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(5)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827583" y="620688"/>
            <a:ext cx="767347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Both"/>
            </a:pPr>
            <a:endParaRPr lang="en-US" altLang="ja-JP" sz="800" dirty="0">
              <a:latin typeface="+mn-ea"/>
              <a:ea typeface="+mn-ea"/>
            </a:endParaRPr>
          </a:p>
          <a:p>
            <a:r>
              <a:rPr lang="ja-JP" altLang="en-US" sz="1200" dirty="0">
                <a:latin typeface="+mn-ea"/>
                <a:ea typeface="+mn-ea"/>
              </a:rPr>
              <a:t>　</a:t>
            </a:r>
            <a:r>
              <a:rPr lang="en-US" altLang="ja-JP" sz="1200" dirty="0">
                <a:latin typeface="+mn-ea"/>
                <a:ea typeface="+mn-ea"/>
              </a:rPr>
              <a:t>c) </a:t>
            </a:r>
            <a:r>
              <a:rPr lang="ja-JP" altLang="en-US" sz="1200" dirty="0">
                <a:latin typeface="+mn-ea"/>
                <a:ea typeface="+mn-ea"/>
              </a:rPr>
              <a:t>本店カテゴリ</a:t>
            </a:r>
            <a:r>
              <a:rPr lang="en-US" altLang="ja-JP" sz="1200" dirty="0">
                <a:latin typeface="+mn-ea"/>
                <a:ea typeface="+mn-ea"/>
              </a:rPr>
              <a:t>URL</a:t>
            </a:r>
            <a:r>
              <a:rPr lang="ja-JP" altLang="en-US" sz="1200" dirty="0">
                <a:latin typeface="+mn-ea"/>
                <a:ea typeface="+mn-ea"/>
              </a:rPr>
              <a:t>が </a:t>
            </a:r>
            <a:r>
              <a:rPr lang="en-US" altLang="ja-JP" dirty="0"/>
              <a:t>maintenance</a:t>
            </a:r>
            <a:r>
              <a:rPr lang="ja-JP" altLang="en-US" dirty="0"/>
              <a:t> </a:t>
            </a:r>
            <a:r>
              <a:rPr lang="ja-JP" altLang="en-US" sz="1200" dirty="0">
                <a:latin typeface="+mn-ea"/>
                <a:ea typeface="+mn-ea"/>
              </a:rPr>
              <a:t>で始まる</a:t>
            </a:r>
            <a:r>
              <a:rPr lang="ja-JP" altLang="en-US" sz="1200" dirty="0">
                <a:latin typeface="+mn-ea"/>
              </a:rPr>
              <a:t>レコードの「売上区分</a:t>
            </a:r>
            <a:r>
              <a:rPr lang="en-US" altLang="ja-JP" sz="1200" dirty="0">
                <a:latin typeface="+mn-ea"/>
              </a:rPr>
              <a:t>1</a:t>
            </a:r>
            <a:r>
              <a:rPr lang="ja-JP" altLang="en-US" sz="1200" dirty="0">
                <a:latin typeface="+mn-ea"/>
              </a:rPr>
              <a:t>･</a:t>
            </a: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」に「修理・工賃」を設定する。</a:t>
            </a:r>
            <a:endParaRPr lang="en-US" altLang="ja-JP" sz="1200" dirty="0">
              <a:latin typeface="+mn-ea"/>
            </a:endParaRPr>
          </a:p>
          <a:p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</a:t>
            </a:r>
            <a:r>
              <a:rPr lang="en-US" altLang="ja-JP" sz="1200" dirty="0">
                <a:latin typeface="+mn-ea"/>
              </a:rPr>
              <a:t>d) </a:t>
            </a:r>
            <a:r>
              <a:rPr lang="ja-JP" altLang="en-US" sz="1200" dirty="0">
                <a:latin typeface="+mn-ea"/>
              </a:rPr>
              <a:t>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/>
              <a:t>option </a:t>
            </a:r>
            <a:r>
              <a:rPr lang="ja-JP" altLang="en-US" sz="1200" dirty="0"/>
              <a:t>または </a:t>
            </a:r>
            <a:r>
              <a:rPr lang="en-US" altLang="ja-JP" dirty="0"/>
              <a:t>service</a:t>
            </a:r>
            <a:r>
              <a:rPr lang="ja-JP" altLang="en-US" sz="1200" dirty="0"/>
              <a:t> </a:t>
            </a:r>
            <a:r>
              <a:rPr lang="ja-JP" altLang="en-US" sz="1200" dirty="0">
                <a:latin typeface="+mn-ea"/>
              </a:rPr>
              <a:t>で始まるレコードの「売上区分</a:t>
            </a:r>
            <a:r>
              <a:rPr lang="en-US" altLang="ja-JP" sz="1200" dirty="0">
                <a:latin typeface="+mn-ea"/>
              </a:rPr>
              <a:t>1</a:t>
            </a:r>
            <a:r>
              <a:rPr lang="ja-JP" altLang="en-US" sz="1200" dirty="0">
                <a:latin typeface="+mn-ea"/>
              </a:rPr>
              <a:t>」に「オプション」を設定する。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本店カテゴリ</a:t>
            </a:r>
            <a:r>
              <a:rPr lang="en-US" altLang="ja-JP" sz="1200" dirty="0">
                <a:latin typeface="+mn-ea"/>
              </a:rPr>
              <a:t>URL</a:t>
            </a:r>
            <a:r>
              <a:rPr lang="ja-JP" altLang="en-US" sz="1200" dirty="0">
                <a:latin typeface="+mn-ea"/>
              </a:rPr>
              <a:t>が </a:t>
            </a:r>
            <a:r>
              <a:rPr lang="en-US" altLang="ja-JP" sz="1200" dirty="0">
                <a:latin typeface="+mn-ea"/>
              </a:rPr>
              <a:t>option/</a:t>
            </a:r>
            <a:r>
              <a:rPr lang="en-US" altLang="ja-JP" sz="1200" dirty="0" err="1">
                <a:latin typeface="+mn-ea"/>
              </a:rPr>
              <a:t>bouhan</a:t>
            </a:r>
            <a:r>
              <a:rPr lang="en-US" altLang="ja-JP" sz="1200" dirty="0">
                <a:latin typeface="+mn-ea"/>
              </a:rPr>
              <a:t> </a:t>
            </a:r>
            <a:r>
              <a:rPr lang="ja-JP" altLang="en-US" sz="1200" dirty="0">
                <a:latin typeface="+mn-ea"/>
              </a:rPr>
              <a:t>または </a:t>
            </a:r>
            <a:r>
              <a:rPr lang="en-US" altLang="ja-JP" sz="1200" dirty="0">
                <a:latin typeface="+mn-ea"/>
              </a:rPr>
              <a:t>service/</a:t>
            </a:r>
            <a:r>
              <a:rPr lang="en-US" altLang="ja-JP" sz="1200" dirty="0" err="1">
                <a:latin typeface="+mn-ea"/>
              </a:rPr>
              <a:t>bouhan</a:t>
            </a:r>
            <a:r>
              <a:rPr lang="ja-JP" altLang="en-US" sz="1200" dirty="0">
                <a:latin typeface="+mn-ea"/>
              </a:rPr>
              <a:t> で始まるレコードの「売上区分</a:t>
            </a: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」に「防犯登録」を設定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する。</a:t>
            </a:r>
            <a:r>
              <a:rPr lang="en-US" altLang="ja-JP" sz="1200" dirty="0">
                <a:latin typeface="+mn-ea"/>
              </a:rPr>
              <a:t>option/</a:t>
            </a:r>
            <a:r>
              <a:rPr lang="en-US" altLang="ja-JP" sz="1200" dirty="0" err="1">
                <a:latin typeface="+mn-ea"/>
              </a:rPr>
              <a:t>tounan</a:t>
            </a:r>
            <a:r>
              <a:rPr lang="en-US" altLang="ja-JP" sz="1200" dirty="0">
                <a:latin typeface="+mn-ea"/>
              </a:rPr>
              <a:t> </a:t>
            </a:r>
            <a:r>
              <a:rPr lang="ja-JP" altLang="en-US" sz="1200" dirty="0">
                <a:latin typeface="+mn-ea"/>
              </a:rPr>
              <a:t>または </a:t>
            </a:r>
            <a:r>
              <a:rPr lang="en-US" altLang="ja-JP" sz="1200" dirty="0">
                <a:latin typeface="+mn-ea"/>
              </a:rPr>
              <a:t>service/</a:t>
            </a:r>
            <a:r>
              <a:rPr lang="en-US" altLang="ja-JP" sz="1200" dirty="0" err="1">
                <a:latin typeface="+mn-ea"/>
              </a:rPr>
              <a:t>tounan</a:t>
            </a:r>
            <a:r>
              <a:rPr lang="ja-JP" altLang="en-US" sz="1200" dirty="0">
                <a:latin typeface="+mn-ea"/>
              </a:rPr>
              <a:t> で始まるレコードの「売上区分</a:t>
            </a: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」に「盗難補償」を設定する。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</a:t>
            </a:r>
            <a:r>
              <a:rPr lang="en-US" altLang="ja-JP" sz="1200" dirty="0">
                <a:latin typeface="+mn-ea"/>
              </a:rPr>
              <a:t>option/</a:t>
            </a:r>
            <a:r>
              <a:rPr lang="en-US" altLang="ja-JP" sz="1200" dirty="0" err="1">
                <a:latin typeface="+mn-ea"/>
              </a:rPr>
              <a:t>tsmark</a:t>
            </a:r>
            <a:r>
              <a:rPr lang="en-US" altLang="ja-JP" sz="1200" dirty="0">
                <a:latin typeface="+mn-ea"/>
              </a:rPr>
              <a:t> </a:t>
            </a:r>
            <a:r>
              <a:rPr lang="ja-JP" altLang="en-US" sz="1200" dirty="0">
                <a:latin typeface="+mn-ea"/>
              </a:rPr>
              <a:t>または </a:t>
            </a:r>
            <a:r>
              <a:rPr lang="en-US" altLang="ja-JP" sz="1200" dirty="0">
                <a:latin typeface="+mn-ea"/>
              </a:rPr>
              <a:t>service/</a:t>
            </a:r>
            <a:r>
              <a:rPr lang="en-US" altLang="ja-JP" sz="1200" dirty="0" err="1">
                <a:latin typeface="+mn-ea"/>
              </a:rPr>
              <a:t>tsmark</a:t>
            </a:r>
            <a:r>
              <a:rPr lang="ja-JP" altLang="en-US" sz="1200" dirty="0">
                <a:latin typeface="+mn-ea"/>
              </a:rPr>
              <a:t> で始まるレコードの「売上区分</a:t>
            </a: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」に「</a:t>
            </a:r>
            <a:r>
              <a:rPr lang="en-US" altLang="ja-JP" sz="1200" dirty="0">
                <a:latin typeface="+mn-ea"/>
              </a:rPr>
              <a:t>TS</a:t>
            </a:r>
            <a:r>
              <a:rPr lang="ja-JP" altLang="en-US" sz="1200" dirty="0">
                <a:latin typeface="+mn-ea"/>
              </a:rPr>
              <a:t>マーク」を設定する。</a:t>
            </a:r>
            <a:endParaRPr lang="en-US" altLang="ja-JP" sz="1200" dirty="0">
              <a:latin typeface="+mn-ea"/>
            </a:endParaRPr>
          </a:p>
          <a:p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</a:t>
            </a:r>
            <a:r>
              <a:rPr lang="en-US" altLang="ja-JP" sz="1200" dirty="0">
                <a:latin typeface="+mn-ea"/>
              </a:rPr>
              <a:t>e) a)</a:t>
            </a:r>
            <a:r>
              <a:rPr lang="ja-JP" altLang="en-US" sz="1200" dirty="0">
                <a:latin typeface="+mn-ea"/>
              </a:rPr>
              <a:t>から</a:t>
            </a:r>
            <a:r>
              <a:rPr lang="en-US" altLang="ja-JP" sz="1200" dirty="0">
                <a:latin typeface="+mn-ea"/>
              </a:rPr>
              <a:t>d)</a:t>
            </a:r>
            <a:r>
              <a:rPr lang="ja-JP" altLang="en-US" sz="1200" dirty="0" err="1">
                <a:latin typeface="+mn-ea"/>
              </a:rPr>
              <a:t>までの</a:t>
            </a:r>
            <a:r>
              <a:rPr lang="ja-JP" altLang="en-US" sz="1200" dirty="0">
                <a:latin typeface="+mn-ea"/>
              </a:rPr>
              <a:t>処理で売上区分が設定されなかったデータを削除する。（分析の対象から除外する）</a:t>
            </a:r>
            <a:endParaRPr lang="en-US" altLang="ja-JP" sz="1200" dirty="0">
              <a:latin typeface="+mn-ea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691664" y="2420888"/>
            <a:ext cx="684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■（参考）「売上区分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」「売上区分</a:t>
            </a:r>
            <a:r>
              <a:rPr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」の種類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5" name="オブジェクト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998303"/>
              </p:ext>
            </p:extLst>
          </p:nvPr>
        </p:nvGraphicFramePr>
        <p:xfrm>
          <a:off x="971600" y="2708920"/>
          <a:ext cx="3943350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5" name="Worksheet" r:id="rId4" imgW="3943324" imgH="3825101" progId="Excel.Sheet.12">
                  <p:embed/>
                </p:oleObj>
              </mc:Choice>
              <mc:Fallback>
                <p:oleObj name="Worksheet" r:id="rId4" imgW="3943324" imgH="382510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71600" y="2708920"/>
                        <a:ext cx="3943350" cy="3825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414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ボックス 17"/>
          <p:cNvSpPr txBox="1"/>
          <p:nvPr/>
        </p:nvSpPr>
        <p:spPr>
          <a:xfrm>
            <a:off x="683568" y="764704"/>
            <a:ext cx="7704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</a:rPr>
              <a:t>(9) </a:t>
            </a:r>
            <a:r>
              <a:rPr lang="ja-JP" altLang="en-US" sz="1200" dirty="0">
                <a:latin typeface="+mn-ea"/>
              </a:rPr>
              <a:t>店舗マスタを参照し、</a:t>
            </a:r>
            <a:r>
              <a:rPr lang="ja-JP" altLang="en-US" sz="1200" u="sng" dirty="0">
                <a:latin typeface="+mn-ea"/>
              </a:rPr>
              <a:t>店舗区分が「モール」の</a:t>
            </a:r>
            <a:r>
              <a:rPr lang="ja-JP" altLang="en-US" sz="1200" dirty="0">
                <a:latin typeface="+mn-ea"/>
              </a:rPr>
              <a:t>場合、 「使用ポイント」 「クーポン」列の値を消去する。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　　（</a:t>
            </a:r>
            <a:r>
              <a:rPr lang="en-US" altLang="ja-JP" sz="1200" dirty="0">
                <a:latin typeface="+mn-ea"/>
              </a:rPr>
              <a:t>※</a:t>
            </a:r>
            <a:r>
              <a:rPr lang="ja-JP" altLang="en-US" sz="1200" dirty="0">
                <a:latin typeface="+mn-ea"/>
              </a:rPr>
              <a:t>モールでは、ポイント・クーポンは後日モールから振り込まれるため、売上集計の対象にしない。）</a:t>
            </a:r>
            <a:endParaRPr lang="en-US" altLang="ja-JP" sz="1200" dirty="0">
              <a:latin typeface="+mn-ea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8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加工のポイント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(6)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683568" y="3221396"/>
            <a:ext cx="7704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/>
            <a:r>
              <a:rPr lang="en-US" altLang="ja-JP" sz="1200" dirty="0">
                <a:latin typeface="+mn-ea"/>
              </a:rPr>
              <a:t>(10) </a:t>
            </a:r>
            <a:r>
              <a:rPr lang="ja-JP" altLang="en-US" sz="1200" dirty="0">
                <a:latin typeface="+mn-ea"/>
              </a:rPr>
              <a:t>「売上区分</a:t>
            </a:r>
            <a:r>
              <a:rPr lang="en-US" altLang="ja-JP" sz="1200" dirty="0">
                <a:latin typeface="+mn-ea"/>
              </a:rPr>
              <a:t>2</a:t>
            </a:r>
            <a:r>
              <a:rPr lang="ja-JP" altLang="en-US" sz="1200" dirty="0">
                <a:latin typeface="+mn-ea"/>
              </a:rPr>
              <a:t>」が「防犯登録」のレコード以外の単価、金額、送料、返品手数料、代引手数料、使用ポイント、クーポン、値引き欄を売上日に応じた消費税率マスタの値で除算し、税抜きの金額にする。</a:t>
            </a:r>
            <a:r>
              <a:rPr lang="en-US" altLang="ja-JP" sz="1200" dirty="0">
                <a:latin typeface="+mn-ea"/>
              </a:rPr>
              <a:t>1</a:t>
            </a:r>
            <a:r>
              <a:rPr lang="ja-JP" altLang="en-US" sz="1200" dirty="0">
                <a:latin typeface="+mn-ea"/>
              </a:rPr>
              <a:t>円未満の端数は切り捨てる。</a:t>
            </a:r>
            <a:endParaRPr lang="en-US" altLang="ja-JP" sz="1200" dirty="0">
              <a:latin typeface="+mn-ea"/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755651" y="1340768"/>
            <a:ext cx="7671207" cy="1702909"/>
            <a:chOff x="755651" y="2327748"/>
            <a:chExt cx="7671207" cy="1702909"/>
          </a:xfrm>
        </p:grpSpPr>
        <p:graphicFrame>
          <p:nvGraphicFramePr>
            <p:cNvPr id="2" name="オブジェクト 1"/>
            <p:cNvGraphicFramePr>
              <a:graphicFrameLocks noChangeAspect="1"/>
            </p:cNvGraphicFramePr>
            <p:nvPr/>
          </p:nvGraphicFramePr>
          <p:xfrm>
            <a:off x="755651" y="2331070"/>
            <a:ext cx="7671207" cy="169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18" name="Worksheet" r:id="rId4" imgW="9132389" imgH="2023318" progId="Excel.Sheet.12">
                    <p:embed/>
                  </p:oleObj>
                </mc:Choice>
                <mc:Fallback>
                  <p:oleObj name="Worksheet" r:id="rId4" imgW="9132389" imgH="2023318" progId="Excel.Sheet.12">
                    <p:embed/>
                    <p:pic>
                      <p:nvPicPr>
                        <p:cNvPr id="2" name="オブジェクト 1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55651" y="2331070"/>
                          <a:ext cx="7671207" cy="16995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正方形/長方形 22"/>
            <p:cNvSpPr/>
            <p:nvPr/>
          </p:nvSpPr>
          <p:spPr bwMode="auto">
            <a:xfrm>
              <a:off x="7524328" y="2327748"/>
              <a:ext cx="902530" cy="1702909"/>
            </a:xfrm>
            <a:prstGeom prst="rect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pitchFamily="50" charset="-128"/>
              </a:endParaRPr>
            </a:p>
          </p:txBody>
        </p:sp>
      </p:grpSp>
      <p:graphicFrame>
        <p:nvGraphicFramePr>
          <p:cNvPr id="4" name="オブジェクト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418004"/>
              </p:ext>
            </p:extLst>
          </p:nvPr>
        </p:nvGraphicFramePr>
        <p:xfrm>
          <a:off x="879277" y="3983737"/>
          <a:ext cx="20732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Worksheet" r:id="rId6" imgW="2072640" imgH="514558" progId="Excel.Sheet.12">
                  <p:embed/>
                </p:oleObj>
              </mc:Choice>
              <mc:Fallback>
                <p:oleObj name="Worksheet" r:id="rId6" imgW="2072640" imgH="514558" progId="Excel.Sheet.12">
                  <p:embed/>
                  <p:pic>
                    <p:nvPicPr>
                      <p:cNvPr id="4" name="オブジェクト 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9277" y="3983737"/>
                        <a:ext cx="207327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テキスト ボックス 28"/>
          <p:cNvSpPr txBox="1"/>
          <p:nvPr/>
        </p:nvSpPr>
        <p:spPr>
          <a:xfrm>
            <a:off x="726640" y="3717032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■（参考）消費税率マスタ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362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/>
          <p:cNvSpPr/>
          <p:nvPr/>
        </p:nvSpPr>
        <p:spPr bwMode="auto">
          <a:xfrm>
            <a:off x="3875238" y="1609681"/>
            <a:ext cx="4801218" cy="174731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フローチャート: 書類 24"/>
          <p:cNvSpPr/>
          <p:nvPr/>
        </p:nvSpPr>
        <p:spPr bwMode="auto">
          <a:xfrm>
            <a:off x="2437812" y="5434838"/>
            <a:ext cx="1584176" cy="94825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フローチャート: 書類 65"/>
          <p:cNvSpPr/>
          <p:nvPr/>
        </p:nvSpPr>
        <p:spPr bwMode="auto">
          <a:xfrm>
            <a:off x="2221788" y="5655658"/>
            <a:ext cx="1561169" cy="102904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9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加工ステップ　（①：売上関連）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上 4"/>
          <p:cNvSpPr/>
          <p:nvPr/>
        </p:nvSpPr>
        <p:spPr bwMode="auto">
          <a:xfrm>
            <a:off x="3228228" y="4867001"/>
            <a:ext cx="2016224" cy="18495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207217" y="5641165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年受注分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2459245" y="5446991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2016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年受注分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611521" y="5345921"/>
            <a:ext cx="13884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今年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と昨年の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年分が置かれる。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マスタデータは全データが置かれる。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ファイルは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つずつ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zip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形式の圧縮ファイルで送られる。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418048" y="5176756"/>
            <a:ext cx="14571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＜する蔵明細データ＞</a:t>
            </a: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4517261" y="5176756"/>
            <a:ext cx="1743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＜する蔵マスタデータ＞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925062" y="1703223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＜②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50" name="正方形/長方形 49"/>
          <p:cNvSpPr/>
          <p:nvPr/>
        </p:nvSpPr>
        <p:spPr bwMode="auto">
          <a:xfrm>
            <a:off x="2365222" y="4205193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明細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ﾃﾞｰﾀ</a:t>
            </a:r>
          </a:p>
        </p:txBody>
      </p:sp>
      <p:sp>
        <p:nvSpPr>
          <p:cNvPr id="51" name="正方形/長方形 50"/>
          <p:cNvSpPr/>
          <p:nvPr/>
        </p:nvSpPr>
        <p:spPr bwMode="auto">
          <a:xfrm>
            <a:off x="3358874" y="4205193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商品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623047" y="3900640"/>
            <a:ext cx="1218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ヶ月分のデータのみ総入れ替え（他の過去データはそのまま残す）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マスタデータは全データを総入れ替え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正方形/長方形 66"/>
          <p:cNvSpPr/>
          <p:nvPr/>
        </p:nvSpPr>
        <p:spPr bwMode="auto">
          <a:xfrm>
            <a:off x="5346178" y="4205193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ブランド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70" name="正方形/長方形 69"/>
          <p:cNvSpPr/>
          <p:nvPr/>
        </p:nvSpPr>
        <p:spPr bwMode="auto">
          <a:xfrm>
            <a:off x="4352526" y="4205193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カテゴリマスタ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正方形/長方形 70"/>
          <p:cNvSpPr/>
          <p:nvPr/>
        </p:nvSpPr>
        <p:spPr bwMode="auto">
          <a:xfrm>
            <a:off x="1121582" y="1961305"/>
            <a:ext cx="7122826" cy="1616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34"/>
          <p:cNvSpPr txBox="1"/>
          <p:nvPr/>
        </p:nvSpPr>
        <p:spPr>
          <a:xfrm>
            <a:off x="1115617" y="2064503"/>
            <a:ext cx="78488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売上日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 受注番号　 集計部門 売上区分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売上区分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 数量　  金額　　送料　代引手数料　使用ポイント　クーポン　値引き</a:t>
            </a:r>
          </a:p>
        </p:txBody>
      </p:sp>
      <p:sp>
        <p:nvSpPr>
          <p:cNvPr id="73" name="テキスト ボックス 36"/>
          <p:cNvSpPr txBox="1"/>
          <p:nvPr/>
        </p:nvSpPr>
        <p:spPr>
          <a:xfrm>
            <a:off x="1115616" y="2295335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 10014840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自転車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スポーツ車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1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12,345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 10014840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 自転車　　　電動自転車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12,345</a:t>
            </a: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 10014841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 自転車　　　メーカー車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12,345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    </a:t>
            </a: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2017/4/3 10014842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 自転車　　　一般車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12,345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テキスト ボックス 37"/>
          <p:cNvSpPr txBox="1"/>
          <p:nvPr/>
        </p:nvSpPr>
        <p:spPr>
          <a:xfrm>
            <a:off x="1115616" y="3108802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 10014843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下鴨店　パーツ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単体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パーツ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単体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      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 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4,560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endParaRPr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 10014844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下鴨店　オプション　 盗難補償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    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345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 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endParaRPr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597819" y="788986"/>
            <a:ext cx="1577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今年含めて４年分のデータを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r>
              <a:rPr lang="ja-JP" altLang="en-US" sz="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へ抽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出する。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（例：現在が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日ならば、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日～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日まで）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フローチャート: 書類 75"/>
          <p:cNvSpPr/>
          <p:nvPr/>
        </p:nvSpPr>
        <p:spPr bwMode="auto">
          <a:xfrm>
            <a:off x="3026256" y="846720"/>
            <a:ext cx="573053" cy="415348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59487" y="2347032"/>
            <a:ext cx="713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ヶ月分のデータを計算し、総入れ替え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083436" y="2856669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87" name="テキスト ボックス 86"/>
          <p:cNvSpPr txBox="1"/>
          <p:nvPr/>
        </p:nvSpPr>
        <p:spPr>
          <a:xfrm>
            <a:off x="2277002" y="5945428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ファイルあたりのサイズは 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0MB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程度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8" name="矢印: 上 87"/>
          <p:cNvSpPr/>
          <p:nvPr/>
        </p:nvSpPr>
        <p:spPr bwMode="auto">
          <a:xfrm>
            <a:off x="3076649" y="1314974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1" name="フローチャート: 書類 40"/>
          <p:cNvSpPr/>
          <p:nvPr/>
        </p:nvSpPr>
        <p:spPr bwMode="auto">
          <a:xfrm>
            <a:off x="4425492" y="5484788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商品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フローチャート: 書類 41"/>
          <p:cNvSpPr/>
          <p:nvPr/>
        </p:nvSpPr>
        <p:spPr bwMode="auto">
          <a:xfrm>
            <a:off x="7145696" y="5470624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四角形: 角を丸くする 1"/>
          <p:cNvSpPr/>
          <p:nvPr/>
        </p:nvSpPr>
        <p:spPr bwMode="auto">
          <a:xfrm>
            <a:off x="179512" y="5285305"/>
            <a:ext cx="265791" cy="1368152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ソースＣＳＶ</a:t>
            </a:r>
          </a:p>
        </p:txBody>
      </p:sp>
      <p:sp>
        <p:nvSpPr>
          <p:cNvPr id="44" name="四角形: 角を丸くする 43"/>
          <p:cNvSpPr/>
          <p:nvPr/>
        </p:nvSpPr>
        <p:spPr bwMode="auto">
          <a:xfrm>
            <a:off x="177517" y="3683804"/>
            <a:ext cx="265791" cy="1368152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ＤＢ：計算ソース</a:t>
            </a:r>
          </a:p>
        </p:txBody>
      </p:sp>
      <p:sp>
        <p:nvSpPr>
          <p:cNvPr id="45" name="四角形: 角を丸くする 44"/>
          <p:cNvSpPr/>
          <p:nvPr/>
        </p:nvSpPr>
        <p:spPr bwMode="auto">
          <a:xfrm>
            <a:off x="175358" y="1700809"/>
            <a:ext cx="265791" cy="1877222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ＤＢ：計算結果</a:t>
            </a:r>
          </a:p>
        </p:txBody>
      </p:sp>
      <p:sp>
        <p:nvSpPr>
          <p:cNvPr id="46" name="四角形: 角を丸くする 45"/>
          <p:cNvSpPr/>
          <p:nvPr/>
        </p:nvSpPr>
        <p:spPr bwMode="auto">
          <a:xfrm>
            <a:off x="175359" y="671511"/>
            <a:ext cx="265791" cy="89871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出力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ＣＳＶ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矢印: 上 52"/>
          <p:cNvSpPr/>
          <p:nvPr/>
        </p:nvSpPr>
        <p:spPr bwMode="auto">
          <a:xfrm>
            <a:off x="3228228" y="3816077"/>
            <a:ext cx="2016224" cy="18495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3076649" y="4662020"/>
            <a:ext cx="2361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z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ip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ファイルを展開してそのまま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に取り込むイメージ</a:t>
            </a: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6644431" y="5176756"/>
            <a:ext cx="1743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マスタデータ＞</a:t>
            </a:r>
          </a:p>
        </p:txBody>
      </p:sp>
      <p:sp>
        <p:nvSpPr>
          <p:cNvPr id="60" name="フローチャート: 書類 59"/>
          <p:cNvSpPr/>
          <p:nvPr/>
        </p:nvSpPr>
        <p:spPr bwMode="auto">
          <a:xfrm>
            <a:off x="4937896" y="5700873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カテゴリ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フローチャート: 書類 64"/>
          <p:cNvSpPr/>
          <p:nvPr/>
        </p:nvSpPr>
        <p:spPr bwMode="auto">
          <a:xfrm>
            <a:off x="5508140" y="6026769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ブランド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正方形/長方形 56"/>
          <p:cNvSpPr/>
          <p:nvPr/>
        </p:nvSpPr>
        <p:spPr bwMode="auto">
          <a:xfrm>
            <a:off x="6339830" y="4205193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3831008" y="427288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ここでは主要項目だけ示しています。全項目はファイル定義を参照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正方形/長方形 58"/>
          <p:cNvSpPr/>
          <p:nvPr/>
        </p:nvSpPr>
        <p:spPr bwMode="auto">
          <a:xfrm>
            <a:off x="7333482" y="4205193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消費税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3779912" y="1380227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日別売上実績（伝票毎）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61" name="テキスト ボックス 34"/>
          <p:cNvSpPr txBox="1"/>
          <p:nvPr/>
        </p:nvSpPr>
        <p:spPr>
          <a:xfrm>
            <a:off x="3875238" y="1671128"/>
            <a:ext cx="494523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売上日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受注番号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支店コード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合計金額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注文タイプ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自転車台数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配送会社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支払区分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配送先県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501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15" y="1273592"/>
            <a:ext cx="7798308" cy="4325874"/>
          </a:xfrm>
          <a:prstGeom prst="rect">
            <a:avLst/>
          </a:prstGeom>
        </p:spPr>
      </p:pic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10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32677"/>
            <a:ext cx="5182344" cy="438836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アウトプットイメージ　 ～②店舗詳細～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正方形/長方形 69"/>
          <p:cNvSpPr/>
          <p:nvPr/>
        </p:nvSpPr>
        <p:spPr bwMode="auto">
          <a:xfrm>
            <a:off x="667915" y="1273592"/>
            <a:ext cx="7798308" cy="3207672"/>
          </a:xfrm>
          <a:prstGeom prst="rect">
            <a:avLst/>
          </a:prstGeom>
          <a:solidFill>
            <a:srgbClr val="CCECFF">
              <a:alpha val="5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" name="正方形/長方形 7"/>
          <p:cNvSpPr/>
          <p:nvPr/>
        </p:nvSpPr>
        <p:spPr bwMode="auto">
          <a:xfrm>
            <a:off x="1115616" y="580526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</a:p>
        </p:txBody>
      </p:sp>
      <p:sp>
        <p:nvSpPr>
          <p:cNvPr id="9" name="正方形/長方形 8"/>
          <p:cNvSpPr/>
          <p:nvPr/>
        </p:nvSpPr>
        <p:spPr bwMode="auto">
          <a:xfrm>
            <a:off x="1004267" y="5688558"/>
            <a:ext cx="248253" cy="2283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sz="18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正方形/長方形 10"/>
          <p:cNvSpPr/>
          <p:nvPr/>
        </p:nvSpPr>
        <p:spPr bwMode="auto">
          <a:xfrm>
            <a:off x="1619672" y="1638780"/>
            <a:ext cx="248253" cy="2501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②</a:t>
            </a: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2430608" y="1483395"/>
            <a:ext cx="341192" cy="2997869"/>
          </a:xfrm>
          <a:prstGeom prst="rect">
            <a:avLst/>
          </a:prstGeom>
          <a:solidFill>
            <a:srgbClr val="92D050">
              <a:alpha val="3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3923928" y="1485845"/>
            <a:ext cx="288032" cy="2997869"/>
          </a:xfrm>
          <a:prstGeom prst="rect">
            <a:avLst/>
          </a:prstGeom>
          <a:solidFill>
            <a:srgbClr val="92D050">
              <a:alpha val="3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5436096" y="1479967"/>
            <a:ext cx="288032" cy="2997869"/>
          </a:xfrm>
          <a:prstGeom prst="rect">
            <a:avLst/>
          </a:prstGeom>
          <a:solidFill>
            <a:srgbClr val="92D050">
              <a:alpha val="3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7041932" y="1479966"/>
            <a:ext cx="360040" cy="2997869"/>
          </a:xfrm>
          <a:prstGeom prst="rect">
            <a:avLst/>
          </a:prstGeom>
          <a:solidFill>
            <a:srgbClr val="92D050">
              <a:alpha val="30000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9" name="正方形/長方形 18"/>
          <p:cNvSpPr/>
          <p:nvPr/>
        </p:nvSpPr>
        <p:spPr bwMode="auto">
          <a:xfrm>
            <a:off x="2750767" y="5802752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 bwMode="auto">
          <a:xfrm>
            <a:off x="2595555" y="5705400"/>
            <a:ext cx="248253" cy="2283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kumimoji="1" lang="ja-JP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2451539" y="3727012"/>
            <a:ext cx="248253" cy="25019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sz="18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</a:t>
            </a:r>
            <a:endParaRPr kumimoji="1" lang="ja-JP" altLang="en-US" sz="18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700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142805"/>
              </p:ext>
            </p:extLst>
          </p:nvPr>
        </p:nvGraphicFramePr>
        <p:xfrm>
          <a:off x="827585" y="1041705"/>
          <a:ext cx="7673495" cy="439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7" name="Worksheet" r:id="rId4" imgW="7993224" imgH="4579481" progId="Excel.Sheet.12">
                  <p:embed/>
                </p:oleObj>
              </mc:Choice>
              <mc:Fallback>
                <p:oleObj name="Worksheet" r:id="rId4" imgW="7993224" imgH="45794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7585" y="1041705"/>
                        <a:ext cx="7673495" cy="439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11</a:t>
            </a:fld>
            <a:endParaRPr lang="en-US" altLang="ja-JP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zh-TW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 ファイル定義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20404" y="5733256"/>
            <a:ext cx="77026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US" altLang="ja-JP" sz="1200" dirty="0">
                <a:latin typeface="+mn-ea"/>
              </a:rPr>
              <a:t>※</a:t>
            </a:r>
            <a:r>
              <a:rPr lang="ja-JP" altLang="en-US" sz="1200" dirty="0">
                <a:latin typeface="+mn-ea"/>
              </a:rPr>
              <a:t> 税込金額をもとに別途、変動費計算用として、伝票単位の集計データ（</a:t>
            </a:r>
            <a:r>
              <a:rPr lang="zh-TW" altLang="en-US" sz="1200" dirty="0">
                <a:latin typeface="+mn-ea"/>
              </a:rPr>
              <a:t>日別売上実績（伝票毎）</a:t>
            </a:r>
            <a:r>
              <a:rPr lang="ja-JP" altLang="en-US" sz="1200" dirty="0">
                <a:latin typeface="+mn-ea"/>
              </a:rPr>
              <a:t>ファイル　</a:t>
            </a:r>
            <a:r>
              <a:rPr lang="en-US" altLang="ja-JP" sz="1200" dirty="0">
                <a:latin typeface="+mn-ea"/>
              </a:rPr>
              <a:t>※</a:t>
            </a:r>
            <a:r>
              <a:rPr lang="ja-JP" altLang="en-US" sz="1200" dirty="0">
                <a:latin typeface="+mn-ea"/>
              </a:rPr>
              <a:t>次ページ参照）を作成する。</a:t>
            </a:r>
            <a:endParaRPr lang="en-US" altLang="ja-JP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5879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ボックス 17"/>
          <p:cNvSpPr txBox="1"/>
          <p:nvPr/>
        </p:nvSpPr>
        <p:spPr>
          <a:xfrm>
            <a:off x="683568" y="836712"/>
            <a:ext cx="77047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</a:rPr>
              <a:t>(1) </a:t>
            </a:r>
            <a:r>
              <a:rPr lang="zh-TW" altLang="en-US" sz="1200" dirty="0">
                <a:latin typeface="+mn-ea"/>
              </a:rPr>
              <a:t>日別売上実績</a:t>
            </a:r>
            <a:r>
              <a:rPr lang="ja-JP" altLang="en-US" sz="1200" dirty="0">
                <a:latin typeface="+mn-ea"/>
              </a:rPr>
              <a:t>データ（税込金額）の全レコードを走査し、</a:t>
            </a:r>
            <a:r>
              <a:rPr lang="en-US" altLang="ja-JP" sz="1200" dirty="0">
                <a:latin typeface="+mn-ea"/>
              </a:rPr>
              <a:t>1</a:t>
            </a:r>
            <a:r>
              <a:rPr lang="ja-JP" altLang="en-US" sz="1200" dirty="0" err="1">
                <a:latin typeface="+mn-ea"/>
              </a:rPr>
              <a:t>つの</a:t>
            </a:r>
            <a:r>
              <a:rPr lang="ja-JP" altLang="en-US" sz="1200" dirty="0">
                <a:latin typeface="+mn-ea"/>
              </a:rPr>
              <a:t>受注番号の中で「売上区分</a:t>
            </a:r>
            <a:r>
              <a:rPr lang="en-US" altLang="ja-JP" sz="1200" dirty="0">
                <a:latin typeface="+mn-ea"/>
              </a:rPr>
              <a:t>1</a:t>
            </a:r>
            <a:r>
              <a:rPr lang="ja-JP" altLang="en-US" sz="1200" dirty="0">
                <a:latin typeface="+mn-ea"/>
              </a:rPr>
              <a:t>」が「自転車」のレコードが存在する場合、数量の合計を「自転車台数」欄に設定する。また、「注文タイプ」欄を「自転車含む」に設定する。</a:t>
            </a:r>
            <a:endParaRPr lang="en-US" altLang="ja-JP" sz="1200" dirty="0">
              <a:latin typeface="+mn-ea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12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日別売上実績（伝票毎） 加工のポイント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83568" y="1527175"/>
            <a:ext cx="770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</a:rPr>
              <a:t>(2) </a:t>
            </a:r>
            <a:r>
              <a:rPr lang="ja-JP" altLang="en-US" sz="1200" dirty="0">
                <a:latin typeface="+mn-ea"/>
              </a:rPr>
              <a:t>上記に該当しない場合、「注文タイプ」欄を「自転車以外」に設定する。また、「自転車台数」欄に「</a:t>
            </a:r>
            <a:r>
              <a:rPr lang="en-US" altLang="ja-JP" sz="1200" dirty="0">
                <a:latin typeface="+mn-ea"/>
              </a:rPr>
              <a:t>0</a:t>
            </a:r>
            <a:r>
              <a:rPr lang="ja-JP" altLang="en-US" sz="1200" dirty="0">
                <a:latin typeface="+mn-ea"/>
              </a:rPr>
              <a:t>」を設定する。</a:t>
            </a:r>
            <a:endParaRPr lang="en-US" altLang="ja-JP" sz="1200" dirty="0">
              <a:latin typeface="+mn-ea"/>
            </a:endParaRPr>
          </a:p>
        </p:txBody>
      </p:sp>
      <p:graphicFrame>
        <p:nvGraphicFramePr>
          <p:cNvPr id="3" name="オブジェクト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4126226"/>
              </p:ext>
            </p:extLst>
          </p:nvPr>
        </p:nvGraphicFramePr>
        <p:xfrm>
          <a:off x="726640" y="4811935"/>
          <a:ext cx="616426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Worksheet" r:id="rId4" imgW="6164424" imgH="849561" progId="Excel.Sheet.12">
                  <p:embed/>
                </p:oleObj>
              </mc:Choice>
              <mc:Fallback>
                <p:oleObj name="Worksheet" r:id="rId4" imgW="6164424" imgH="8495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6640" y="4811935"/>
                        <a:ext cx="6164262" cy="84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オブジェクト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164499"/>
              </p:ext>
            </p:extLst>
          </p:nvPr>
        </p:nvGraphicFramePr>
        <p:xfrm>
          <a:off x="726640" y="2863081"/>
          <a:ext cx="7690166" cy="1213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Worksheet" r:id="rId6" imgW="12816944" imgH="2023318" progId="Excel.Sheet.12">
                  <p:embed/>
                </p:oleObj>
              </mc:Choice>
              <mc:Fallback>
                <p:oleObj name="Worksheet" r:id="rId6" imgW="12816944" imgH="20233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6640" y="2863081"/>
                        <a:ext cx="7690166" cy="1213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テキスト ボックス 12"/>
          <p:cNvSpPr txBox="1"/>
          <p:nvPr/>
        </p:nvSpPr>
        <p:spPr>
          <a:xfrm>
            <a:off x="726640" y="2614152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日別売上実績（税込金額）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26640" y="4534936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 日別売上実績（伝票毎）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矢印: 上 14"/>
          <p:cNvSpPr/>
          <p:nvPr/>
        </p:nvSpPr>
        <p:spPr bwMode="auto">
          <a:xfrm rot="10800000">
            <a:off x="3419873" y="4293096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83568" y="1999873"/>
            <a:ext cx="77047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+mn-ea"/>
              </a:rPr>
              <a:t>(3)</a:t>
            </a:r>
            <a:r>
              <a:rPr lang="ja-JP" altLang="en-US" sz="1200" dirty="0">
                <a:latin typeface="+mn-ea"/>
              </a:rPr>
              <a:t> 受注番号単位で金額を合計し、送料、返品手数料、代引手数料を足して「合計金額」欄に設定する。</a:t>
            </a:r>
            <a:endParaRPr lang="en-US" altLang="ja-JP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15425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4473408"/>
              </p:ext>
            </p:extLst>
          </p:nvPr>
        </p:nvGraphicFramePr>
        <p:xfrm>
          <a:off x="755650" y="1052736"/>
          <a:ext cx="7608888" cy="359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2" name="Worksheet" r:id="rId4" imgW="7764728" imgH="3665081" progId="Excel.Sheet.12">
                  <p:embed/>
                </p:oleObj>
              </mc:Choice>
              <mc:Fallback>
                <p:oleObj name="Worksheet" r:id="rId4" imgW="7764728" imgH="36650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650" y="1052736"/>
                        <a:ext cx="7608888" cy="3592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13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日別売上実績（伝票毎） ファイル定義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83568" y="508518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■データ例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5" name="オブジェクト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811121"/>
              </p:ext>
            </p:extLst>
          </p:nvPr>
        </p:nvGraphicFramePr>
        <p:xfrm>
          <a:off x="755576" y="5301208"/>
          <a:ext cx="7632848" cy="558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3" name="Worksheet" r:id="rId6" imgW="9323148" imgH="678319" progId="Excel.Sheet.12">
                  <p:embed/>
                </p:oleObj>
              </mc:Choice>
              <mc:Fallback>
                <p:oleObj name="Worksheet" r:id="rId6" imgW="9323148" imgH="6783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576" y="5301208"/>
                        <a:ext cx="7632848" cy="558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14216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分析データ設計の方針</a:t>
            </a:r>
            <a:endParaRPr 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費用編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1270696"/>
            <a:ext cx="1500559" cy="648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図 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404664"/>
            <a:ext cx="1909196" cy="596256"/>
          </a:xfrm>
          <a:prstGeom prst="rect">
            <a:avLst/>
          </a:prstGeom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666" y="406600"/>
            <a:ext cx="1743869" cy="5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28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方形/長方形 75"/>
          <p:cNvSpPr/>
          <p:nvPr/>
        </p:nvSpPr>
        <p:spPr bwMode="auto">
          <a:xfrm>
            <a:off x="1525340" y="2780928"/>
            <a:ext cx="5550463" cy="3886572"/>
          </a:xfrm>
          <a:prstGeom prst="rect">
            <a:avLst/>
          </a:prstGeom>
          <a:solidFill>
            <a:srgbClr val="CCECFF"/>
          </a:solidFill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15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データソースと加工ステップ　 ～②費用関連～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3568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619673" y="284776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8108840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7232779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619672" y="529827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401461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5265557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" name="コネクタ: カギ線 5"/>
          <p:cNvCxnSpPr>
            <a:cxnSpLocks/>
            <a:stCxn id="15" idx="2"/>
            <a:endCxn id="21" idx="0"/>
          </p:cNvCxnSpPr>
          <p:nvPr/>
        </p:nvCxnSpPr>
        <p:spPr bwMode="auto">
          <a:xfrm rot="16200000" flipH="1">
            <a:off x="2790190" y="2469340"/>
            <a:ext cx="1160834" cy="278178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コネクタ: カギ線 27"/>
          <p:cNvCxnSpPr>
            <a:cxnSpLocks/>
            <a:stCxn id="15" idx="2"/>
            <a:endCxn id="22" idx="0"/>
          </p:cNvCxnSpPr>
          <p:nvPr/>
        </p:nvCxnSpPr>
        <p:spPr bwMode="auto">
          <a:xfrm rot="16200000" flipH="1">
            <a:off x="3222238" y="2037292"/>
            <a:ext cx="1160834" cy="3645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コネクタ: カギ線 43"/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970482" y="4289048"/>
            <a:ext cx="201846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正方形/長方形 135"/>
          <p:cNvSpPr/>
          <p:nvPr/>
        </p:nvSpPr>
        <p:spPr bwMode="auto">
          <a:xfrm>
            <a:off x="5899843" y="385859"/>
            <a:ext cx="296480" cy="1881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202803" y="367653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</a:p>
        </p:txBody>
      </p:sp>
      <p:sp>
        <p:nvSpPr>
          <p:cNvPr id="2" name="フローチャート: 書類 1"/>
          <p:cNvSpPr/>
          <p:nvPr/>
        </p:nvSpPr>
        <p:spPr bwMode="auto">
          <a:xfrm>
            <a:off x="684476" y="609329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7" name="フローチャート: 書類 96"/>
          <p:cNvSpPr/>
          <p:nvPr/>
        </p:nvSpPr>
        <p:spPr bwMode="auto">
          <a:xfrm>
            <a:off x="3168286" y="6057373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フローチャート: 書類 98"/>
          <p:cNvSpPr/>
          <p:nvPr/>
        </p:nvSpPr>
        <p:spPr bwMode="auto">
          <a:xfrm>
            <a:off x="6262771" y="6106340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正方形/長方形 102"/>
          <p:cNvSpPr/>
          <p:nvPr/>
        </p:nvSpPr>
        <p:spPr bwMode="auto">
          <a:xfrm>
            <a:off x="6300192" y="5345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106" name="フローチャート: 書類 105"/>
          <p:cNvSpPr/>
          <p:nvPr/>
        </p:nvSpPr>
        <p:spPr bwMode="auto">
          <a:xfrm>
            <a:off x="8028384" y="609717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フローチャート: 書類 106"/>
          <p:cNvSpPr/>
          <p:nvPr/>
        </p:nvSpPr>
        <p:spPr bwMode="auto">
          <a:xfrm>
            <a:off x="7258436" y="6101102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" name="直線矢印コネクタ 9"/>
          <p:cNvCxnSpPr>
            <a:cxnSpLocks/>
            <a:stCxn id="2" idx="0"/>
            <a:endCxn id="14" idx="2"/>
          </p:cNvCxnSpPr>
          <p:nvPr/>
        </p:nvCxnSpPr>
        <p:spPr bwMode="auto">
          <a:xfrm flipH="1" flipV="1">
            <a:off x="1043608" y="5717072"/>
            <a:ext cx="908" cy="37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直線矢印コネクタ 108"/>
          <p:cNvCxnSpPr>
            <a:cxnSpLocks/>
            <a:stCxn id="107" idx="0"/>
            <a:endCxn id="17" idx="2"/>
          </p:cNvCxnSpPr>
          <p:nvPr/>
        </p:nvCxnSpPr>
        <p:spPr bwMode="auto">
          <a:xfrm flipH="1" flipV="1">
            <a:off x="7592819" y="5588656"/>
            <a:ext cx="25657" cy="5124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線矢印コネクタ 109"/>
          <p:cNvCxnSpPr>
            <a:cxnSpLocks/>
            <a:stCxn id="106" idx="0"/>
            <a:endCxn id="16" idx="2"/>
          </p:cNvCxnSpPr>
          <p:nvPr/>
        </p:nvCxnSpPr>
        <p:spPr bwMode="auto">
          <a:xfrm flipV="1">
            <a:off x="8388424" y="5588656"/>
            <a:ext cx="80456" cy="5085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円弧 41"/>
          <p:cNvSpPr/>
          <p:nvPr/>
        </p:nvSpPr>
        <p:spPr bwMode="auto">
          <a:xfrm>
            <a:off x="7455535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5" name="直線コネクタ 44"/>
          <p:cNvCxnSpPr>
            <a:cxnSpLocks/>
            <a:stCxn id="42" idx="2"/>
          </p:cNvCxnSpPr>
          <p:nvPr/>
        </p:nvCxnSpPr>
        <p:spPr bwMode="auto">
          <a:xfrm flipV="1">
            <a:off x="7730103" y="4998839"/>
            <a:ext cx="495381" cy="1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/>
          <p:cNvCxnSpPr>
            <a:cxnSpLocks/>
          </p:cNvCxnSpPr>
          <p:nvPr/>
        </p:nvCxnSpPr>
        <p:spPr bwMode="auto">
          <a:xfrm>
            <a:off x="8224216" y="4992891"/>
            <a:ext cx="635" cy="1582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線コネクタ 118"/>
          <p:cNvCxnSpPr>
            <a:cxnSpLocks/>
            <a:endCxn id="101" idx="0"/>
          </p:cNvCxnSpPr>
          <p:nvPr/>
        </p:nvCxnSpPr>
        <p:spPr bwMode="auto">
          <a:xfrm>
            <a:off x="5727160" y="4992891"/>
            <a:ext cx="802534" cy="5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線コネクタ 121"/>
          <p:cNvCxnSpPr>
            <a:cxnSpLocks/>
          </p:cNvCxnSpPr>
          <p:nvPr/>
        </p:nvCxnSpPr>
        <p:spPr bwMode="auto">
          <a:xfrm>
            <a:off x="5734976" y="4869160"/>
            <a:ext cx="0" cy="116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フローチャート: 書類 124"/>
          <p:cNvSpPr/>
          <p:nvPr/>
        </p:nvSpPr>
        <p:spPr bwMode="auto">
          <a:xfrm>
            <a:off x="6982851" y="389342"/>
            <a:ext cx="289983" cy="22362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7344918" y="384317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フローチャート: 書類 127"/>
          <p:cNvSpPr/>
          <p:nvPr/>
        </p:nvSpPr>
        <p:spPr bwMode="auto">
          <a:xfrm>
            <a:off x="787648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9" name="直線矢印コネクタ 128"/>
          <p:cNvCxnSpPr>
            <a:cxnSpLocks/>
            <a:stCxn id="14" idx="0"/>
            <a:endCxn id="128" idx="2"/>
          </p:cNvCxnSpPr>
          <p:nvPr/>
        </p:nvCxnSpPr>
        <p:spPr bwMode="auto">
          <a:xfrm flipV="1">
            <a:off x="1043608" y="1333397"/>
            <a:ext cx="111974" cy="39516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1" name="テキスト ボックス 130"/>
          <p:cNvSpPr txBox="1"/>
          <p:nvPr/>
        </p:nvSpPr>
        <p:spPr>
          <a:xfrm>
            <a:off x="191465" y="845787"/>
            <a:ext cx="658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これを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へ送る→</a:t>
            </a:r>
          </a:p>
        </p:txBody>
      </p:sp>
      <p:sp>
        <p:nvSpPr>
          <p:cNvPr id="61" name="フローチャート: 書類 60"/>
          <p:cNvSpPr/>
          <p:nvPr/>
        </p:nvSpPr>
        <p:spPr bwMode="auto">
          <a:xfrm>
            <a:off x="1665062" y="608132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勤怠ﾃﾞｰﾀ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正方形/長方形 61"/>
          <p:cNvSpPr/>
          <p:nvPr/>
        </p:nvSpPr>
        <p:spPr bwMode="auto">
          <a:xfrm>
            <a:off x="2393381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cxnSp>
        <p:nvCxnSpPr>
          <p:cNvPr id="63" name="直線矢印コネクタ 62"/>
          <p:cNvCxnSpPr>
            <a:cxnSpLocks/>
            <a:stCxn id="61" idx="0"/>
            <a:endCxn id="62" idx="2"/>
          </p:cNvCxnSpPr>
          <p:nvPr/>
        </p:nvCxnSpPr>
        <p:spPr bwMode="auto">
          <a:xfrm flipV="1">
            <a:off x="2025102" y="5717072"/>
            <a:ext cx="728319" cy="3642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直線矢印コネクタ 65"/>
          <p:cNvCxnSpPr>
            <a:cxnSpLocks/>
            <a:stCxn id="61" idx="0"/>
            <a:endCxn id="18" idx="2"/>
          </p:cNvCxnSpPr>
          <p:nvPr/>
        </p:nvCxnSpPr>
        <p:spPr bwMode="auto">
          <a:xfrm flipH="1" flipV="1">
            <a:off x="1979712" y="5730327"/>
            <a:ext cx="45390" cy="35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テキスト ボックス 69"/>
          <p:cNvSpPr txBox="1"/>
          <p:nvPr/>
        </p:nvSpPr>
        <p:spPr>
          <a:xfrm>
            <a:off x="5767109" y="5805533"/>
            <a:ext cx="80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売上分は生成しない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1503460" y="4125517"/>
            <a:ext cx="84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人件費を計算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199994" y="4118373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例外的に賞与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/>
          <p:cNvCxnSpPr>
            <a:cxnSpLocks/>
            <a:stCxn id="99" idx="0"/>
            <a:endCxn id="103" idx="2"/>
          </p:cNvCxnSpPr>
          <p:nvPr/>
        </p:nvCxnSpPr>
        <p:spPr bwMode="auto">
          <a:xfrm flipV="1">
            <a:off x="6622811" y="5777166"/>
            <a:ext cx="37421" cy="32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コネクタ: カギ線 77"/>
          <p:cNvCxnSpPr>
            <a:cxnSpLocks/>
            <a:stCxn id="15" idx="3"/>
            <a:endCxn id="103" idx="0"/>
          </p:cNvCxnSpPr>
          <p:nvPr/>
        </p:nvCxnSpPr>
        <p:spPr bwMode="auto">
          <a:xfrm>
            <a:off x="2339753" y="3063793"/>
            <a:ext cx="4320479" cy="228132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4" name="フローチャート: 書類 83"/>
          <p:cNvSpPr/>
          <p:nvPr/>
        </p:nvSpPr>
        <p:spPr bwMode="auto">
          <a:xfrm>
            <a:off x="2726331" y="898377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5" name="直線矢印コネクタ 84"/>
          <p:cNvCxnSpPr>
            <a:cxnSpLocks/>
            <a:stCxn id="18" idx="0"/>
            <a:endCxn id="84" idx="2"/>
          </p:cNvCxnSpPr>
          <p:nvPr/>
        </p:nvCxnSpPr>
        <p:spPr bwMode="auto">
          <a:xfrm flipV="1">
            <a:off x="1979712" y="1327876"/>
            <a:ext cx="1100590" cy="39704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4" name="フローチャート: 書類 93"/>
          <p:cNvSpPr/>
          <p:nvPr/>
        </p:nvSpPr>
        <p:spPr bwMode="auto">
          <a:xfrm>
            <a:off x="3623301" y="891819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8" name="直線矢印コネクタ 97"/>
          <p:cNvCxnSpPr>
            <a:cxnSpLocks/>
            <a:stCxn id="62" idx="0"/>
            <a:endCxn id="94" idx="2"/>
          </p:cNvCxnSpPr>
          <p:nvPr/>
        </p:nvCxnSpPr>
        <p:spPr bwMode="auto">
          <a:xfrm flipV="1">
            <a:off x="2753421" y="1321318"/>
            <a:ext cx="1223851" cy="39637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5" name="正方形/長方形 74"/>
          <p:cNvSpPr/>
          <p:nvPr/>
        </p:nvSpPr>
        <p:spPr bwMode="auto">
          <a:xfrm>
            <a:off x="3168286" y="5287237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2" name="直線矢印コネクタ 81"/>
          <p:cNvCxnSpPr>
            <a:cxnSpLocks/>
            <a:stCxn id="97" idx="0"/>
            <a:endCxn id="75" idx="2"/>
          </p:cNvCxnSpPr>
          <p:nvPr/>
        </p:nvCxnSpPr>
        <p:spPr bwMode="auto">
          <a:xfrm flipV="1">
            <a:off x="3528326" y="5719285"/>
            <a:ext cx="0" cy="338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フローチャート: 書類 87"/>
          <p:cNvSpPr/>
          <p:nvPr/>
        </p:nvSpPr>
        <p:spPr bwMode="auto">
          <a:xfrm>
            <a:off x="4517185" y="886586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/>
          <p:cNvCxnSpPr>
            <a:cxnSpLocks/>
            <a:stCxn id="75" idx="0"/>
            <a:endCxn id="88" idx="2"/>
          </p:cNvCxnSpPr>
          <p:nvPr/>
        </p:nvCxnSpPr>
        <p:spPr bwMode="auto">
          <a:xfrm flipV="1">
            <a:off x="3528326" y="1316085"/>
            <a:ext cx="1398014" cy="39711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9" name="テキスト ボックス 78"/>
          <p:cNvSpPr txBox="1"/>
          <p:nvPr/>
        </p:nvSpPr>
        <p:spPr>
          <a:xfrm>
            <a:off x="3970720" y="410431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例外的に福利費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3" name="直線矢印コネクタ 82"/>
          <p:cNvCxnSpPr>
            <a:cxnSpLocks/>
            <a:stCxn id="18" idx="3"/>
            <a:endCxn id="21" idx="1"/>
          </p:cNvCxnSpPr>
          <p:nvPr/>
        </p:nvCxnSpPr>
        <p:spPr bwMode="auto">
          <a:xfrm flipV="1">
            <a:off x="2339752" y="4656675"/>
            <a:ext cx="2061709" cy="857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正方形/長方形 70"/>
          <p:cNvSpPr/>
          <p:nvPr/>
        </p:nvSpPr>
        <p:spPr bwMode="auto">
          <a:xfrm>
            <a:off x="206346" y="460748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3" name="直線矢印コネクタ 92"/>
          <p:cNvCxnSpPr>
            <a:cxnSpLocks/>
            <a:stCxn id="71" idx="3"/>
            <a:endCxn id="21" idx="1"/>
          </p:cNvCxnSpPr>
          <p:nvPr/>
        </p:nvCxnSpPr>
        <p:spPr bwMode="auto">
          <a:xfrm flipV="1">
            <a:off x="926426" y="4656675"/>
            <a:ext cx="3475035" cy="16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コネクタ: カギ線 94"/>
          <p:cNvCxnSpPr>
            <a:cxnSpLocks/>
            <a:stCxn id="71" idx="2"/>
            <a:endCxn id="14" idx="1"/>
          </p:cNvCxnSpPr>
          <p:nvPr/>
        </p:nvCxnSpPr>
        <p:spPr bwMode="auto">
          <a:xfrm rot="16200000" flipH="1">
            <a:off x="394218" y="5211697"/>
            <a:ext cx="461519" cy="1171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フローチャート: 複数書類 25"/>
          <p:cNvSpPr/>
          <p:nvPr/>
        </p:nvSpPr>
        <p:spPr bwMode="auto">
          <a:xfrm>
            <a:off x="4421158" y="5976909"/>
            <a:ext cx="621549" cy="603920"/>
          </a:xfrm>
          <a:prstGeom prst="flowChartMulti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直線矢印コネクタ 99"/>
          <p:cNvCxnSpPr>
            <a:cxnSpLocks/>
            <a:stCxn id="26" idx="0"/>
            <a:endCxn id="21" idx="2"/>
          </p:cNvCxnSpPr>
          <p:nvPr/>
        </p:nvCxnSpPr>
        <p:spPr bwMode="auto">
          <a:xfrm flipH="1" flipV="1">
            <a:off x="4761501" y="4872699"/>
            <a:ext cx="13192" cy="1104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円弧 100"/>
          <p:cNvSpPr/>
          <p:nvPr/>
        </p:nvSpPr>
        <p:spPr bwMode="auto">
          <a:xfrm>
            <a:off x="6529680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04" name="直線コネクタ 103"/>
          <p:cNvCxnSpPr>
            <a:cxnSpLocks/>
            <a:stCxn id="101" idx="2"/>
            <a:endCxn id="42" idx="0"/>
          </p:cNvCxnSpPr>
          <p:nvPr/>
        </p:nvCxnSpPr>
        <p:spPr bwMode="auto">
          <a:xfrm flipV="1">
            <a:off x="6804248" y="4998088"/>
            <a:ext cx="651301" cy="2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フローチャート: 書類 91"/>
          <p:cNvSpPr/>
          <p:nvPr/>
        </p:nvSpPr>
        <p:spPr bwMode="auto">
          <a:xfrm>
            <a:off x="1639809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6" name="直線矢印コネクタ 95"/>
          <p:cNvCxnSpPr>
            <a:cxnSpLocks/>
            <a:stCxn id="15" idx="0"/>
            <a:endCxn id="92" idx="2"/>
          </p:cNvCxnSpPr>
          <p:nvPr/>
        </p:nvCxnSpPr>
        <p:spPr bwMode="auto">
          <a:xfrm flipV="1">
            <a:off x="1979713" y="1333397"/>
            <a:ext cx="28030" cy="15143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4" name="フローチャート: 書類 113"/>
          <p:cNvSpPr/>
          <p:nvPr/>
        </p:nvSpPr>
        <p:spPr bwMode="auto">
          <a:xfrm>
            <a:off x="7176223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フローチャート: 書類 114"/>
          <p:cNvSpPr/>
          <p:nvPr/>
        </p:nvSpPr>
        <p:spPr bwMode="auto">
          <a:xfrm>
            <a:off x="8028384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6" name="直線矢印コネクタ 115"/>
          <p:cNvCxnSpPr>
            <a:cxnSpLocks/>
            <a:stCxn id="16" idx="0"/>
            <a:endCxn id="115" idx="2"/>
          </p:cNvCxnSpPr>
          <p:nvPr/>
        </p:nvCxnSpPr>
        <p:spPr bwMode="auto">
          <a:xfrm flipH="1" flipV="1">
            <a:off x="8396318" y="1313404"/>
            <a:ext cx="725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7" name="直線矢印コネクタ 116"/>
          <p:cNvCxnSpPr>
            <a:cxnSpLocks/>
            <a:stCxn id="17" idx="0"/>
            <a:endCxn id="114" idx="2"/>
          </p:cNvCxnSpPr>
          <p:nvPr/>
        </p:nvCxnSpPr>
        <p:spPr bwMode="auto">
          <a:xfrm flipH="1" flipV="1">
            <a:off x="7544157" y="1313404"/>
            <a:ext cx="486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80" name="コネクタ: 曲線 79"/>
          <p:cNvCxnSpPr>
            <a:cxnSpLocks/>
          </p:cNvCxnSpPr>
          <p:nvPr/>
        </p:nvCxnSpPr>
        <p:spPr bwMode="auto">
          <a:xfrm rot="5400000" flipH="1" flipV="1">
            <a:off x="5153461" y="1982860"/>
            <a:ext cx="141671" cy="6489168"/>
          </a:xfrm>
          <a:prstGeom prst="curvedConnector3">
            <a:avLst>
              <a:gd name="adj1" fmla="val 9608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7" name="テキスト ボックス 86"/>
          <p:cNvSpPr txBox="1"/>
          <p:nvPr/>
        </p:nvSpPr>
        <p:spPr>
          <a:xfrm>
            <a:off x="7655090" y="450505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シフト計画で予算を上書き</a:t>
            </a:r>
          </a:p>
        </p:txBody>
      </p:sp>
    </p:spTree>
    <p:extLst>
      <p:ext uri="{BB962C8B-B14F-4D97-AF65-F5344CB8AC3E}">
        <p14:creationId xmlns:p14="http://schemas.microsoft.com/office/powerpoint/2010/main" val="2138624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16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3276972" y="2924944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②－１</a:t>
            </a:r>
            <a:endParaRPr kumimoji="1"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勤怠関連</a:t>
            </a:r>
            <a:endParaRPr kumimoji="1"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2766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17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アウトプットイメージ１　～労務時間・労務費～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916832"/>
            <a:ext cx="7164288" cy="2837100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23" name="テキスト ボックス 22"/>
          <p:cNvSpPr txBox="1"/>
          <p:nvPr/>
        </p:nvSpPr>
        <p:spPr>
          <a:xfrm>
            <a:off x="842734" y="940229"/>
            <a:ext cx="2179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店舗別に、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・労務費　の予算＋実績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・労働時間　の予算＋実績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のデータを用意する必要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がある。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691680" y="5230461"/>
            <a:ext cx="5184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給与（社員・アルバイト）の予算データは</a:t>
            </a: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r>
              <a:rPr lang="ja-JP" altLang="en-US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にて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作ることになっているが、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データより生成できるため、</a:t>
            </a: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予算データは使用しない。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四角形: 角を丸くする 25"/>
          <p:cNvSpPr/>
          <p:nvPr/>
        </p:nvSpPr>
        <p:spPr bwMode="auto">
          <a:xfrm>
            <a:off x="4499992" y="2723314"/>
            <a:ext cx="1152128" cy="34564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7" name="四角形: 角を丸くする 26"/>
          <p:cNvSpPr/>
          <p:nvPr/>
        </p:nvSpPr>
        <p:spPr bwMode="auto">
          <a:xfrm>
            <a:off x="3419872" y="3334348"/>
            <a:ext cx="1080120" cy="1246780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8" name="四角形: 角を丸くする 27"/>
          <p:cNvSpPr/>
          <p:nvPr/>
        </p:nvSpPr>
        <p:spPr bwMode="auto">
          <a:xfrm>
            <a:off x="4860032" y="3334348"/>
            <a:ext cx="1080120" cy="1246780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9" name="四角形: 角を丸くする 28"/>
          <p:cNvSpPr/>
          <p:nvPr/>
        </p:nvSpPr>
        <p:spPr bwMode="auto">
          <a:xfrm>
            <a:off x="2861810" y="2454597"/>
            <a:ext cx="2412268" cy="230418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418960" y="957978"/>
            <a:ext cx="39613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イメージでは「人件費」と書かれてますが、賞与や法定福利費を含まない給与部分が、これに該当すると理解しています。）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3167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18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アウトプットイメージ２　～残業時間～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42734" y="940229"/>
            <a:ext cx="2433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従業員別（所属店舗付き）に、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・残業時間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・残業上限時間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のデータを用意する必要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がある。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44824"/>
            <a:ext cx="7212316" cy="4082171"/>
          </a:xfrm>
          <a:prstGeom prst="rect">
            <a:avLst/>
          </a:prstGeom>
        </p:spPr>
      </p:pic>
      <p:sp>
        <p:nvSpPr>
          <p:cNvPr id="14" name="四角形: 角を丸くする 13"/>
          <p:cNvSpPr/>
          <p:nvPr/>
        </p:nvSpPr>
        <p:spPr bwMode="auto">
          <a:xfrm>
            <a:off x="2339752" y="2348880"/>
            <a:ext cx="2412268" cy="230418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5" name="四角形: 角を丸くする 14"/>
          <p:cNvSpPr/>
          <p:nvPr/>
        </p:nvSpPr>
        <p:spPr bwMode="auto">
          <a:xfrm>
            <a:off x="2483768" y="2755240"/>
            <a:ext cx="1296144" cy="230418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四角形: 角を丸くする 15"/>
          <p:cNvSpPr/>
          <p:nvPr/>
        </p:nvSpPr>
        <p:spPr bwMode="auto">
          <a:xfrm>
            <a:off x="3929686" y="2776007"/>
            <a:ext cx="1506410" cy="230418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7" name="四角形: 角を丸くする 16"/>
          <p:cNvSpPr/>
          <p:nvPr/>
        </p:nvSpPr>
        <p:spPr bwMode="auto">
          <a:xfrm>
            <a:off x="4283968" y="3921156"/>
            <a:ext cx="1872208" cy="875995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4592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19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アウトプットイメージ３　～作業別実働実績～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842734" y="940229"/>
            <a:ext cx="21790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また、日別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作業分類別に、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・労務費　の実績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・労働時間　の実績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のデータを用意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する必要がある。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1619672" y="5428859"/>
            <a:ext cx="5489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なお、作業分類（大中小）マスタは、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側で持つものとし、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から渡される作業分類コードをそのまま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側へ渡す設計とする。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843606"/>
            <a:ext cx="6624736" cy="3207109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3" name="四角形: 角を丸くする 12"/>
          <p:cNvSpPr/>
          <p:nvPr/>
        </p:nvSpPr>
        <p:spPr bwMode="auto">
          <a:xfrm>
            <a:off x="3455876" y="2564904"/>
            <a:ext cx="2412268" cy="230418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4" name="四角形: 角を丸くする 13"/>
          <p:cNvSpPr/>
          <p:nvPr/>
        </p:nvSpPr>
        <p:spPr bwMode="auto">
          <a:xfrm>
            <a:off x="5220072" y="2826697"/>
            <a:ext cx="1152128" cy="34564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5" name="四角形: 角を丸くする 14"/>
          <p:cNvSpPr/>
          <p:nvPr/>
        </p:nvSpPr>
        <p:spPr bwMode="auto">
          <a:xfrm>
            <a:off x="1356174" y="3447160"/>
            <a:ext cx="767554" cy="506552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6" name="四角形: 角を丸くする 15"/>
          <p:cNvSpPr/>
          <p:nvPr/>
        </p:nvSpPr>
        <p:spPr bwMode="auto">
          <a:xfrm>
            <a:off x="4124687" y="3263344"/>
            <a:ext cx="767554" cy="506552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7" name="四角形: 角を丸くする 16"/>
          <p:cNvSpPr/>
          <p:nvPr/>
        </p:nvSpPr>
        <p:spPr bwMode="auto">
          <a:xfrm>
            <a:off x="6228184" y="3263344"/>
            <a:ext cx="767554" cy="506552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418960" y="957978"/>
            <a:ext cx="38173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予算列は不要ｂｙ谷口社長）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" name="直線コネクタ 2"/>
          <p:cNvCxnSpPr>
            <a:cxnSpLocks/>
          </p:cNvCxnSpPr>
          <p:nvPr/>
        </p:nvCxnSpPr>
        <p:spPr bwMode="auto">
          <a:xfrm>
            <a:off x="2771800" y="3263344"/>
            <a:ext cx="647160" cy="102975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直線コネクタ 18"/>
          <p:cNvCxnSpPr>
            <a:cxnSpLocks/>
          </p:cNvCxnSpPr>
          <p:nvPr/>
        </p:nvCxnSpPr>
        <p:spPr bwMode="auto">
          <a:xfrm flipH="1">
            <a:off x="2771800" y="3263344"/>
            <a:ext cx="684076" cy="102975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線コネクタ 19"/>
          <p:cNvCxnSpPr>
            <a:cxnSpLocks/>
          </p:cNvCxnSpPr>
          <p:nvPr/>
        </p:nvCxnSpPr>
        <p:spPr bwMode="auto">
          <a:xfrm>
            <a:off x="4867973" y="3270530"/>
            <a:ext cx="647160" cy="102975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線コネクタ 20"/>
          <p:cNvCxnSpPr>
            <a:cxnSpLocks/>
          </p:cNvCxnSpPr>
          <p:nvPr/>
        </p:nvCxnSpPr>
        <p:spPr bwMode="auto">
          <a:xfrm flipH="1">
            <a:off x="4867973" y="3270530"/>
            <a:ext cx="684076" cy="102975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25555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正方形/長方形 79"/>
          <p:cNvSpPr/>
          <p:nvPr/>
        </p:nvSpPr>
        <p:spPr bwMode="auto">
          <a:xfrm>
            <a:off x="2496294" y="1246653"/>
            <a:ext cx="3109783" cy="893451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11" name="正方形/長方形 110"/>
          <p:cNvSpPr/>
          <p:nvPr/>
        </p:nvSpPr>
        <p:spPr bwMode="auto">
          <a:xfrm>
            <a:off x="1525341" y="4985390"/>
            <a:ext cx="2502830" cy="1682110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7" name="正方形/長方形 76"/>
          <p:cNvSpPr/>
          <p:nvPr/>
        </p:nvSpPr>
        <p:spPr bwMode="auto">
          <a:xfrm>
            <a:off x="1525340" y="2780928"/>
            <a:ext cx="5550463" cy="3886572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20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データソースと加工ステップ　 ～②費用関連　→　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１：勤怠関連～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3568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619673" y="284776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8108840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7232779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619672" y="529827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401461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5265557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" name="コネクタ: カギ線 5"/>
          <p:cNvCxnSpPr>
            <a:cxnSpLocks/>
            <a:stCxn id="15" idx="2"/>
            <a:endCxn id="21" idx="0"/>
          </p:cNvCxnSpPr>
          <p:nvPr/>
        </p:nvCxnSpPr>
        <p:spPr bwMode="auto">
          <a:xfrm rot="16200000" flipH="1">
            <a:off x="2790190" y="2469340"/>
            <a:ext cx="1160834" cy="278178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コネクタ: カギ線 27"/>
          <p:cNvCxnSpPr>
            <a:cxnSpLocks/>
            <a:stCxn id="15" idx="2"/>
            <a:endCxn id="22" idx="0"/>
          </p:cNvCxnSpPr>
          <p:nvPr/>
        </p:nvCxnSpPr>
        <p:spPr bwMode="auto">
          <a:xfrm rot="16200000" flipH="1">
            <a:off x="3222238" y="2037292"/>
            <a:ext cx="1160834" cy="3645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コネクタ: カギ線 43"/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970482" y="4289048"/>
            <a:ext cx="201846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正方形/長方形 135"/>
          <p:cNvSpPr/>
          <p:nvPr/>
        </p:nvSpPr>
        <p:spPr bwMode="auto">
          <a:xfrm>
            <a:off x="5899843" y="385859"/>
            <a:ext cx="296480" cy="1881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202803" y="367653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</a:p>
        </p:txBody>
      </p:sp>
      <p:sp>
        <p:nvSpPr>
          <p:cNvPr id="2" name="フローチャート: 書類 1"/>
          <p:cNvSpPr/>
          <p:nvPr/>
        </p:nvSpPr>
        <p:spPr bwMode="auto">
          <a:xfrm>
            <a:off x="684476" y="609329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フローチャート: 書類 98"/>
          <p:cNvSpPr/>
          <p:nvPr/>
        </p:nvSpPr>
        <p:spPr bwMode="auto">
          <a:xfrm>
            <a:off x="6262771" y="6106340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正方形/長方形 102"/>
          <p:cNvSpPr/>
          <p:nvPr/>
        </p:nvSpPr>
        <p:spPr bwMode="auto">
          <a:xfrm>
            <a:off x="6300192" y="5345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106" name="フローチャート: 書類 105"/>
          <p:cNvSpPr/>
          <p:nvPr/>
        </p:nvSpPr>
        <p:spPr bwMode="auto">
          <a:xfrm>
            <a:off x="8028384" y="609717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フローチャート: 書類 106"/>
          <p:cNvSpPr/>
          <p:nvPr/>
        </p:nvSpPr>
        <p:spPr bwMode="auto">
          <a:xfrm>
            <a:off x="7258436" y="6101102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" name="直線矢印コネクタ 9"/>
          <p:cNvCxnSpPr>
            <a:cxnSpLocks/>
            <a:stCxn id="2" idx="0"/>
            <a:endCxn id="14" idx="2"/>
          </p:cNvCxnSpPr>
          <p:nvPr/>
        </p:nvCxnSpPr>
        <p:spPr bwMode="auto">
          <a:xfrm flipH="1" flipV="1">
            <a:off x="1043608" y="5717072"/>
            <a:ext cx="908" cy="37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直線矢印コネクタ 108"/>
          <p:cNvCxnSpPr>
            <a:cxnSpLocks/>
            <a:stCxn id="107" idx="0"/>
            <a:endCxn id="17" idx="2"/>
          </p:cNvCxnSpPr>
          <p:nvPr/>
        </p:nvCxnSpPr>
        <p:spPr bwMode="auto">
          <a:xfrm flipH="1" flipV="1">
            <a:off x="7592819" y="5588656"/>
            <a:ext cx="25657" cy="5124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線矢印コネクタ 109"/>
          <p:cNvCxnSpPr>
            <a:cxnSpLocks/>
            <a:stCxn id="106" idx="0"/>
            <a:endCxn id="16" idx="2"/>
          </p:cNvCxnSpPr>
          <p:nvPr/>
        </p:nvCxnSpPr>
        <p:spPr bwMode="auto">
          <a:xfrm flipV="1">
            <a:off x="8388424" y="5588656"/>
            <a:ext cx="80456" cy="5085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円弧 41"/>
          <p:cNvSpPr/>
          <p:nvPr/>
        </p:nvSpPr>
        <p:spPr bwMode="auto">
          <a:xfrm>
            <a:off x="7455535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5" name="直線コネクタ 44"/>
          <p:cNvCxnSpPr>
            <a:cxnSpLocks/>
            <a:stCxn id="42" idx="2"/>
          </p:cNvCxnSpPr>
          <p:nvPr/>
        </p:nvCxnSpPr>
        <p:spPr bwMode="auto">
          <a:xfrm flipV="1">
            <a:off x="7730103" y="4998839"/>
            <a:ext cx="495381" cy="1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/>
          <p:cNvCxnSpPr>
            <a:cxnSpLocks/>
          </p:cNvCxnSpPr>
          <p:nvPr/>
        </p:nvCxnSpPr>
        <p:spPr bwMode="auto">
          <a:xfrm>
            <a:off x="8224216" y="4992891"/>
            <a:ext cx="635" cy="1582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線コネクタ 118"/>
          <p:cNvCxnSpPr>
            <a:cxnSpLocks/>
            <a:endCxn id="101" idx="0"/>
          </p:cNvCxnSpPr>
          <p:nvPr/>
        </p:nvCxnSpPr>
        <p:spPr bwMode="auto">
          <a:xfrm>
            <a:off x="5727160" y="4992891"/>
            <a:ext cx="802534" cy="5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線コネクタ 121"/>
          <p:cNvCxnSpPr>
            <a:cxnSpLocks/>
          </p:cNvCxnSpPr>
          <p:nvPr/>
        </p:nvCxnSpPr>
        <p:spPr bwMode="auto">
          <a:xfrm>
            <a:off x="5734976" y="4869160"/>
            <a:ext cx="0" cy="116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フローチャート: 書類 124"/>
          <p:cNvSpPr/>
          <p:nvPr/>
        </p:nvSpPr>
        <p:spPr bwMode="auto">
          <a:xfrm>
            <a:off x="6982851" y="389342"/>
            <a:ext cx="289983" cy="22362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7344918" y="384317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フローチャート: 書類 127"/>
          <p:cNvSpPr/>
          <p:nvPr/>
        </p:nvSpPr>
        <p:spPr bwMode="auto">
          <a:xfrm>
            <a:off x="787648" y="142094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9" name="直線矢印コネクタ 128"/>
          <p:cNvCxnSpPr>
            <a:cxnSpLocks/>
            <a:stCxn id="14" idx="0"/>
            <a:endCxn id="128" idx="2"/>
          </p:cNvCxnSpPr>
          <p:nvPr/>
        </p:nvCxnSpPr>
        <p:spPr bwMode="auto">
          <a:xfrm flipV="1">
            <a:off x="1043608" y="1850444"/>
            <a:ext cx="111974" cy="34345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1" name="テキスト ボックス 130"/>
          <p:cNvSpPr txBox="1"/>
          <p:nvPr/>
        </p:nvSpPr>
        <p:spPr>
          <a:xfrm>
            <a:off x="191465" y="1362834"/>
            <a:ext cx="658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これを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へ送る→</a:t>
            </a:r>
          </a:p>
        </p:txBody>
      </p:sp>
      <p:sp>
        <p:nvSpPr>
          <p:cNvPr id="62" name="正方形/長方形 61"/>
          <p:cNvSpPr/>
          <p:nvPr/>
        </p:nvSpPr>
        <p:spPr bwMode="auto">
          <a:xfrm>
            <a:off x="2393381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cxnSp>
        <p:nvCxnSpPr>
          <p:cNvPr id="63" name="直線矢印コネクタ 62"/>
          <p:cNvCxnSpPr>
            <a:cxnSpLocks/>
            <a:endCxn id="62" idx="2"/>
          </p:cNvCxnSpPr>
          <p:nvPr/>
        </p:nvCxnSpPr>
        <p:spPr bwMode="auto">
          <a:xfrm flipV="1">
            <a:off x="2025102" y="5717072"/>
            <a:ext cx="728319" cy="3642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直線矢印コネクタ 65"/>
          <p:cNvCxnSpPr>
            <a:cxnSpLocks/>
            <a:endCxn id="18" idx="2"/>
          </p:cNvCxnSpPr>
          <p:nvPr/>
        </p:nvCxnSpPr>
        <p:spPr bwMode="auto">
          <a:xfrm flipH="1" flipV="1">
            <a:off x="1979712" y="5730327"/>
            <a:ext cx="45390" cy="35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テキスト ボックス 69"/>
          <p:cNvSpPr txBox="1"/>
          <p:nvPr/>
        </p:nvSpPr>
        <p:spPr>
          <a:xfrm>
            <a:off x="5767109" y="5805533"/>
            <a:ext cx="80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売上分は生成しない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1503460" y="4125517"/>
            <a:ext cx="84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人件費を計算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199994" y="4118373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例外的に賞与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/>
          <p:cNvCxnSpPr>
            <a:cxnSpLocks/>
            <a:stCxn id="99" idx="0"/>
            <a:endCxn id="103" idx="2"/>
          </p:cNvCxnSpPr>
          <p:nvPr/>
        </p:nvCxnSpPr>
        <p:spPr bwMode="auto">
          <a:xfrm flipV="1">
            <a:off x="6622811" y="5777166"/>
            <a:ext cx="37421" cy="32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コネクタ: カギ線 77"/>
          <p:cNvCxnSpPr>
            <a:cxnSpLocks/>
            <a:stCxn id="15" idx="3"/>
            <a:endCxn id="103" idx="0"/>
          </p:cNvCxnSpPr>
          <p:nvPr/>
        </p:nvCxnSpPr>
        <p:spPr bwMode="auto">
          <a:xfrm>
            <a:off x="2339753" y="3063793"/>
            <a:ext cx="4320479" cy="228132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4" name="フローチャート: 書類 83"/>
          <p:cNvSpPr/>
          <p:nvPr/>
        </p:nvSpPr>
        <p:spPr bwMode="auto">
          <a:xfrm>
            <a:off x="2726331" y="1415424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5" name="直線矢印コネクタ 84"/>
          <p:cNvCxnSpPr>
            <a:cxnSpLocks/>
            <a:stCxn id="18" idx="0"/>
            <a:endCxn id="84" idx="2"/>
          </p:cNvCxnSpPr>
          <p:nvPr/>
        </p:nvCxnSpPr>
        <p:spPr bwMode="auto">
          <a:xfrm flipV="1">
            <a:off x="1979712" y="1844923"/>
            <a:ext cx="1100590" cy="345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4" name="フローチャート: 書類 93"/>
          <p:cNvSpPr/>
          <p:nvPr/>
        </p:nvSpPr>
        <p:spPr bwMode="auto">
          <a:xfrm>
            <a:off x="3623301" y="1408866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8" name="直線矢印コネクタ 97"/>
          <p:cNvCxnSpPr>
            <a:cxnSpLocks/>
            <a:stCxn id="62" idx="0"/>
            <a:endCxn id="94" idx="2"/>
          </p:cNvCxnSpPr>
          <p:nvPr/>
        </p:nvCxnSpPr>
        <p:spPr bwMode="auto">
          <a:xfrm flipV="1">
            <a:off x="2753421" y="1838365"/>
            <a:ext cx="1223851" cy="3446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5" name="正方形/長方形 74"/>
          <p:cNvSpPr/>
          <p:nvPr/>
        </p:nvSpPr>
        <p:spPr bwMode="auto">
          <a:xfrm>
            <a:off x="3168286" y="5287237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2" name="直線矢印コネクタ 81"/>
          <p:cNvCxnSpPr>
            <a:cxnSpLocks/>
            <a:endCxn id="75" idx="2"/>
          </p:cNvCxnSpPr>
          <p:nvPr/>
        </p:nvCxnSpPr>
        <p:spPr bwMode="auto">
          <a:xfrm flipV="1">
            <a:off x="3528326" y="5719285"/>
            <a:ext cx="0" cy="338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フローチャート: 書類 87"/>
          <p:cNvSpPr/>
          <p:nvPr/>
        </p:nvSpPr>
        <p:spPr bwMode="auto">
          <a:xfrm>
            <a:off x="4517185" y="1403633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/>
          <p:cNvCxnSpPr>
            <a:cxnSpLocks/>
            <a:stCxn id="75" idx="0"/>
            <a:endCxn id="88" idx="2"/>
          </p:cNvCxnSpPr>
          <p:nvPr/>
        </p:nvCxnSpPr>
        <p:spPr bwMode="auto">
          <a:xfrm flipV="1">
            <a:off x="3528326" y="1833132"/>
            <a:ext cx="1398014" cy="34541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9" name="テキスト ボックス 78"/>
          <p:cNvSpPr txBox="1"/>
          <p:nvPr/>
        </p:nvSpPr>
        <p:spPr>
          <a:xfrm>
            <a:off x="3970720" y="410431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例外的に福利費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3" name="直線矢印コネクタ 82"/>
          <p:cNvCxnSpPr>
            <a:cxnSpLocks/>
            <a:stCxn id="18" idx="3"/>
            <a:endCxn id="21" idx="1"/>
          </p:cNvCxnSpPr>
          <p:nvPr/>
        </p:nvCxnSpPr>
        <p:spPr bwMode="auto">
          <a:xfrm flipV="1">
            <a:off x="2339752" y="4656675"/>
            <a:ext cx="2061709" cy="857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正方形/長方形 70"/>
          <p:cNvSpPr/>
          <p:nvPr/>
        </p:nvSpPr>
        <p:spPr bwMode="auto">
          <a:xfrm>
            <a:off x="206346" y="460748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3" name="直線矢印コネクタ 92"/>
          <p:cNvCxnSpPr>
            <a:cxnSpLocks/>
            <a:stCxn id="71" idx="3"/>
            <a:endCxn id="21" idx="1"/>
          </p:cNvCxnSpPr>
          <p:nvPr/>
        </p:nvCxnSpPr>
        <p:spPr bwMode="auto">
          <a:xfrm flipV="1">
            <a:off x="926426" y="4656675"/>
            <a:ext cx="3475035" cy="16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コネクタ: カギ線 94"/>
          <p:cNvCxnSpPr>
            <a:cxnSpLocks/>
            <a:stCxn id="71" idx="2"/>
            <a:endCxn id="14" idx="1"/>
          </p:cNvCxnSpPr>
          <p:nvPr/>
        </p:nvCxnSpPr>
        <p:spPr bwMode="auto">
          <a:xfrm rot="16200000" flipH="1">
            <a:off x="394218" y="5211697"/>
            <a:ext cx="461519" cy="1171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フローチャート: 複数書類 25"/>
          <p:cNvSpPr/>
          <p:nvPr/>
        </p:nvSpPr>
        <p:spPr bwMode="auto">
          <a:xfrm>
            <a:off x="4421158" y="5976909"/>
            <a:ext cx="621549" cy="603920"/>
          </a:xfrm>
          <a:prstGeom prst="flowChartMulti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直線矢印コネクタ 99"/>
          <p:cNvCxnSpPr>
            <a:cxnSpLocks/>
            <a:stCxn id="26" idx="0"/>
            <a:endCxn id="21" idx="2"/>
          </p:cNvCxnSpPr>
          <p:nvPr/>
        </p:nvCxnSpPr>
        <p:spPr bwMode="auto">
          <a:xfrm flipH="1" flipV="1">
            <a:off x="4761501" y="4872699"/>
            <a:ext cx="13192" cy="1104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円弧 100"/>
          <p:cNvSpPr/>
          <p:nvPr/>
        </p:nvSpPr>
        <p:spPr bwMode="auto">
          <a:xfrm>
            <a:off x="6529680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04" name="直線コネクタ 103"/>
          <p:cNvCxnSpPr>
            <a:cxnSpLocks/>
            <a:stCxn id="101" idx="2"/>
            <a:endCxn id="42" idx="0"/>
          </p:cNvCxnSpPr>
          <p:nvPr/>
        </p:nvCxnSpPr>
        <p:spPr bwMode="auto">
          <a:xfrm flipV="1">
            <a:off x="6804248" y="4998088"/>
            <a:ext cx="651301" cy="2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フローチャート: 書類 91"/>
          <p:cNvSpPr/>
          <p:nvPr/>
        </p:nvSpPr>
        <p:spPr bwMode="auto">
          <a:xfrm>
            <a:off x="1639809" y="142094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6" name="直線矢印コネクタ 95"/>
          <p:cNvCxnSpPr>
            <a:cxnSpLocks/>
            <a:stCxn id="15" idx="0"/>
            <a:endCxn id="92" idx="2"/>
          </p:cNvCxnSpPr>
          <p:nvPr/>
        </p:nvCxnSpPr>
        <p:spPr bwMode="auto">
          <a:xfrm flipV="1">
            <a:off x="1979713" y="1850444"/>
            <a:ext cx="28030" cy="9973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4" name="フローチャート: 書類 113"/>
          <p:cNvSpPr/>
          <p:nvPr/>
        </p:nvSpPr>
        <p:spPr bwMode="auto">
          <a:xfrm>
            <a:off x="7176223" y="1400952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フローチャート: 書類 114"/>
          <p:cNvSpPr/>
          <p:nvPr/>
        </p:nvSpPr>
        <p:spPr bwMode="auto">
          <a:xfrm>
            <a:off x="8028384" y="1400952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6" name="直線矢印コネクタ 115"/>
          <p:cNvCxnSpPr>
            <a:cxnSpLocks/>
            <a:stCxn id="16" idx="0"/>
            <a:endCxn id="115" idx="2"/>
          </p:cNvCxnSpPr>
          <p:nvPr/>
        </p:nvCxnSpPr>
        <p:spPr bwMode="auto">
          <a:xfrm flipH="1" flipV="1">
            <a:off x="8396318" y="1830451"/>
            <a:ext cx="72562" cy="33261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7" name="直線矢印コネクタ 116"/>
          <p:cNvCxnSpPr>
            <a:cxnSpLocks/>
            <a:stCxn id="17" idx="0"/>
            <a:endCxn id="114" idx="2"/>
          </p:cNvCxnSpPr>
          <p:nvPr/>
        </p:nvCxnSpPr>
        <p:spPr bwMode="auto">
          <a:xfrm flipH="1" flipV="1">
            <a:off x="7544157" y="1830451"/>
            <a:ext cx="48662" cy="33261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8" name="フローチャート: 書類 117"/>
          <p:cNvSpPr/>
          <p:nvPr/>
        </p:nvSpPr>
        <p:spPr bwMode="auto">
          <a:xfrm>
            <a:off x="3168286" y="6057373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0" name="フローチャート: 書類 119"/>
          <p:cNvSpPr/>
          <p:nvPr/>
        </p:nvSpPr>
        <p:spPr bwMode="auto">
          <a:xfrm>
            <a:off x="1665062" y="608132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勤怠ﾃﾞｰﾀ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8" name="コネクタ: 曲線 57"/>
          <p:cNvCxnSpPr>
            <a:cxnSpLocks/>
            <a:stCxn id="18" idx="0"/>
            <a:endCxn id="16" idx="0"/>
          </p:cNvCxnSpPr>
          <p:nvPr/>
        </p:nvCxnSpPr>
        <p:spPr bwMode="auto">
          <a:xfrm rot="5400000" flipH="1" flipV="1">
            <a:off x="5153461" y="1982860"/>
            <a:ext cx="141671" cy="6489168"/>
          </a:xfrm>
          <a:prstGeom prst="curvedConnector3">
            <a:avLst>
              <a:gd name="adj1" fmla="val 9608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3" name="テキスト ボックス 122"/>
          <p:cNvSpPr txBox="1"/>
          <p:nvPr/>
        </p:nvSpPr>
        <p:spPr>
          <a:xfrm>
            <a:off x="7655090" y="450505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シフト計画で予算を上書き</a:t>
            </a: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36617" y="769028"/>
            <a:ext cx="5457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アウトプットイメージを表示するために生成する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ファイルは以下の３つ。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1937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21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加工ステップ　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　１／２）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上 4"/>
          <p:cNvSpPr/>
          <p:nvPr/>
        </p:nvSpPr>
        <p:spPr bwMode="auto">
          <a:xfrm>
            <a:off x="3228228" y="4867001"/>
            <a:ext cx="2016224" cy="18495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2767166" y="5137137"/>
            <a:ext cx="1743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データ＞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925062" y="1703223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日別労務データ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51" name="正方形/長方形 50"/>
          <p:cNvSpPr/>
          <p:nvPr/>
        </p:nvSpPr>
        <p:spPr bwMode="auto">
          <a:xfrm>
            <a:off x="3296367" y="4208960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ﾃﾞｰﾀ</a:t>
            </a:r>
          </a:p>
        </p:txBody>
      </p:sp>
      <p:sp>
        <p:nvSpPr>
          <p:cNvPr id="67" name="正方形/長方形 66"/>
          <p:cNvSpPr/>
          <p:nvPr/>
        </p:nvSpPr>
        <p:spPr bwMode="auto">
          <a:xfrm>
            <a:off x="5307172" y="4208960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70" name="正方形/長方形 69"/>
          <p:cNvSpPr/>
          <p:nvPr/>
        </p:nvSpPr>
        <p:spPr bwMode="auto">
          <a:xfrm>
            <a:off x="4321523" y="4217992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正方形/長方形 70"/>
          <p:cNvSpPr/>
          <p:nvPr/>
        </p:nvSpPr>
        <p:spPr bwMode="auto">
          <a:xfrm>
            <a:off x="1121581" y="1961305"/>
            <a:ext cx="4312935" cy="1616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テキスト ボックス 34"/>
          <p:cNvSpPr txBox="1"/>
          <p:nvPr/>
        </p:nvSpPr>
        <p:spPr>
          <a:xfrm>
            <a:off x="1115617" y="2064503"/>
            <a:ext cx="23042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kumimoji="1" lang="ja-JP" altLang="en-US" sz="9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</a:t>
            </a:r>
          </a:p>
        </p:txBody>
      </p:sp>
      <p:sp>
        <p:nvSpPr>
          <p:cNvPr id="73" name="テキスト ボックス 36"/>
          <p:cNvSpPr txBox="1"/>
          <p:nvPr/>
        </p:nvSpPr>
        <p:spPr>
          <a:xfrm>
            <a:off x="1115616" y="2295335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岩本浩司　社員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1500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2017/4/3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テキスト ボックス 37"/>
          <p:cNvSpPr txBox="1"/>
          <p:nvPr/>
        </p:nvSpPr>
        <p:spPr>
          <a:xfrm>
            <a:off x="1115615" y="3108802"/>
            <a:ext cx="441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597819" y="788986"/>
            <a:ext cx="1577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今年含めて４年分のデータを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r>
              <a:rPr lang="ja-JP" altLang="en-US" sz="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へ抽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出する。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（例：現在が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日ならば、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日～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日まで）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4809252" y="5985789"/>
            <a:ext cx="770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所属店舗、月給を保有</a:t>
            </a: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59487" y="2347032"/>
            <a:ext cx="713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ヶ月分のデータを計算し、総入れ替え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083436" y="2856669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5652120" y="1700808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＜月別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82" name="フローチャート: 書類 81"/>
          <p:cNvSpPr/>
          <p:nvPr/>
        </p:nvSpPr>
        <p:spPr bwMode="auto">
          <a:xfrm>
            <a:off x="2915816" y="5403305"/>
            <a:ext cx="1584176" cy="94825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フローチャート: 書類 82"/>
          <p:cNvSpPr/>
          <p:nvPr/>
        </p:nvSpPr>
        <p:spPr bwMode="auto">
          <a:xfrm>
            <a:off x="2705915" y="5609632"/>
            <a:ext cx="1561169" cy="102904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4" name="テキスト ボックス 83"/>
          <p:cNvSpPr txBox="1"/>
          <p:nvPr/>
        </p:nvSpPr>
        <p:spPr>
          <a:xfrm>
            <a:off x="2685221" y="5609632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2937249" y="5415458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2694673" y="5887953"/>
            <a:ext cx="15836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人別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勤務店舗別の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・勤務時間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予定、実績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予定、実績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88" name="矢印: 上 87"/>
          <p:cNvSpPr/>
          <p:nvPr/>
        </p:nvSpPr>
        <p:spPr bwMode="auto">
          <a:xfrm>
            <a:off x="3076649" y="1314974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0" name="正方形/長方形 89"/>
          <p:cNvSpPr/>
          <p:nvPr/>
        </p:nvSpPr>
        <p:spPr bwMode="auto">
          <a:xfrm>
            <a:off x="5724128" y="1969045"/>
            <a:ext cx="3240360" cy="1616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1" name="テキスト ボックス 34"/>
          <p:cNvSpPr txBox="1"/>
          <p:nvPr/>
        </p:nvSpPr>
        <p:spPr>
          <a:xfrm>
            <a:off x="5724128" y="2072243"/>
            <a:ext cx="33192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　　</a:t>
            </a:r>
            <a:r>
              <a:rPr kumimoji="1" lang="ja-JP" altLang="en-US" sz="9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所属店舗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残業時間　残業上限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テキスト ボックス 36"/>
          <p:cNvSpPr txBox="1"/>
          <p:nvPr/>
        </p:nvSpPr>
        <p:spPr>
          <a:xfrm>
            <a:off x="5726624" y="2288532"/>
            <a:ext cx="323786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山田太郎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広末朝子　社員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35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－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4" name="テキスト ボックス 93"/>
          <p:cNvSpPr txBox="1"/>
          <p:nvPr/>
        </p:nvSpPr>
        <p:spPr>
          <a:xfrm>
            <a:off x="6031277" y="2797313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41" name="フローチャート: 書類 40"/>
          <p:cNvSpPr/>
          <p:nvPr/>
        </p:nvSpPr>
        <p:spPr bwMode="auto">
          <a:xfrm>
            <a:off x="4860068" y="5403305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フローチャート: 書類 41"/>
          <p:cNvSpPr/>
          <p:nvPr/>
        </p:nvSpPr>
        <p:spPr bwMode="auto">
          <a:xfrm>
            <a:off x="5749451" y="5401556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2" name="四角形: 角を丸くする 1"/>
          <p:cNvSpPr/>
          <p:nvPr/>
        </p:nvSpPr>
        <p:spPr bwMode="auto">
          <a:xfrm>
            <a:off x="179512" y="5285305"/>
            <a:ext cx="265791" cy="1368152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ソースＣＳＶ</a:t>
            </a:r>
          </a:p>
        </p:txBody>
      </p:sp>
      <p:sp>
        <p:nvSpPr>
          <p:cNvPr id="44" name="四角形: 角を丸くする 43"/>
          <p:cNvSpPr/>
          <p:nvPr/>
        </p:nvSpPr>
        <p:spPr bwMode="auto">
          <a:xfrm>
            <a:off x="177517" y="3683804"/>
            <a:ext cx="265791" cy="1368152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ＤＢ：計算ソース</a:t>
            </a:r>
          </a:p>
        </p:txBody>
      </p:sp>
      <p:sp>
        <p:nvSpPr>
          <p:cNvPr id="45" name="四角形: 角を丸くする 44"/>
          <p:cNvSpPr/>
          <p:nvPr/>
        </p:nvSpPr>
        <p:spPr bwMode="auto">
          <a:xfrm>
            <a:off x="175358" y="1700809"/>
            <a:ext cx="265791" cy="1877222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ＤＢ：計算結果</a:t>
            </a:r>
          </a:p>
        </p:txBody>
      </p:sp>
      <p:sp>
        <p:nvSpPr>
          <p:cNvPr id="46" name="四角形: 角を丸くする 45"/>
          <p:cNvSpPr/>
          <p:nvPr/>
        </p:nvSpPr>
        <p:spPr bwMode="auto">
          <a:xfrm>
            <a:off x="175359" y="671511"/>
            <a:ext cx="265791" cy="89871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出力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ＣＳＶ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矢印: 上 52"/>
          <p:cNvSpPr/>
          <p:nvPr/>
        </p:nvSpPr>
        <p:spPr bwMode="auto">
          <a:xfrm>
            <a:off x="3228228" y="3816077"/>
            <a:ext cx="2016224" cy="18495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5" name="矢印: 上 54"/>
          <p:cNvSpPr/>
          <p:nvPr/>
        </p:nvSpPr>
        <p:spPr bwMode="auto">
          <a:xfrm>
            <a:off x="6962893" y="1316160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3014151" y="4678989"/>
            <a:ext cx="26147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一旦ソースをそのまま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に取り込むイメージ</a:t>
            </a: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3831008" y="427288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ここでは主要項目だけ示しています。全項目はファイル定義を参照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6844779" y="3587381"/>
            <a:ext cx="22738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その日までの分が月で集計される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（上限比較をするために日別では持たない）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611521" y="5520565"/>
            <a:ext cx="1388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トランザクションデータは、今月と先月との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ヶ月分が置かれる。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マスタデータは全データが置かれる。</a:t>
            </a: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623047" y="3900640"/>
            <a:ext cx="1218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ヶ月分のデータのみ総入れ替え（他の過去月データはそのまま残す）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マスタデータは全データを総入れ替え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5580076" y="5994387"/>
            <a:ext cx="148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・出勤日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日給計算用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・残業上限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3707904" y="6482917"/>
            <a:ext cx="15427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労務費はアルバイトのみ存在</a:t>
            </a: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312782" y="1969045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3831008" y="1960054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4389909" y="1958057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89" name="テキスト ボックス 88"/>
          <p:cNvSpPr txBox="1"/>
          <p:nvPr/>
        </p:nvSpPr>
        <p:spPr>
          <a:xfrm>
            <a:off x="4815803" y="1956407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50" name="フローチャート: 書類 49"/>
          <p:cNvSpPr/>
          <p:nvPr/>
        </p:nvSpPr>
        <p:spPr bwMode="auto">
          <a:xfrm>
            <a:off x="2982584" y="818750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フローチャート: 書類 51"/>
          <p:cNvSpPr/>
          <p:nvPr/>
        </p:nvSpPr>
        <p:spPr bwMode="auto">
          <a:xfrm>
            <a:off x="6860234" y="818750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1836242" y="1268552"/>
            <a:ext cx="1223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処理レスポンスによって</a:t>
            </a:r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年ごとに送るなどになる可能性もあり。</a:t>
            </a:r>
            <a:endParaRPr kumimoji="1" lang="ja-JP" altLang="en-US" sz="800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7568176" y="1636403"/>
            <a:ext cx="1475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単位はすべて「分」とし、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上で「時間」に直す</a:t>
            </a:r>
          </a:p>
        </p:txBody>
      </p:sp>
    </p:spTree>
    <p:extLst>
      <p:ext uri="{BB962C8B-B14F-4D97-AF65-F5344CB8AC3E}">
        <p14:creationId xmlns:p14="http://schemas.microsoft.com/office/powerpoint/2010/main" val="827770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フローチャート: 書類 24"/>
          <p:cNvSpPr/>
          <p:nvPr/>
        </p:nvSpPr>
        <p:spPr bwMode="auto">
          <a:xfrm>
            <a:off x="3002395" y="5434838"/>
            <a:ext cx="1584176" cy="94825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フローチャート: 書類 65"/>
          <p:cNvSpPr/>
          <p:nvPr/>
        </p:nvSpPr>
        <p:spPr bwMode="auto">
          <a:xfrm>
            <a:off x="2786371" y="5655658"/>
            <a:ext cx="1561169" cy="102904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22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加工ステップ　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　２／２ 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上 4"/>
          <p:cNvSpPr/>
          <p:nvPr/>
        </p:nvSpPr>
        <p:spPr bwMode="auto">
          <a:xfrm>
            <a:off x="3228228" y="4867001"/>
            <a:ext cx="2016224" cy="18495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771800" y="5641165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3023828" y="5446991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611521" y="5520565"/>
            <a:ext cx="1388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トランザクションデータは、今月と先月との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ヶ月分が置かれる。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マスタデータは全データが置かれる。</a:t>
            </a:r>
          </a:p>
        </p:txBody>
      </p:sp>
      <p:sp>
        <p:nvSpPr>
          <p:cNvPr id="47" name="テキスト ボックス 46"/>
          <p:cNvSpPr txBox="1"/>
          <p:nvPr/>
        </p:nvSpPr>
        <p:spPr>
          <a:xfrm>
            <a:off x="2982631" y="5176756"/>
            <a:ext cx="1900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データ＞</a:t>
            </a:r>
          </a:p>
        </p:txBody>
      </p:sp>
      <p:sp>
        <p:nvSpPr>
          <p:cNvPr id="50" name="正方形/長方形 49"/>
          <p:cNvSpPr/>
          <p:nvPr/>
        </p:nvSpPr>
        <p:spPr bwMode="auto">
          <a:xfrm>
            <a:off x="3321200" y="4208960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623047" y="3900640"/>
            <a:ext cx="12184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ヶ月分のデータのみ総入れ替え（他の過去月データはそのまま残す）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マスタデータは全データを総入れ替え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正方形/長方形 69"/>
          <p:cNvSpPr/>
          <p:nvPr/>
        </p:nvSpPr>
        <p:spPr bwMode="auto">
          <a:xfrm>
            <a:off x="4321523" y="4217992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テキスト ボックス 74"/>
          <p:cNvSpPr txBox="1"/>
          <p:nvPr/>
        </p:nvSpPr>
        <p:spPr>
          <a:xfrm>
            <a:off x="597819" y="788986"/>
            <a:ext cx="1577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今年含めて４年分のデータを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r>
              <a:rPr lang="ja-JP" altLang="en-US" sz="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へ抽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出する。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（例：現在が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日ならば、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日～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日まで）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0" name="テキスト ボックス 79"/>
          <p:cNvSpPr txBox="1"/>
          <p:nvPr/>
        </p:nvSpPr>
        <p:spPr>
          <a:xfrm>
            <a:off x="459487" y="2347032"/>
            <a:ext cx="713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ヶ月分のデータを計算し、総入れ替え</a:t>
            </a:r>
          </a:p>
        </p:txBody>
      </p:sp>
      <p:sp>
        <p:nvSpPr>
          <p:cNvPr id="81" name="テキスト ボックス 80"/>
          <p:cNvSpPr txBox="1"/>
          <p:nvPr/>
        </p:nvSpPr>
        <p:spPr>
          <a:xfrm>
            <a:off x="2371079" y="1631621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作業別実働実績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87" name="テキスト ボックス 86"/>
          <p:cNvSpPr txBox="1"/>
          <p:nvPr/>
        </p:nvSpPr>
        <p:spPr>
          <a:xfrm>
            <a:off x="2835519" y="5908966"/>
            <a:ext cx="1440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勤務店舗別作業別の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・実働時間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・労務費</a:t>
            </a:r>
          </a:p>
        </p:txBody>
      </p:sp>
      <p:sp>
        <p:nvSpPr>
          <p:cNvPr id="2" name="四角形: 角を丸くする 1"/>
          <p:cNvSpPr/>
          <p:nvPr/>
        </p:nvSpPr>
        <p:spPr bwMode="auto">
          <a:xfrm>
            <a:off x="179512" y="5285305"/>
            <a:ext cx="265791" cy="1368152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ソースＣＳＶ</a:t>
            </a:r>
          </a:p>
        </p:txBody>
      </p:sp>
      <p:sp>
        <p:nvSpPr>
          <p:cNvPr id="44" name="四角形: 角を丸くする 43"/>
          <p:cNvSpPr/>
          <p:nvPr/>
        </p:nvSpPr>
        <p:spPr bwMode="auto">
          <a:xfrm>
            <a:off x="177517" y="3683804"/>
            <a:ext cx="265791" cy="1368152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ＤＢ：計算ソース</a:t>
            </a:r>
          </a:p>
        </p:txBody>
      </p:sp>
      <p:sp>
        <p:nvSpPr>
          <p:cNvPr id="45" name="四角形: 角を丸くする 44"/>
          <p:cNvSpPr/>
          <p:nvPr/>
        </p:nvSpPr>
        <p:spPr bwMode="auto">
          <a:xfrm>
            <a:off x="175358" y="1700809"/>
            <a:ext cx="265791" cy="1877222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ＤＢ：計算結果</a:t>
            </a:r>
          </a:p>
        </p:txBody>
      </p:sp>
      <p:sp>
        <p:nvSpPr>
          <p:cNvPr id="46" name="四角形: 角を丸くする 45"/>
          <p:cNvSpPr/>
          <p:nvPr/>
        </p:nvSpPr>
        <p:spPr bwMode="auto">
          <a:xfrm>
            <a:off x="175359" y="671511"/>
            <a:ext cx="265791" cy="89871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出力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ＣＳＶ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矢印: 上 52"/>
          <p:cNvSpPr/>
          <p:nvPr/>
        </p:nvSpPr>
        <p:spPr bwMode="auto">
          <a:xfrm>
            <a:off x="3228228" y="3816077"/>
            <a:ext cx="2016224" cy="184955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5" name="矢印: 上 54"/>
          <p:cNvSpPr/>
          <p:nvPr/>
        </p:nvSpPr>
        <p:spPr bwMode="auto">
          <a:xfrm>
            <a:off x="4129005" y="1426829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 bwMode="auto">
          <a:xfrm>
            <a:off x="2473504" y="1894631"/>
            <a:ext cx="4011591" cy="161672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テキスト ボックス 34"/>
          <p:cNvSpPr txBox="1"/>
          <p:nvPr/>
        </p:nvSpPr>
        <p:spPr>
          <a:xfrm>
            <a:off x="2538632" y="1997829"/>
            <a:ext cx="3946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lang="ja-JP" altLang="en-US" sz="9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所属店舗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従業員種別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作業分類　労務費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労働時間</a:t>
            </a:r>
          </a:p>
        </p:txBody>
      </p:sp>
      <p:sp>
        <p:nvSpPr>
          <p:cNvPr id="63" name="テキスト ボックス 36"/>
          <p:cNvSpPr txBox="1"/>
          <p:nvPr/>
        </p:nvSpPr>
        <p:spPr>
          <a:xfrm>
            <a:off x="2476000" y="2214118"/>
            <a:ext cx="3896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修学院　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　顧客対応　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外注対応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岩本浩司 社員 　　店舗分組立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浅井重正 アルバイト 社内物流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浅井重正 アルバイト 入荷品対応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120</a:t>
            </a: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2780653" y="2722899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59" name="テキスト ボックス 58"/>
          <p:cNvSpPr txBox="1"/>
          <p:nvPr/>
        </p:nvSpPr>
        <p:spPr>
          <a:xfrm>
            <a:off x="3831008" y="427288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ここでは主要項目だけ示しています。全項目はファイル定義を参照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809252" y="5985789"/>
            <a:ext cx="770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所属店舗、月給を保有</a:t>
            </a:r>
          </a:p>
        </p:txBody>
      </p:sp>
      <p:sp>
        <p:nvSpPr>
          <p:cNvPr id="65" name="フローチャート: 書類 64"/>
          <p:cNvSpPr/>
          <p:nvPr/>
        </p:nvSpPr>
        <p:spPr bwMode="auto">
          <a:xfrm>
            <a:off x="4860068" y="5403305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テキスト ボックス 88"/>
          <p:cNvSpPr txBox="1"/>
          <p:nvPr/>
        </p:nvSpPr>
        <p:spPr>
          <a:xfrm>
            <a:off x="3707904" y="6482917"/>
            <a:ext cx="15427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労務費はアルバイトのみ存在</a:t>
            </a:r>
          </a:p>
        </p:txBody>
      </p:sp>
      <p:sp>
        <p:nvSpPr>
          <p:cNvPr id="90" name="テキスト ボックス 89"/>
          <p:cNvSpPr txBox="1"/>
          <p:nvPr/>
        </p:nvSpPr>
        <p:spPr>
          <a:xfrm>
            <a:off x="6485095" y="3174935"/>
            <a:ext cx="1305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ここでは実績のみ表示（予定は不要）</a:t>
            </a:r>
          </a:p>
        </p:txBody>
      </p:sp>
      <p:sp>
        <p:nvSpPr>
          <p:cNvPr id="91" name="テキスト ボックス 90"/>
          <p:cNvSpPr txBox="1"/>
          <p:nvPr/>
        </p:nvSpPr>
        <p:spPr>
          <a:xfrm>
            <a:off x="4988019" y="1417346"/>
            <a:ext cx="14970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実際には大中小分類がある</a:t>
            </a:r>
          </a:p>
        </p:txBody>
      </p:sp>
      <p:cxnSp>
        <p:nvCxnSpPr>
          <p:cNvPr id="92" name="直線矢印コネクタ 91"/>
          <p:cNvCxnSpPr>
            <a:cxnSpLocks/>
          </p:cNvCxnSpPr>
          <p:nvPr/>
        </p:nvCxnSpPr>
        <p:spPr bwMode="auto">
          <a:xfrm flipH="1">
            <a:off x="4962460" y="1610740"/>
            <a:ext cx="563984" cy="4389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3" name="正方形/長方形 92"/>
          <p:cNvSpPr/>
          <p:nvPr/>
        </p:nvSpPr>
        <p:spPr bwMode="auto">
          <a:xfrm>
            <a:off x="5307172" y="4208960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94" name="フローチャート: 書類 93"/>
          <p:cNvSpPr/>
          <p:nvPr/>
        </p:nvSpPr>
        <p:spPr bwMode="auto">
          <a:xfrm>
            <a:off x="5749451" y="5401556"/>
            <a:ext cx="720008" cy="53701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96" name="テキスト ボックス 95"/>
          <p:cNvSpPr txBox="1"/>
          <p:nvPr/>
        </p:nvSpPr>
        <p:spPr>
          <a:xfrm>
            <a:off x="5588953" y="5985789"/>
            <a:ext cx="14896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・出勤日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日給計算用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・残業上限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フローチャート: 書類 38"/>
          <p:cNvSpPr/>
          <p:nvPr/>
        </p:nvSpPr>
        <p:spPr bwMode="auto">
          <a:xfrm>
            <a:off x="3955984" y="842125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7174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23</a:t>
            </a:fld>
            <a:endParaRPr lang="en-US" altLang="ja-JP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 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：勤怠関連）：データソース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フローチャート: 書類 40"/>
          <p:cNvSpPr/>
          <p:nvPr/>
        </p:nvSpPr>
        <p:spPr bwMode="auto">
          <a:xfrm>
            <a:off x="325072" y="1536844"/>
            <a:ext cx="3893047" cy="1591533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フローチャート: 書類 53"/>
          <p:cNvSpPr/>
          <p:nvPr/>
        </p:nvSpPr>
        <p:spPr bwMode="auto">
          <a:xfrm>
            <a:off x="4307157" y="1530245"/>
            <a:ext cx="4508190" cy="1591533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372285" y="1720291"/>
            <a:ext cx="43761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姓名　　雇用区分　勤務先　作業分類　　実働時間　労務費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4355273" y="1928419"/>
            <a:ext cx="44815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岩本浩司　正社員　　　修学院　　＊＊＊　　　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180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－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岩本浩司　正社員　　　修学院　　＊＊＊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270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岩本浩司　正社員　　　ネット　　＊＊＊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60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浅井重正　アルバイト　修学院　　＊＊＊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3000</a:t>
            </a:r>
          </a:p>
          <a:p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4292586" y="1515752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305220" y="1701129"/>
            <a:ext cx="3003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288210" y="1909257"/>
            <a:ext cx="3844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修学院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　　　　－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修学院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　　　　－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修学院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6400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ネット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6400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2" name="直線矢印コネクタ 61"/>
          <p:cNvCxnSpPr>
            <a:cxnSpLocks/>
          </p:cNvCxnSpPr>
          <p:nvPr/>
        </p:nvCxnSpPr>
        <p:spPr bwMode="auto">
          <a:xfrm flipV="1">
            <a:off x="5819325" y="2496870"/>
            <a:ext cx="282564" cy="2261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3" name="直線矢印コネクタ 62"/>
          <p:cNvCxnSpPr>
            <a:cxnSpLocks/>
          </p:cNvCxnSpPr>
          <p:nvPr/>
        </p:nvCxnSpPr>
        <p:spPr bwMode="auto">
          <a:xfrm flipH="1" flipV="1">
            <a:off x="5747317" y="2496873"/>
            <a:ext cx="72008" cy="226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テキスト ボックス 63"/>
          <p:cNvSpPr txBox="1"/>
          <p:nvPr/>
        </p:nvSpPr>
        <p:spPr>
          <a:xfrm>
            <a:off x="5027236" y="2733337"/>
            <a:ext cx="1705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マスタが正なのでここでは無視される。（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と従業員マスタで決まる）</a:t>
            </a: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979641" y="2589003"/>
            <a:ext cx="11772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同じ日＋社員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で重複データは存在しない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306142" y="1496590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78" name="テキスト ボックス 77"/>
          <p:cNvSpPr txBox="1"/>
          <p:nvPr/>
        </p:nvSpPr>
        <p:spPr>
          <a:xfrm>
            <a:off x="4218119" y="1129189"/>
            <a:ext cx="20372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データ＞</a:t>
            </a: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212701" y="1129211"/>
            <a:ext cx="1743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データ＞</a:t>
            </a: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440375" y="472565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ここでは主要項目だけ示しています。全項目はファイル定義を参照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79512" y="4307152"/>
            <a:ext cx="14571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従業員マスタ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4572000" y="4304181"/>
            <a:ext cx="12129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勤怠系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マスタ＞</a:t>
            </a:r>
          </a:p>
        </p:txBody>
      </p:sp>
      <p:sp>
        <p:nvSpPr>
          <p:cNvPr id="29" name="フローチャート: 書類 28"/>
          <p:cNvSpPr/>
          <p:nvPr/>
        </p:nvSpPr>
        <p:spPr bwMode="auto">
          <a:xfrm>
            <a:off x="288731" y="4725144"/>
            <a:ext cx="4154051" cy="1591533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216824" y="4869160"/>
            <a:ext cx="42960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　有効期間　　　所属店舗　月給　時給　</a:t>
            </a: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51869" y="5097557"/>
            <a:ext cx="41909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岩本浩司　　　社員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月～　　　　　　修学院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300,000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広末朝子　　　社員　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月～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2016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ネット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280,000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広末朝子　　　社員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2016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月～　　　　　　ネット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285,000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浅井重正　　アルバイト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月～　　　　　修学院　　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900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1276662" y="4079588"/>
            <a:ext cx="18007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「社員」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or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「アルバイト」の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択</a:t>
            </a:r>
          </a:p>
        </p:txBody>
      </p:sp>
      <p:cxnSp>
        <p:nvCxnSpPr>
          <p:cNvPr id="36" name="直線矢印コネクタ 35"/>
          <p:cNvCxnSpPr>
            <a:cxnSpLocks/>
          </p:cNvCxnSpPr>
          <p:nvPr/>
        </p:nvCxnSpPr>
        <p:spPr bwMode="auto">
          <a:xfrm flipH="1">
            <a:off x="1565944" y="4344543"/>
            <a:ext cx="214774" cy="5567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線矢印コネクタ 36"/>
          <p:cNvCxnSpPr>
            <a:cxnSpLocks/>
          </p:cNvCxnSpPr>
          <p:nvPr/>
        </p:nvCxnSpPr>
        <p:spPr bwMode="auto">
          <a:xfrm flipH="1">
            <a:off x="2428735" y="4609669"/>
            <a:ext cx="123398" cy="2951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テキスト ボックス 37"/>
          <p:cNvSpPr txBox="1"/>
          <p:nvPr/>
        </p:nvSpPr>
        <p:spPr>
          <a:xfrm>
            <a:off x="2013404" y="4329626"/>
            <a:ext cx="2213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年月単位での期間指定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月給を出勤日で割るため日単位ではない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期間のダブり無し。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733876" y="4725144"/>
            <a:ext cx="2286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　　店舗　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出勤日数　残業上限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4712444" y="4923640"/>
            <a:ext cx="20918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修学院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 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修学院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600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修学院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</a:t>
            </a: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ネット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18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ネット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16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　ネット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7164567" y="5217076"/>
            <a:ext cx="1800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の入力画面では「実店舗」と「ネット店」だけの入力とし、自動的に店舗マスタから展開して店舗別データを生成することとする。（今後の拡張に備えるため）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1058406" y="5495159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5977051" y="4192971"/>
            <a:ext cx="1235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社員一人あたりが月あたりに出勤する日数</a:t>
            </a:r>
          </a:p>
        </p:txBody>
      </p:sp>
      <p:sp>
        <p:nvSpPr>
          <p:cNvPr id="46" name="フローチャート: 書類 45"/>
          <p:cNvSpPr/>
          <p:nvPr/>
        </p:nvSpPr>
        <p:spPr bwMode="auto">
          <a:xfrm>
            <a:off x="4712442" y="4718847"/>
            <a:ext cx="2379838" cy="1446230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7" name="直線矢印コネクタ 46"/>
          <p:cNvCxnSpPr>
            <a:cxnSpLocks/>
          </p:cNvCxnSpPr>
          <p:nvPr/>
        </p:nvCxnSpPr>
        <p:spPr bwMode="auto">
          <a:xfrm>
            <a:off x="8290613" y="1358216"/>
            <a:ext cx="304309" cy="4037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8" name="テキスト ボックス 47"/>
          <p:cNvSpPr txBox="1"/>
          <p:nvPr/>
        </p:nvSpPr>
        <p:spPr>
          <a:xfrm>
            <a:off x="7587658" y="1028782"/>
            <a:ext cx="1214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労務費が入ってるのはアルバイトのみ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9" name="直線矢印コネクタ 48"/>
          <p:cNvCxnSpPr>
            <a:cxnSpLocks/>
          </p:cNvCxnSpPr>
          <p:nvPr/>
        </p:nvCxnSpPr>
        <p:spPr bwMode="auto">
          <a:xfrm flipV="1">
            <a:off x="7565941" y="2498923"/>
            <a:ext cx="221652" cy="5674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正方形/長方形 5"/>
          <p:cNvSpPr/>
          <p:nvPr/>
        </p:nvSpPr>
        <p:spPr bwMode="auto">
          <a:xfrm>
            <a:off x="7689301" y="1928419"/>
            <a:ext cx="505608" cy="5847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7186247" y="3061287"/>
            <a:ext cx="1214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作業分類ごとに複数データがある。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かつ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日で複数店舗で勤務することもある。</a:t>
            </a:r>
          </a:p>
        </p:txBody>
      </p:sp>
      <p:cxnSp>
        <p:nvCxnSpPr>
          <p:cNvPr id="51" name="直線矢印コネクタ 50"/>
          <p:cNvCxnSpPr>
            <a:cxnSpLocks/>
          </p:cNvCxnSpPr>
          <p:nvPr/>
        </p:nvCxnSpPr>
        <p:spPr bwMode="auto">
          <a:xfrm flipH="1">
            <a:off x="6012663" y="4498903"/>
            <a:ext cx="354099" cy="2575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9" name="テキスト ボックス 68"/>
          <p:cNvSpPr txBox="1"/>
          <p:nvPr/>
        </p:nvSpPr>
        <p:spPr>
          <a:xfrm>
            <a:off x="1980392" y="1548204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2537661" y="1568195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3111947" y="1568250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3636576" y="1568195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cxnSp>
        <p:nvCxnSpPr>
          <p:cNvPr id="73" name="直線矢印コネクタ 72"/>
          <p:cNvCxnSpPr>
            <a:cxnSpLocks/>
            <a:stCxn id="74" idx="2"/>
          </p:cNvCxnSpPr>
          <p:nvPr/>
        </p:nvCxnSpPr>
        <p:spPr bwMode="auto">
          <a:xfrm>
            <a:off x="3692244" y="1326343"/>
            <a:ext cx="213229" cy="3090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4" name="テキスト ボックス 73"/>
          <p:cNvSpPr txBox="1"/>
          <p:nvPr/>
        </p:nvSpPr>
        <p:spPr>
          <a:xfrm>
            <a:off x="3084993" y="987789"/>
            <a:ext cx="1214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労務費が入ってるのはアルバイトのみ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5" name="直線矢印コネクタ 74"/>
          <p:cNvCxnSpPr>
            <a:cxnSpLocks/>
            <a:stCxn id="74" idx="2"/>
            <a:endCxn id="71" idx="0"/>
          </p:cNvCxnSpPr>
          <p:nvPr/>
        </p:nvCxnSpPr>
        <p:spPr bwMode="auto">
          <a:xfrm flipH="1">
            <a:off x="3471647" y="1326343"/>
            <a:ext cx="220597" cy="2419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6" name="テキスト ボックス 75"/>
          <p:cNvSpPr txBox="1"/>
          <p:nvPr/>
        </p:nvSpPr>
        <p:spPr>
          <a:xfrm>
            <a:off x="1476336" y="1556792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6192225" y="920462"/>
            <a:ext cx="14970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実際には大中小分類がある</a:t>
            </a:r>
          </a:p>
        </p:txBody>
      </p:sp>
      <p:cxnSp>
        <p:nvCxnSpPr>
          <p:cNvPr id="80" name="直線矢印コネクタ 79"/>
          <p:cNvCxnSpPr>
            <a:cxnSpLocks/>
          </p:cNvCxnSpPr>
          <p:nvPr/>
        </p:nvCxnSpPr>
        <p:spPr bwMode="auto">
          <a:xfrm>
            <a:off x="7171934" y="1146571"/>
            <a:ext cx="102905" cy="5715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1" name="直線矢印コネクタ 80"/>
          <p:cNvCxnSpPr>
            <a:cxnSpLocks/>
          </p:cNvCxnSpPr>
          <p:nvPr/>
        </p:nvCxnSpPr>
        <p:spPr bwMode="auto">
          <a:xfrm flipV="1">
            <a:off x="5819325" y="2494032"/>
            <a:ext cx="768899" cy="2393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01925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24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：勤怠関連） ：生成ロジック（日別労務データ）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正方形/長方形 28"/>
          <p:cNvSpPr/>
          <p:nvPr/>
        </p:nvSpPr>
        <p:spPr bwMode="auto">
          <a:xfrm>
            <a:off x="1119473" y="3573016"/>
            <a:ext cx="1868351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正方形/長方形 29"/>
          <p:cNvSpPr/>
          <p:nvPr/>
        </p:nvSpPr>
        <p:spPr bwMode="auto">
          <a:xfrm>
            <a:off x="2991681" y="3572999"/>
            <a:ext cx="1868351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/>
          <p:cNvSpPr/>
          <p:nvPr/>
        </p:nvSpPr>
        <p:spPr bwMode="auto">
          <a:xfrm>
            <a:off x="4860032" y="4104587"/>
            <a:ext cx="1872177" cy="10442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日に複数店舗で勤務することがあるので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日給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（該当店舗での勤務時間予定）／（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日の勤務時間予定の合計）</a:t>
            </a: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1127156" y="4104590"/>
            <a:ext cx="3732876" cy="20648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勤怠データテーブルの「勤務時間予定」「勤務時間実績」をそのままセット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120327" y="1019221"/>
            <a:ext cx="665807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＜作成手順＞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１．日別労務データテーブルの２ヶ月分をクリアする（生成しなおすということ）。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２．従業員マスタの月給、勤怠系マスタの月別出勤日より、社員に関する月別人別の日給額を計算しておく。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勤怠データテーブルの当該月データを日別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社員番号別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勤務店舗別に見ていき、日別労務データテーブルの生成を行う。（２ヶ月分）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３－１．実働時間が０でない勤務店舗をピックアップし、レコードを生成する。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（勤務店舗をセット）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３－２．社員番号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=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をキーに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従業員マスタを参照して、氏名、従業員種別をセットする。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３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－３．勤務時間予定、勤務時間実績、労務費予定、労務費実績　については以下の表に従う。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（３－２でセットした従業員種別により異なる）</a:t>
            </a: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329494" y="4104607"/>
            <a:ext cx="786122" cy="105258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社員</a:t>
            </a: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329494" y="5157198"/>
            <a:ext cx="786122" cy="10122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アルバイト</a:t>
            </a:r>
          </a:p>
        </p:txBody>
      </p:sp>
      <p:sp>
        <p:nvSpPr>
          <p:cNvPr id="20" name="正方形/長方形 19"/>
          <p:cNvSpPr/>
          <p:nvPr/>
        </p:nvSpPr>
        <p:spPr bwMode="auto">
          <a:xfrm>
            <a:off x="4860032" y="3573016"/>
            <a:ext cx="1868351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6736097" y="3572999"/>
            <a:ext cx="1868351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4860032" y="5148819"/>
            <a:ext cx="3732876" cy="10205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勤怠データテーブルの「労務費予定」「労務費実績」をそのままセット</a:t>
            </a:r>
          </a:p>
        </p:txBody>
      </p:sp>
      <p:sp>
        <p:nvSpPr>
          <p:cNvPr id="23" name="正方形/長方形 22"/>
          <p:cNvSpPr/>
          <p:nvPr/>
        </p:nvSpPr>
        <p:spPr bwMode="auto">
          <a:xfrm>
            <a:off x="6732271" y="4103578"/>
            <a:ext cx="1872177" cy="104421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日に複数店舗で勤務することがあるので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日給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（該当店舗での勤務時間実績）／（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日の勤務時間実績の合計）</a:t>
            </a: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329494" y="3789040"/>
            <a:ext cx="786122" cy="30851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従業員種別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7216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853298"/>
              </p:ext>
            </p:extLst>
          </p:nvPr>
        </p:nvGraphicFramePr>
        <p:xfrm>
          <a:off x="810851" y="3992563"/>
          <a:ext cx="7651135" cy="596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4" name="Worksheet" r:id="rId4" imgW="8694472" imgH="678319" progId="Excel.Sheet.12">
                  <p:embed/>
                </p:oleObj>
              </mc:Choice>
              <mc:Fallback>
                <p:oleObj name="Worksheet" r:id="rId4" imgW="8694472" imgH="6783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0851" y="3992563"/>
                        <a:ext cx="7651135" cy="596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オブジェクト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5327645"/>
              </p:ext>
            </p:extLst>
          </p:nvPr>
        </p:nvGraphicFramePr>
        <p:xfrm>
          <a:off x="755650" y="1044575"/>
          <a:ext cx="7764462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5" name="Worksheet" r:id="rId6" imgW="7764728" imgH="2202041" progId="Excel.Sheet.12">
                  <p:embed/>
                </p:oleObj>
              </mc:Choice>
              <mc:Fallback>
                <p:oleObj name="Worksheet" r:id="rId6" imgW="7764728" imgH="22020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650" y="1044575"/>
                        <a:ext cx="7764462" cy="2201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25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日別労務データ ファイル定義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8954" y="3716080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■データ例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" name="直線コネクタ 4"/>
          <p:cNvCxnSpPr>
            <a:cxnSpLocks/>
          </p:cNvCxnSpPr>
          <p:nvPr/>
        </p:nvCxnSpPr>
        <p:spPr bwMode="auto">
          <a:xfrm>
            <a:off x="658954" y="4293096"/>
            <a:ext cx="808951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吹き出し: 2 つ折線 6"/>
          <p:cNvSpPr/>
          <p:nvPr/>
        </p:nvSpPr>
        <p:spPr bwMode="auto">
          <a:xfrm>
            <a:off x="755650" y="4753001"/>
            <a:ext cx="4536430" cy="332184"/>
          </a:xfrm>
          <a:prstGeom prst="borderCallout3">
            <a:avLst>
              <a:gd name="adj1" fmla="val 17365"/>
              <a:gd name="adj2" fmla="val -1526"/>
              <a:gd name="adj3" fmla="val 17718"/>
              <a:gd name="adj4" fmla="val -5343"/>
              <a:gd name="adj5" fmla="val -100188"/>
              <a:gd name="adj6" fmla="val -5412"/>
              <a:gd name="adj7" fmla="val -134669"/>
              <a:gd name="adj8" fmla="val -299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pitchFamily="50" charset="-128"/>
              </a:rPr>
              <a:t>「店舗マスタ」の「集計部門」に 「経営企画室」が存在しないため、出力されない。</a:t>
            </a:r>
          </a:p>
        </p:txBody>
      </p:sp>
    </p:spTree>
    <p:extLst>
      <p:ext uri="{BB962C8B-B14F-4D97-AF65-F5344CB8AC3E}">
        <p14:creationId xmlns:p14="http://schemas.microsoft.com/office/powerpoint/2010/main" val="3553099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26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月別残業時間 ファイル定義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8954" y="3716080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■データ例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" name="オブジェクト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102713"/>
              </p:ext>
            </p:extLst>
          </p:nvPr>
        </p:nvGraphicFramePr>
        <p:xfrm>
          <a:off x="750888" y="1091428"/>
          <a:ext cx="7764462" cy="1287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3" name="Worksheet" r:id="rId4" imgW="7764728" imgH="1287641" progId="Excel.Sheet.12">
                  <p:embed/>
                </p:oleObj>
              </mc:Choice>
              <mc:Fallback>
                <p:oleObj name="Worksheet" r:id="rId4" imgW="7764728" imgH="128764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0888" y="1091428"/>
                        <a:ext cx="7764462" cy="1287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オブジェクト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287986"/>
              </p:ext>
            </p:extLst>
          </p:nvPr>
        </p:nvGraphicFramePr>
        <p:xfrm>
          <a:off x="771253" y="4005064"/>
          <a:ext cx="58705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4" name="Worksheet" r:id="rId6" imgW="5871236" imgH="678319" progId="Excel.Sheet.12">
                  <p:embed/>
                </p:oleObj>
              </mc:Choice>
              <mc:Fallback>
                <p:oleObj name="Worksheet" r:id="rId6" imgW="5871236" imgH="6783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1253" y="4005064"/>
                        <a:ext cx="5870575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4721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951527"/>
              </p:ext>
            </p:extLst>
          </p:nvPr>
        </p:nvGraphicFramePr>
        <p:xfrm>
          <a:off x="755650" y="963613"/>
          <a:ext cx="7764462" cy="256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6" name="Worksheet" r:id="rId4" imgW="7764728" imgH="2567801" progId="Excel.Sheet.12">
                  <p:embed/>
                </p:oleObj>
              </mc:Choice>
              <mc:Fallback>
                <p:oleObj name="Worksheet" r:id="rId4" imgW="7764728" imgH="256780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650" y="963613"/>
                        <a:ext cx="7764462" cy="2568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27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日別作業別実働実績 ファイル定義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8954" y="3716080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■データ例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5" name="オブジェクト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309123"/>
              </p:ext>
            </p:extLst>
          </p:nvPr>
        </p:nvGraphicFramePr>
        <p:xfrm>
          <a:off x="755650" y="4002988"/>
          <a:ext cx="7717420" cy="434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47" name="Worksheet" r:id="rId6" imgW="12058469" imgH="678319" progId="Excel.Sheet.12">
                  <p:embed/>
                </p:oleObj>
              </mc:Choice>
              <mc:Fallback>
                <p:oleObj name="Worksheet" r:id="rId6" imgW="12058469" imgH="6783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650" y="4002988"/>
                        <a:ext cx="7717420" cy="4341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548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28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従業員マスタ ファイル定義 （</a:t>
            </a:r>
            <a:r>
              <a:rPr lang="en-US" altLang="ja-JP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kintone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よりデータ連携）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8954" y="3716080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■データ例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6" name="オブジェクト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506852"/>
              </p:ext>
            </p:extLst>
          </p:nvPr>
        </p:nvGraphicFramePr>
        <p:xfrm>
          <a:off x="755650" y="1016199"/>
          <a:ext cx="7764462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2" name="Worksheet" r:id="rId4" imgW="7764728" imgH="1836281" progId="Excel.Sheet.12">
                  <p:embed/>
                </p:oleObj>
              </mc:Choice>
              <mc:Fallback>
                <p:oleObj name="Worksheet" r:id="rId4" imgW="7764728" imgH="18362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650" y="1016199"/>
                        <a:ext cx="7764462" cy="1836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オブジェクト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720528"/>
              </p:ext>
            </p:extLst>
          </p:nvPr>
        </p:nvGraphicFramePr>
        <p:xfrm>
          <a:off x="755650" y="4025204"/>
          <a:ext cx="72802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53" name="Worksheet" r:id="rId6" imgW="7280780" imgH="678319" progId="Excel.Sheet.12">
                  <p:embed/>
                </p:oleObj>
              </mc:Choice>
              <mc:Fallback>
                <p:oleObj name="Worksheet" r:id="rId6" imgW="7280780" imgH="6783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650" y="4025204"/>
                        <a:ext cx="7280275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6441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29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 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：勤怠関連） ：生成ロジック（月別残業時間）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120327" y="1019221"/>
            <a:ext cx="66580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＜作成手順＞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１．月別残業時間テーブルの２ヶ月分をクリアする（生成しなおすということ）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２．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勤怠データテーブルの当該月データを日別・社員番号別に見ていき、月別残業時間テーブルの生成を行う。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２－１．同じ月・同じ社員番号のデータを抽出し、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社員番号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=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をキーに従業員マスタを参照して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「所属店舗」「氏名」「従業員種別」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をセットする。（ここでレコード生成）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２－２．その従業員種別が社員かアルバイトかに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よって以下の表に従い、「残業時間」を計算しセットする。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２－３．セットした所属店舗および年月について、勤怠系マスタを参照し「残業上限」をセットする。</a:t>
            </a:r>
          </a:p>
        </p:txBody>
      </p:sp>
      <p:sp>
        <p:nvSpPr>
          <p:cNvPr id="6" name="正方形/長方形 5"/>
          <p:cNvSpPr/>
          <p:nvPr/>
        </p:nvSpPr>
        <p:spPr bwMode="auto">
          <a:xfrm>
            <a:off x="2561742" y="3816575"/>
            <a:ext cx="786122" cy="105258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社員</a:t>
            </a:r>
          </a:p>
        </p:txBody>
      </p:sp>
      <p:sp>
        <p:nvSpPr>
          <p:cNvPr id="7" name="正方形/長方形 6"/>
          <p:cNvSpPr/>
          <p:nvPr/>
        </p:nvSpPr>
        <p:spPr bwMode="auto">
          <a:xfrm>
            <a:off x="2561742" y="4869166"/>
            <a:ext cx="786122" cy="10122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アルバイト</a:t>
            </a:r>
          </a:p>
        </p:txBody>
      </p:sp>
      <p:sp>
        <p:nvSpPr>
          <p:cNvPr id="8" name="正方形/長方形 7"/>
          <p:cNvSpPr/>
          <p:nvPr/>
        </p:nvSpPr>
        <p:spPr bwMode="auto">
          <a:xfrm>
            <a:off x="3347864" y="3284944"/>
            <a:ext cx="2304256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sp>
        <p:nvSpPr>
          <p:cNvPr id="9" name="正方形/長方形 8"/>
          <p:cNvSpPr/>
          <p:nvPr/>
        </p:nvSpPr>
        <p:spPr bwMode="auto">
          <a:xfrm>
            <a:off x="3347864" y="3816559"/>
            <a:ext cx="2304256" cy="105260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日別に</a:t>
            </a: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「勤務時間実績」－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を行い、その月の合計を計算する。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ただし、勤務時間実績－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450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分　の値がマイナスの場合は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とみなす。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正方形/長方形 9"/>
          <p:cNvSpPr/>
          <p:nvPr/>
        </p:nvSpPr>
        <p:spPr bwMode="auto">
          <a:xfrm>
            <a:off x="3347864" y="4869157"/>
            <a:ext cx="2304256" cy="101223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日別に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「勤務時間実績」－「勤務時間予定」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を行い、その月の合計を計算する。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ただし、勤務時間実績－勤務時間予定　の値がマイナスの場合は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とみなす。</a:t>
            </a:r>
          </a:p>
        </p:txBody>
      </p:sp>
      <p:sp>
        <p:nvSpPr>
          <p:cNvPr id="11" name="正方形/長方形 10"/>
          <p:cNvSpPr/>
          <p:nvPr/>
        </p:nvSpPr>
        <p:spPr bwMode="auto">
          <a:xfrm>
            <a:off x="2561742" y="3508021"/>
            <a:ext cx="786122" cy="30851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従業員種別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76167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30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686400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 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：勤怠関連） ：生成ロジック（日別作業別実働実績）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正方形/長方形 27"/>
          <p:cNvSpPr/>
          <p:nvPr/>
        </p:nvSpPr>
        <p:spPr bwMode="auto">
          <a:xfrm>
            <a:off x="3999784" y="3345023"/>
            <a:ext cx="2035876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</a:p>
        </p:txBody>
      </p:sp>
      <p:sp>
        <p:nvSpPr>
          <p:cNvPr id="30" name="正方形/長方形 29"/>
          <p:cNvSpPr/>
          <p:nvPr/>
        </p:nvSpPr>
        <p:spPr bwMode="auto">
          <a:xfrm>
            <a:off x="1963908" y="3345014"/>
            <a:ext cx="2035876" cy="5315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労働時間</a:t>
            </a:r>
          </a:p>
        </p:txBody>
      </p:sp>
      <p:sp>
        <p:nvSpPr>
          <p:cNvPr id="12" name="正方形/長方形 11"/>
          <p:cNvSpPr/>
          <p:nvPr/>
        </p:nvSpPr>
        <p:spPr bwMode="auto">
          <a:xfrm>
            <a:off x="1963908" y="3876629"/>
            <a:ext cx="2035876" cy="206478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作業別実働データテーブルの「実働時間」をそのままセット</a:t>
            </a: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043608" y="1051199"/>
            <a:ext cx="665807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＜作成手順＞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１．日別作業別実働実績テーブルの２ヶ月分をクリアする（生成しなおすということ）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２．従業員マスタの月給、勤怠系マスタの月別出勤日より、社員に関する月別人別の日給額を計算しておく。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３．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作業別実働データテーブルの当該月データを日別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社員番号別に見ていき、日別作業別実働実績テーブルの生成を行う。（２ヶ月分）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３－１．実働時間が０でないデータをピックアップし、レコードを生成する。（作業分類をセット）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３－２．社員番号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=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をキーに従業員マスタを参照して、氏名、従業員種別、所属店舗をセットする。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３－３．労働時間、労務費　については以下の表に従う。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（３－２でセットした従業員種別により異なる）</a:t>
            </a: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1171483" y="3876605"/>
            <a:ext cx="786122" cy="105258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社員</a:t>
            </a: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171483" y="4929196"/>
            <a:ext cx="786122" cy="10122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アルバイト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995936" y="6021288"/>
            <a:ext cx="4248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本来、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日で複数店で勤務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したケースだと計算結果が、日別労務データなどと整合性が取れなくなってくるが、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実態としてネット店しか作業別に記録してないので、勤務店舗が複数に分かれることはなく、所属店舗で計算して良い、とする。（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by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谷口社長）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3995936" y="3880977"/>
            <a:ext cx="2039724" cy="105258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日に複数作業の実施することがあるので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日給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（該当作業分類での実働時間）／（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日の実働時間の合計）</a:t>
            </a:r>
          </a:p>
        </p:txBody>
      </p:sp>
      <p:sp>
        <p:nvSpPr>
          <p:cNvPr id="23" name="正方形/長方形 22"/>
          <p:cNvSpPr/>
          <p:nvPr/>
        </p:nvSpPr>
        <p:spPr bwMode="auto">
          <a:xfrm>
            <a:off x="3995936" y="4933568"/>
            <a:ext cx="2039724" cy="10122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作業別実働データテーブルの「労務費」をそのままセット</a:t>
            </a:r>
          </a:p>
        </p:txBody>
      </p:sp>
      <p:sp>
        <p:nvSpPr>
          <p:cNvPr id="13" name="正方形/長方形 12"/>
          <p:cNvSpPr/>
          <p:nvPr/>
        </p:nvSpPr>
        <p:spPr bwMode="auto">
          <a:xfrm>
            <a:off x="1171483" y="3573016"/>
            <a:ext cx="786122" cy="30851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従業員種別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9033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吹き出し: 角を丸めた四角形 96"/>
          <p:cNvSpPr/>
          <p:nvPr/>
        </p:nvSpPr>
        <p:spPr bwMode="auto">
          <a:xfrm>
            <a:off x="4473514" y="941779"/>
            <a:ext cx="1201649" cy="544177"/>
          </a:xfrm>
          <a:prstGeom prst="wedgeRoundRectCallout">
            <a:avLst>
              <a:gd name="adj1" fmla="val 52947"/>
              <a:gd name="adj2" fmla="val 147928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注意１：所属店に変換されるので勤務先と異なる場合がある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フローチャート: 書類 43"/>
          <p:cNvSpPr/>
          <p:nvPr/>
        </p:nvSpPr>
        <p:spPr bwMode="auto">
          <a:xfrm>
            <a:off x="630918" y="6104093"/>
            <a:ext cx="896207" cy="52279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31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686400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 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‐1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：勤怠関連） ：サンプルデータによる説明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フローチャート: 書類 12"/>
          <p:cNvSpPr/>
          <p:nvPr/>
        </p:nvSpPr>
        <p:spPr bwMode="auto">
          <a:xfrm>
            <a:off x="611560" y="4725144"/>
            <a:ext cx="3893047" cy="1196493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フローチャート: 書類 13"/>
          <p:cNvSpPr/>
          <p:nvPr/>
        </p:nvSpPr>
        <p:spPr bwMode="auto">
          <a:xfrm>
            <a:off x="4593645" y="4718545"/>
            <a:ext cx="4442851" cy="1664757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4641761" y="5116719"/>
            <a:ext cx="439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岩本浩司　正社員　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顧客対応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－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岩本浩司　正社員　　ネット　入荷品対応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浅井重正　アルバイト　ネット　入荷品対応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60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1000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浅井重正　アルバイト　ネット　社内物流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3000</a:t>
            </a:r>
          </a:p>
          <a:p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579074" y="4704052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91708" y="4889429"/>
            <a:ext cx="30038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74698" y="5097557"/>
            <a:ext cx="38441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修学院　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　　　　－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ネット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－　　　　－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修学院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1667</a:t>
            </a: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ネット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240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4000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5" name="直線矢印コネクタ 24"/>
          <p:cNvCxnSpPr>
            <a:cxnSpLocks/>
          </p:cNvCxnSpPr>
          <p:nvPr/>
        </p:nvCxnSpPr>
        <p:spPr bwMode="auto">
          <a:xfrm flipV="1">
            <a:off x="6105813" y="5685170"/>
            <a:ext cx="282564" cy="22610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矢印コネクタ 25"/>
          <p:cNvCxnSpPr>
            <a:cxnSpLocks/>
          </p:cNvCxnSpPr>
          <p:nvPr/>
        </p:nvCxnSpPr>
        <p:spPr bwMode="auto">
          <a:xfrm flipH="1" flipV="1">
            <a:off x="6033805" y="5685173"/>
            <a:ext cx="72008" cy="2261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テキスト ボックス 26"/>
          <p:cNvSpPr txBox="1"/>
          <p:nvPr/>
        </p:nvSpPr>
        <p:spPr>
          <a:xfrm>
            <a:off x="5313724" y="5921637"/>
            <a:ext cx="1705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マスタが正なのでここでは無視される。（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と従業員マスタで決まる）</a:t>
            </a: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592630" y="4684890"/>
            <a:ext cx="102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504607" y="4317489"/>
            <a:ext cx="20372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データ＞</a:t>
            </a: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99189" y="4317511"/>
            <a:ext cx="17439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データ＞</a:t>
            </a: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2266880" y="4736504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824149" y="4756495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3398435" y="4756550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3923064" y="4756495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1762824" y="4745092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5" name="直線矢印コネクタ 44"/>
          <p:cNvCxnSpPr>
            <a:cxnSpLocks/>
          </p:cNvCxnSpPr>
          <p:nvPr/>
        </p:nvCxnSpPr>
        <p:spPr bwMode="auto">
          <a:xfrm flipV="1">
            <a:off x="6105813" y="5682332"/>
            <a:ext cx="768899" cy="2393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四角形: 角を丸くする 45"/>
          <p:cNvSpPr/>
          <p:nvPr/>
        </p:nvSpPr>
        <p:spPr bwMode="auto">
          <a:xfrm>
            <a:off x="104439" y="908721"/>
            <a:ext cx="418657" cy="3311686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アウトプットに使うデータ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（＝計算結果）</a:t>
            </a:r>
          </a:p>
        </p:txBody>
      </p:sp>
      <p:sp>
        <p:nvSpPr>
          <p:cNvPr id="47" name="四角形: 角を丸くする 46"/>
          <p:cNvSpPr/>
          <p:nvPr/>
        </p:nvSpPr>
        <p:spPr bwMode="auto">
          <a:xfrm>
            <a:off x="112218" y="4561944"/>
            <a:ext cx="403098" cy="1922276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元データソース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（＝計算前のデータ）</a:t>
            </a:r>
            <a:endParaRPr kumimoji="1" lang="ja-JP" alt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4626980" y="4891872"/>
            <a:ext cx="43761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姓名　雇用区分　勤務先　作業分類　　実働時間　労務費</a:t>
            </a:r>
          </a:p>
        </p:txBody>
      </p:sp>
      <p:sp>
        <p:nvSpPr>
          <p:cNvPr id="49" name="フローチャート: 書類 48"/>
          <p:cNvSpPr/>
          <p:nvPr/>
        </p:nvSpPr>
        <p:spPr bwMode="auto">
          <a:xfrm>
            <a:off x="1615313" y="6076848"/>
            <a:ext cx="2791675" cy="609076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2397904" y="5857872"/>
            <a:ext cx="1261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＜従業員マスタ＞</a:t>
            </a: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1547664" y="6090178"/>
            <a:ext cx="27512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従業員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　所属店舗　月給</a:t>
            </a: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1655729" y="6310078"/>
            <a:ext cx="27905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岩本浩司　　社員　　　　修学院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浅井重正　アルバイト　　ネット　　－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606344" y="6165034"/>
            <a:ext cx="94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実店舗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20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88195" y="5910437"/>
            <a:ext cx="1261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勤怠系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マスタ＞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499189" y="2035932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日別労務データ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73" name="正方形/長方形 72"/>
          <p:cNvSpPr/>
          <p:nvPr/>
        </p:nvSpPr>
        <p:spPr bwMode="auto">
          <a:xfrm>
            <a:off x="591709" y="2342732"/>
            <a:ext cx="4225146" cy="124110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テキスト ボックス 34"/>
          <p:cNvSpPr txBox="1"/>
          <p:nvPr/>
        </p:nvSpPr>
        <p:spPr>
          <a:xfrm>
            <a:off x="585744" y="2445930"/>
            <a:ext cx="23042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kumimoji="1" lang="ja-JP" altLang="en-US" sz="9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</a:t>
            </a:r>
          </a:p>
        </p:txBody>
      </p:sp>
      <p:sp>
        <p:nvSpPr>
          <p:cNvPr id="75" name="テキスト ボックス 36"/>
          <p:cNvSpPr txBox="1"/>
          <p:nvPr/>
        </p:nvSpPr>
        <p:spPr>
          <a:xfrm>
            <a:off x="585743" y="2676762"/>
            <a:ext cx="43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12500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11538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岩本浩司　社員　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2500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3462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テキスト ボックス 37"/>
          <p:cNvSpPr txBox="1"/>
          <p:nvPr/>
        </p:nvSpPr>
        <p:spPr>
          <a:xfrm>
            <a:off x="570783" y="3124934"/>
            <a:ext cx="4419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1000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1667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240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2782909" y="2350472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84" name="テキスト ボックス 83"/>
          <p:cNvSpPr txBox="1"/>
          <p:nvPr/>
        </p:nvSpPr>
        <p:spPr>
          <a:xfrm>
            <a:off x="3301135" y="2341481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勤務時間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85" name="テキスト ボックス 84"/>
          <p:cNvSpPr txBox="1"/>
          <p:nvPr/>
        </p:nvSpPr>
        <p:spPr>
          <a:xfrm>
            <a:off x="3860036" y="2339484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予定</a:t>
            </a: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4285930" y="2337834"/>
            <a:ext cx="7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</a:p>
        </p:txBody>
      </p:sp>
      <p:sp>
        <p:nvSpPr>
          <p:cNvPr id="87" name="テキスト ボックス 86"/>
          <p:cNvSpPr txBox="1"/>
          <p:nvPr/>
        </p:nvSpPr>
        <p:spPr>
          <a:xfrm>
            <a:off x="4816854" y="1584207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作業別実働実績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88" name="正方形/長方形 87"/>
          <p:cNvSpPr/>
          <p:nvPr/>
        </p:nvSpPr>
        <p:spPr bwMode="auto">
          <a:xfrm>
            <a:off x="4919279" y="1847217"/>
            <a:ext cx="4011591" cy="124281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9" name="テキスト ボックス 34"/>
          <p:cNvSpPr txBox="1"/>
          <p:nvPr/>
        </p:nvSpPr>
        <p:spPr>
          <a:xfrm>
            <a:off x="4984407" y="1950415"/>
            <a:ext cx="3946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lang="ja-JP" altLang="en-US" sz="900" b="1" u="sng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所属店舗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従業員種別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作業分類　労務費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労働時間</a:t>
            </a:r>
          </a:p>
        </p:txBody>
      </p:sp>
      <p:sp>
        <p:nvSpPr>
          <p:cNvPr id="90" name="テキスト ボックス 36"/>
          <p:cNvSpPr txBox="1"/>
          <p:nvPr/>
        </p:nvSpPr>
        <p:spPr>
          <a:xfrm>
            <a:off x="4921775" y="2166704"/>
            <a:ext cx="38961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修学院　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　顧客対応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8571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入荷品対応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6429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60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浅井重正 アルバイト　入荷品対応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60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浅井重正 アルバイト　社内物流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180</a:t>
            </a:r>
          </a:p>
        </p:txBody>
      </p:sp>
      <p:sp>
        <p:nvSpPr>
          <p:cNvPr id="93" name="矢印: 上 92"/>
          <p:cNvSpPr/>
          <p:nvPr/>
        </p:nvSpPr>
        <p:spPr bwMode="auto">
          <a:xfrm>
            <a:off x="2093620" y="3765711"/>
            <a:ext cx="1012471" cy="667322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4" name="矢印: 上 93"/>
          <p:cNvSpPr/>
          <p:nvPr/>
        </p:nvSpPr>
        <p:spPr bwMode="auto">
          <a:xfrm>
            <a:off x="6378714" y="3299278"/>
            <a:ext cx="1012471" cy="1242372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98" name="テキスト ボックス 97"/>
          <p:cNvSpPr txBox="1"/>
          <p:nvPr/>
        </p:nvSpPr>
        <p:spPr>
          <a:xfrm>
            <a:off x="636617" y="769028"/>
            <a:ext cx="3481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運用上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あり得ないが、吹き出しのような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結果も生成しうる加工ロジックになっている。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吹き出し: 角を丸めた四角形 98"/>
          <p:cNvSpPr/>
          <p:nvPr/>
        </p:nvSpPr>
        <p:spPr bwMode="auto">
          <a:xfrm>
            <a:off x="7074105" y="1021497"/>
            <a:ext cx="1888126" cy="544177"/>
          </a:xfrm>
          <a:prstGeom prst="wedgeRoundRectCallout">
            <a:avLst>
              <a:gd name="adj1" fmla="val 6795"/>
              <a:gd name="adj2" fmla="val 162000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注意２：社員の場合は日給を按分するので、作業別実働時間の記録が少ないとおかしな労務費となる。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824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32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771800" y="2708920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②－２</a:t>
            </a:r>
            <a:endParaRPr kumimoji="1"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費用実績全体</a:t>
            </a:r>
            <a:endParaRPr kumimoji="1"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0879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図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15" y="1589480"/>
            <a:ext cx="7798308" cy="4325874"/>
          </a:xfrm>
          <a:prstGeom prst="rect">
            <a:avLst/>
          </a:prstGeom>
        </p:spPr>
      </p:pic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33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アウトプットイメージ例　～月別店舗詳細～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755576" y="847454"/>
            <a:ext cx="69127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日別の各種費用実績が必要。（予算データは別途生成するので、ここでは実績の生成のみ対象として記述する）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/>
          <p:cNvSpPr/>
          <p:nvPr/>
        </p:nvSpPr>
        <p:spPr bwMode="auto">
          <a:xfrm>
            <a:off x="667915" y="4797152"/>
            <a:ext cx="7798308" cy="648072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379660" y="5826384"/>
            <a:ext cx="18711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・変動費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・人件費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・業務固定費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・企画固定費</a:t>
            </a:r>
          </a:p>
        </p:txBody>
      </p:sp>
      <p:cxnSp>
        <p:nvCxnSpPr>
          <p:cNvPr id="18" name="直線矢印コネクタ 17"/>
          <p:cNvCxnSpPr>
            <a:cxnSpLocks/>
          </p:cNvCxnSpPr>
          <p:nvPr/>
        </p:nvCxnSpPr>
        <p:spPr bwMode="auto">
          <a:xfrm flipH="1" flipV="1">
            <a:off x="1691680" y="5220736"/>
            <a:ext cx="720080" cy="694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45624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302085"/>
            <a:ext cx="4536504" cy="5366873"/>
          </a:xfrm>
          <a:prstGeom prst="rect">
            <a:avLst/>
          </a:prstGeom>
        </p:spPr>
      </p:pic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34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勘定科目ごとの費用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755576" y="787682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勘定科目別に費用データを作成しておき、各アウトプットイメージではそれを集計する方法とする。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そのために、日別労務データ（②</a:t>
            </a:r>
            <a:r>
              <a:rPr lang="ja-JP" altLang="en-US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ー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１勤怠関連で前述）、日別変動費実績、日別固定費実績の３つに分けてデータを生成する。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四角形: 角を丸くする 17"/>
          <p:cNvSpPr/>
          <p:nvPr/>
        </p:nvSpPr>
        <p:spPr bwMode="auto">
          <a:xfrm>
            <a:off x="1439652" y="2308779"/>
            <a:ext cx="4608512" cy="163468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9" name="四角形: 角を丸くする 18"/>
          <p:cNvSpPr/>
          <p:nvPr/>
        </p:nvSpPr>
        <p:spPr bwMode="auto">
          <a:xfrm>
            <a:off x="1439652" y="1855663"/>
            <a:ext cx="4608512" cy="24470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 bwMode="auto">
          <a:xfrm>
            <a:off x="6769681" y="1862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6769681" y="2677486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6769681" y="374184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四角形: 角を丸くする 23"/>
          <p:cNvSpPr/>
          <p:nvPr/>
        </p:nvSpPr>
        <p:spPr bwMode="auto">
          <a:xfrm>
            <a:off x="1439652" y="2949938"/>
            <a:ext cx="4608512" cy="263037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25" name="四角形: 角を丸くする 24"/>
          <p:cNvSpPr/>
          <p:nvPr/>
        </p:nvSpPr>
        <p:spPr bwMode="auto">
          <a:xfrm>
            <a:off x="1439652" y="3336957"/>
            <a:ext cx="4608512" cy="380075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26" name="直線矢印コネクタ 25"/>
          <p:cNvCxnSpPr>
            <a:cxnSpLocks/>
            <a:stCxn id="20" idx="1"/>
            <a:endCxn id="19" idx="3"/>
          </p:cNvCxnSpPr>
          <p:nvPr/>
        </p:nvCxnSpPr>
        <p:spPr bwMode="auto">
          <a:xfrm flipH="1" flipV="1">
            <a:off x="6048164" y="1978016"/>
            <a:ext cx="721517" cy="100126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339933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7" name="直線矢印コネクタ 26"/>
          <p:cNvCxnSpPr>
            <a:cxnSpLocks/>
            <a:stCxn id="21" idx="1"/>
            <a:endCxn id="18" idx="3"/>
          </p:cNvCxnSpPr>
          <p:nvPr/>
        </p:nvCxnSpPr>
        <p:spPr bwMode="auto">
          <a:xfrm flipH="1" flipV="1">
            <a:off x="6048164" y="2390513"/>
            <a:ext cx="721517" cy="50299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8" name="直線矢印コネクタ 27"/>
          <p:cNvCxnSpPr>
            <a:cxnSpLocks/>
            <a:stCxn id="21" idx="1"/>
            <a:endCxn id="24" idx="3"/>
          </p:cNvCxnSpPr>
          <p:nvPr/>
        </p:nvCxnSpPr>
        <p:spPr bwMode="auto">
          <a:xfrm flipH="1">
            <a:off x="6048164" y="2893510"/>
            <a:ext cx="721517" cy="18794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0" name="直線矢印コネクタ 29"/>
          <p:cNvCxnSpPr>
            <a:cxnSpLocks/>
            <a:stCxn id="21" idx="1"/>
            <a:endCxn id="25" idx="3"/>
          </p:cNvCxnSpPr>
          <p:nvPr/>
        </p:nvCxnSpPr>
        <p:spPr bwMode="auto">
          <a:xfrm flipH="1">
            <a:off x="6048164" y="2893510"/>
            <a:ext cx="721517" cy="63348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4" name="正方形/長方形 33"/>
          <p:cNvSpPr/>
          <p:nvPr/>
        </p:nvSpPr>
        <p:spPr bwMode="auto">
          <a:xfrm>
            <a:off x="7887242" y="374184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6082060" y="4028539"/>
            <a:ext cx="8038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上記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以外</a:t>
            </a:r>
          </a:p>
        </p:txBody>
      </p:sp>
      <p:cxnSp>
        <p:nvCxnSpPr>
          <p:cNvPr id="36" name="直線矢印コネクタ 35"/>
          <p:cNvCxnSpPr>
            <a:cxnSpLocks/>
            <a:stCxn id="34" idx="1"/>
            <a:endCxn id="22" idx="3"/>
          </p:cNvCxnSpPr>
          <p:nvPr/>
        </p:nvCxnSpPr>
        <p:spPr bwMode="auto">
          <a:xfrm flipH="1">
            <a:off x="7489761" y="3957873"/>
            <a:ext cx="39748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9" name="直線矢印コネクタ 38"/>
          <p:cNvCxnSpPr>
            <a:cxnSpLocks/>
          </p:cNvCxnSpPr>
          <p:nvPr/>
        </p:nvCxnSpPr>
        <p:spPr bwMode="auto">
          <a:xfrm flipH="1">
            <a:off x="6354459" y="3957873"/>
            <a:ext cx="397481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164498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リーフォーム: 図形 2"/>
          <p:cNvSpPr/>
          <p:nvPr/>
        </p:nvSpPr>
        <p:spPr bwMode="auto">
          <a:xfrm>
            <a:off x="1558534" y="2806262"/>
            <a:ext cx="5486400" cy="3031484"/>
          </a:xfrm>
          <a:custGeom>
            <a:avLst/>
            <a:gdLst>
              <a:gd name="connsiteX0" fmla="*/ 0 w 5486400"/>
              <a:gd name="connsiteY0" fmla="*/ 0 h 3031484"/>
              <a:gd name="connsiteX1" fmla="*/ 9009 w 5486400"/>
              <a:gd name="connsiteY1" fmla="*/ 2981935 h 3031484"/>
              <a:gd name="connsiteX2" fmla="*/ 810798 w 5486400"/>
              <a:gd name="connsiteY2" fmla="*/ 2981935 h 3031484"/>
              <a:gd name="connsiteX3" fmla="*/ 806294 w 5486400"/>
              <a:gd name="connsiteY3" fmla="*/ 2175641 h 3031484"/>
              <a:gd name="connsiteX4" fmla="*/ 4418849 w 5486400"/>
              <a:gd name="connsiteY4" fmla="*/ 2157624 h 3031484"/>
              <a:gd name="connsiteX5" fmla="*/ 4414345 w 5486400"/>
              <a:gd name="connsiteY5" fmla="*/ 3031484 h 3031484"/>
              <a:gd name="connsiteX6" fmla="*/ 5486400 w 5486400"/>
              <a:gd name="connsiteY6" fmla="*/ 3026979 h 3031484"/>
              <a:gd name="connsiteX7" fmla="*/ 5477391 w 5486400"/>
              <a:gd name="connsiteY7" fmla="*/ 0 h 3031484"/>
              <a:gd name="connsiteX8" fmla="*/ 0 w 5486400"/>
              <a:gd name="connsiteY8" fmla="*/ 0 h 303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86400" h="3031484">
                <a:moveTo>
                  <a:pt x="0" y="0"/>
                </a:moveTo>
                <a:lnTo>
                  <a:pt x="9009" y="2981935"/>
                </a:lnTo>
                <a:lnTo>
                  <a:pt x="810798" y="2981935"/>
                </a:lnTo>
                <a:cubicBezTo>
                  <a:pt x="809297" y="2713170"/>
                  <a:pt x="807795" y="2444406"/>
                  <a:pt x="806294" y="2175641"/>
                </a:cubicBezTo>
                <a:lnTo>
                  <a:pt x="4418849" y="2157624"/>
                </a:lnTo>
                <a:cubicBezTo>
                  <a:pt x="4417348" y="2448911"/>
                  <a:pt x="4415846" y="2740197"/>
                  <a:pt x="4414345" y="3031484"/>
                </a:cubicBezTo>
                <a:lnTo>
                  <a:pt x="5486400" y="3026979"/>
                </a:lnTo>
                <a:lnTo>
                  <a:pt x="547739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CC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7" name="正方形/長方形 76"/>
          <p:cNvSpPr/>
          <p:nvPr/>
        </p:nvSpPr>
        <p:spPr bwMode="auto">
          <a:xfrm>
            <a:off x="1525340" y="2780928"/>
            <a:ext cx="5550463" cy="3886572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35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データソースと加工ステップ　 ～②費用関連　→　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２：費用実績全体～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3568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619673" y="284776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8108840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7232779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619672" y="529827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401461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5265557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" name="コネクタ: カギ線 5"/>
          <p:cNvCxnSpPr>
            <a:cxnSpLocks/>
            <a:stCxn id="15" idx="2"/>
            <a:endCxn id="21" idx="0"/>
          </p:cNvCxnSpPr>
          <p:nvPr/>
        </p:nvCxnSpPr>
        <p:spPr bwMode="auto">
          <a:xfrm rot="16200000" flipH="1">
            <a:off x="2790190" y="2469340"/>
            <a:ext cx="1160834" cy="278178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コネクタ: カギ線 27"/>
          <p:cNvCxnSpPr>
            <a:cxnSpLocks/>
            <a:stCxn id="15" idx="2"/>
            <a:endCxn id="22" idx="0"/>
          </p:cNvCxnSpPr>
          <p:nvPr/>
        </p:nvCxnSpPr>
        <p:spPr bwMode="auto">
          <a:xfrm rot="16200000" flipH="1">
            <a:off x="3222238" y="2037292"/>
            <a:ext cx="1160834" cy="3645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コネクタ: カギ線 43"/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970482" y="4289048"/>
            <a:ext cx="201846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正方形/長方形 135"/>
          <p:cNvSpPr/>
          <p:nvPr/>
        </p:nvSpPr>
        <p:spPr bwMode="auto">
          <a:xfrm>
            <a:off x="5899843" y="385859"/>
            <a:ext cx="296480" cy="1881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202803" y="367653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</a:p>
        </p:txBody>
      </p:sp>
      <p:sp>
        <p:nvSpPr>
          <p:cNvPr id="2" name="フローチャート: 書類 1"/>
          <p:cNvSpPr/>
          <p:nvPr/>
        </p:nvSpPr>
        <p:spPr bwMode="auto">
          <a:xfrm>
            <a:off x="684476" y="609329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フローチャート: 書類 98"/>
          <p:cNvSpPr/>
          <p:nvPr/>
        </p:nvSpPr>
        <p:spPr bwMode="auto">
          <a:xfrm>
            <a:off x="6262771" y="6106340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正方形/長方形 102"/>
          <p:cNvSpPr/>
          <p:nvPr/>
        </p:nvSpPr>
        <p:spPr bwMode="auto">
          <a:xfrm>
            <a:off x="6300192" y="5345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106" name="フローチャート: 書類 105"/>
          <p:cNvSpPr/>
          <p:nvPr/>
        </p:nvSpPr>
        <p:spPr bwMode="auto">
          <a:xfrm>
            <a:off x="8028384" y="609717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フローチャート: 書類 106"/>
          <p:cNvSpPr/>
          <p:nvPr/>
        </p:nvSpPr>
        <p:spPr bwMode="auto">
          <a:xfrm>
            <a:off x="7258436" y="6101102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" name="直線矢印コネクタ 9"/>
          <p:cNvCxnSpPr>
            <a:cxnSpLocks/>
            <a:stCxn id="2" idx="0"/>
            <a:endCxn id="14" idx="2"/>
          </p:cNvCxnSpPr>
          <p:nvPr/>
        </p:nvCxnSpPr>
        <p:spPr bwMode="auto">
          <a:xfrm flipH="1" flipV="1">
            <a:off x="1043608" y="5717072"/>
            <a:ext cx="908" cy="37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直線矢印コネクタ 108"/>
          <p:cNvCxnSpPr>
            <a:cxnSpLocks/>
            <a:stCxn id="107" idx="0"/>
            <a:endCxn id="17" idx="2"/>
          </p:cNvCxnSpPr>
          <p:nvPr/>
        </p:nvCxnSpPr>
        <p:spPr bwMode="auto">
          <a:xfrm flipH="1" flipV="1">
            <a:off x="7592819" y="5588656"/>
            <a:ext cx="25657" cy="5124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線矢印コネクタ 109"/>
          <p:cNvCxnSpPr>
            <a:cxnSpLocks/>
            <a:stCxn id="106" idx="0"/>
            <a:endCxn id="16" idx="2"/>
          </p:cNvCxnSpPr>
          <p:nvPr/>
        </p:nvCxnSpPr>
        <p:spPr bwMode="auto">
          <a:xfrm flipV="1">
            <a:off x="8388424" y="5588656"/>
            <a:ext cx="80456" cy="5085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円弧 41"/>
          <p:cNvSpPr/>
          <p:nvPr/>
        </p:nvSpPr>
        <p:spPr bwMode="auto">
          <a:xfrm>
            <a:off x="7455535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5" name="直線コネクタ 44"/>
          <p:cNvCxnSpPr>
            <a:cxnSpLocks/>
            <a:stCxn id="42" idx="2"/>
          </p:cNvCxnSpPr>
          <p:nvPr/>
        </p:nvCxnSpPr>
        <p:spPr bwMode="auto">
          <a:xfrm flipV="1">
            <a:off x="7730103" y="4998839"/>
            <a:ext cx="495381" cy="1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/>
          <p:cNvCxnSpPr>
            <a:cxnSpLocks/>
          </p:cNvCxnSpPr>
          <p:nvPr/>
        </p:nvCxnSpPr>
        <p:spPr bwMode="auto">
          <a:xfrm>
            <a:off x="8224216" y="4992891"/>
            <a:ext cx="635" cy="1582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線コネクタ 118"/>
          <p:cNvCxnSpPr>
            <a:cxnSpLocks/>
            <a:endCxn id="101" idx="0"/>
          </p:cNvCxnSpPr>
          <p:nvPr/>
        </p:nvCxnSpPr>
        <p:spPr bwMode="auto">
          <a:xfrm>
            <a:off x="5727160" y="4992891"/>
            <a:ext cx="802534" cy="5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線コネクタ 121"/>
          <p:cNvCxnSpPr>
            <a:cxnSpLocks/>
          </p:cNvCxnSpPr>
          <p:nvPr/>
        </p:nvCxnSpPr>
        <p:spPr bwMode="auto">
          <a:xfrm>
            <a:off x="5734976" y="4869160"/>
            <a:ext cx="0" cy="116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フローチャート: 書類 124"/>
          <p:cNvSpPr/>
          <p:nvPr/>
        </p:nvSpPr>
        <p:spPr bwMode="auto">
          <a:xfrm>
            <a:off x="6982851" y="389342"/>
            <a:ext cx="289983" cy="22362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7344918" y="384317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フローチャート: 書類 127"/>
          <p:cNvSpPr/>
          <p:nvPr/>
        </p:nvSpPr>
        <p:spPr bwMode="auto">
          <a:xfrm>
            <a:off x="787648" y="142094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9" name="直線矢印コネクタ 128"/>
          <p:cNvCxnSpPr>
            <a:cxnSpLocks/>
            <a:stCxn id="14" idx="0"/>
            <a:endCxn id="128" idx="2"/>
          </p:cNvCxnSpPr>
          <p:nvPr/>
        </p:nvCxnSpPr>
        <p:spPr bwMode="auto">
          <a:xfrm flipV="1">
            <a:off x="1043608" y="1850444"/>
            <a:ext cx="111974" cy="34345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1" name="テキスト ボックス 130"/>
          <p:cNvSpPr txBox="1"/>
          <p:nvPr/>
        </p:nvSpPr>
        <p:spPr>
          <a:xfrm>
            <a:off x="191465" y="1362834"/>
            <a:ext cx="658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これを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へ送る→</a:t>
            </a:r>
          </a:p>
        </p:txBody>
      </p:sp>
      <p:sp>
        <p:nvSpPr>
          <p:cNvPr id="62" name="正方形/長方形 61"/>
          <p:cNvSpPr/>
          <p:nvPr/>
        </p:nvSpPr>
        <p:spPr bwMode="auto">
          <a:xfrm>
            <a:off x="2393381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cxnSp>
        <p:nvCxnSpPr>
          <p:cNvPr id="63" name="直線矢印コネクタ 62"/>
          <p:cNvCxnSpPr>
            <a:cxnSpLocks/>
            <a:endCxn id="62" idx="2"/>
          </p:cNvCxnSpPr>
          <p:nvPr/>
        </p:nvCxnSpPr>
        <p:spPr bwMode="auto">
          <a:xfrm flipV="1">
            <a:off x="2025102" y="5717072"/>
            <a:ext cx="728319" cy="3642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直線矢印コネクタ 65"/>
          <p:cNvCxnSpPr>
            <a:cxnSpLocks/>
            <a:endCxn id="18" idx="2"/>
          </p:cNvCxnSpPr>
          <p:nvPr/>
        </p:nvCxnSpPr>
        <p:spPr bwMode="auto">
          <a:xfrm flipH="1" flipV="1">
            <a:off x="1979712" y="5730327"/>
            <a:ext cx="45390" cy="35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テキスト ボックス 69"/>
          <p:cNvSpPr txBox="1"/>
          <p:nvPr/>
        </p:nvSpPr>
        <p:spPr>
          <a:xfrm>
            <a:off x="5767109" y="5805533"/>
            <a:ext cx="80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売上分は生成しない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1503460" y="4125517"/>
            <a:ext cx="84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人件費を計算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199994" y="4118373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例外的に賞与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/>
          <p:cNvCxnSpPr>
            <a:cxnSpLocks/>
            <a:stCxn id="99" idx="0"/>
            <a:endCxn id="103" idx="2"/>
          </p:cNvCxnSpPr>
          <p:nvPr/>
        </p:nvCxnSpPr>
        <p:spPr bwMode="auto">
          <a:xfrm flipV="1">
            <a:off x="6622811" y="5777166"/>
            <a:ext cx="37421" cy="32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コネクタ: カギ線 77"/>
          <p:cNvCxnSpPr>
            <a:cxnSpLocks/>
            <a:stCxn id="15" idx="3"/>
            <a:endCxn id="103" idx="0"/>
          </p:cNvCxnSpPr>
          <p:nvPr/>
        </p:nvCxnSpPr>
        <p:spPr bwMode="auto">
          <a:xfrm>
            <a:off x="2339753" y="3063793"/>
            <a:ext cx="4320479" cy="228132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4" name="フローチャート: 書類 83"/>
          <p:cNvSpPr/>
          <p:nvPr/>
        </p:nvSpPr>
        <p:spPr bwMode="auto">
          <a:xfrm>
            <a:off x="2726331" y="1415424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5" name="直線矢印コネクタ 84"/>
          <p:cNvCxnSpPr>
            <a:cxnSpLocks/>
            <a:stCxn id="18" idx="0"/>
            <a:endCxn id="84" idx="2"/>
          </p:cNvCxnSpPr>
          <p:nvPr/>
        </p:nvCxnSpPr>
        <p:spPr bwMode="auto">
          <a:xfrm flipV="1">
            <a:off x="1979712" y="1844923"/>
            <a:ext cx="1100590" cy="345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4" name="フローチャート: 書類 93"/>
          <p:cNvSpPr/>
          <p:nvPr/>
        </p:nvSpPr>
        <p:spPr bwMode="auto">
          <a:xfrm>
            <a:off x="3623301" y="1408866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8" name="直線矢印コネクタ 97"/>
          <p:cNvCxnSpPr>
            <a:cxnSpLocks/>
            <a:stCxn id="62" idx="0"/>
            <a:endCxn id="94" idx="2"/>
          </p:cNvCxnSpPr>
          <p:nvPr/>
        </p:nvCxnSpPr>
        <p:spPr bwMode="auto">
          <a:xfrm flipV="1">
            <a:off x="2753421" y="1838365"/>
            <a:ext cx="1223851" cy="344665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5" name="正方形/長方形 74"/>
          <p:cNvSpPr/>
          <p:nvPr/>
        </p:nvSpPr>
        <p:spPr bwMode="auto">
          <a:xfrm>
            <a:off x="3168286" y="5287237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2" name="直線矢印コネクタ 81"/>
          <p:cNvCxnSpPr>
            <a:cxnSpLocks/>
            <a:endCxn id="75" idx="2"/>
          </p:cNvCxnSpPr>
          <p:nvPr/>
        </p:nvCxnSpPr>
        <p:spPr bwMode="auto">
          <a:xfrm flipV="1">
            <a:off x="3528326" y="5719285"/>
            <a:ext cx="0" cy="338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フローチャート: 書類 87"/>
          <p:cNvSpPr/>
          <p:nvPr/>
        </p:nvSpPr>
        <p:spPr bwMode="auto">
          <a:xfrm>
            <a:off x="4517185" y="1403633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/>
          <p:cNvCxnSpPr>
            <a:cxnSpLocks/>
            <a:stCxn id="75" idx="0"/>
            <a:endCxn id="88" idx="2"/>
          </p:cNvCxnSpPr>
          <p:nvPr/>
        </p:nvCxnSpPr>
        <p:spPr bwMode="auto">
          <a:xfrm flipV="1">
            <a:off x="3528326" y="1833132"/>
            <a:ext cx="1398014" cy="34541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9" name="テキスト ボックス 78"/>
          <p:cNvSpPr txBox="1"/>
          <p:nvPr/>
        </p:nvSpPr>
        <p:spPr>
          <a:xfrm>
            <a:off x="3970720" y="410431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例外的に福利費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3" name="直線矢印コネクタ 82"/>
          <p:cNvCxnSpPr>
            <a:cxnSpLocks/>
            <a:stCxn id="18" idx="3"/>
            <a:endCxn id="21" idx="1"/>
          </p:cNvCxnSpPr>
          <p:nvPr/>
        </p:nvCxnSpPr>
        <p:spPr bwMode="auto">
          <a:xfrm flipV="1">
            <a:off x="2339752" y="4656675"/>
            <a:ext cx="2061709" cy="857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正方形/長方形 70"/>
          <p:cNvSpPr/>
          <p:nvPr/>
        </p:nvSpPr>
        <p:spPr bwMode="auto">
          <a:xfrm>
            <a:off x="206346" y="460748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3" name="直線矢印コネクタ 92"/>
          <p:cNvCxnSpPr>
            <a:cxnSpLocks/>
            <a:stCxn id="71" idx="3"/>
            <a:endCxn id="21" idx="1"/>
          </p:cNvCxnSpPr>
          <p:nvPr/>
        </p:nvCxnSpPr>
        <p:spPr bwMode="auto">
          <a:xfrm flipV="1">
            <a:off x="926426" y="4656675"/>
            <a:ext cx="3475035" cy="16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コネクタ: カギ線 94"/>
          <p:cNvCxnSpPr>
            <a:cxnSpLocks/>
            <a:stCxn id="71" idx="2"/>
            <a:endCxn id="14" idx="1"/>
          </p:cNvCxnSpPr>
          <p:nvPr/>
        </p:nvCxnSpPr>
        <p:spPr bwMode="auto">
          <a:xfrm rot="16200000" flipH="1">
            <a:off x="394218" y="5211697"/>
            <a:ext cx="461519" cy="1171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フローチャート: 複数書類 25"/>
          <p:cNvSpPr/>
          <p:nvPr/>
        </p:nvSpPr>
        <p:spPr bwMode="auto">
          <a:xfrm>
            <a:off x="4421158" y="5976909"/>
            <a:ext cx="621549" cy="603920"/>
          </a:xfrm>
          <a:prstGeom prst="flowChartMulti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直線矢印コネクタ 99"/>
          <p:cNvCxnSpPr>
            <a:cxnSpLocks/>
            <a:stCxn id="26" idx="0"/>
            <a:endCxn id="21" idx="2"/>
          </p:cNvCxnSpPr>
          <p:nvPr/>
        </p:nvCxnSpPr>
        <p:spPr bwMode="auto">
          <a:xfrm flipH="1" flipV="1">
            <a:off x="4761501" y="4872699"/>
            <a:ext cx="13192" cy="1104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円弧 100"/>
          <p:cNvSpPr/>
          <p:nvPr/>
        </p:nvSpPr>
        <p:spPr bwMode="auto">
          <a:xfrm>
            <a:off x="6529680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04" name="直線コネクタ 103"/>
          <p:cNvCxnSpPr>
            <a:cxnSpLocks/>
            <a:stCxn id="101" idx="2"/>
            <a:endCxn id="42" idx="0"/>
          </p:cNvCxnSpPr>
          <p:nvPr/>
        </p:nvCxnSpPr>
        <p:spPr bwMode="auto">
          <a:xfrm flipV="1">
            <a:off x="6804248" y="4998088"/>
            <a:ext cx="651301" cy="2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フローチャート: 書類 91"/>
          <p:cNvSpPr/>
          <p:nvPr/>
        </p:nvSpPr>
        <p:spPr bwMode="auto">
          <a:xfrm>
            <a:off x="1639809" y="142094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6" name="直線矢印コネクタ 95"/>
          <p:cNvCxnSpPr>
            <a:cxnSpLocks/>
            <a:stCxn id="15" idx="0"/>
            <a:endCxn id="92" idx="2"/>
          </p:cNvCxnSpPr>
          <p:nvPr/>
        </p:nvCxnSpPr>
        <p:spPr bwMode="auto">
          <a:xfrm flipV="1">
            <a:off x="1979713" y="1850444"/>
            <a:ext cx="28030" cy="9973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4" name="フローチャート: 書類 113"/>
          <p:cNvSpPr/>
          <p:nvPr/>
        </p:nvSpPr>
        <p:spPr bwMode="auto">
          <a:xfrm>
            <a:off x="7176223" y="1400952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フローチャート: 書類 114"/>
          <p:cNvSpPr/>
          <p:nvPr/>
        </p:nvSpPr>
        <p:spPr bwMode="auto">
          <a:xfrm>
            <a:off x="8028384" y="1400952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6" name="直線矢印コネクタ 115"/>
          <p:cNvCxnSpPr>
            <a:cxnSpLocks/>
            <a:stCxn id="16" idx="0"/>
            <a:endCxn id="115" idx="2"/>
          </p:cNvCxnSpPr>
          <p:nvPr/>
        </p:nvCxnSpPr>
        <p:spPr bwMode="auto">
          <a:xfrm flipH="1" flipV="1">
            <a:off x="8396318" y="1830451"/>
            <a:ext cx="72562" cy="33261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7" name="直線矢印コネクタ 116"/>
          <p:cNvCxnSpPr>
            <a:cxnSpLocks/>
            <a:stCxn id="17" idx="0"/>
            <a:endCxn id="114" idx="2"/>
          </p:cNvCxnSpPr>
          <p:nvPr/>
        </p:nvCxnSpPr>
        <p:spPr bwMode="auto">
          <a:xfrm flipH="1" flipV="1">
            <a:off x="7544157" y="1830451"/>
            <a:ext cx="48662" cy="33261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87" name="フローチャート: 書類 86"/>
          <p:cNvSpPr/>
          <p:nvPr/>
        </p:nvSpPr>
        <p:spPr bwMode="auto">
          <a:xfrm>
            <a:off x="3168286" y="6057373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フローチャート: 書類 89"/>
          <p:cNvSpPr/>
          <p:nvPr/>
        </p:nvSpPr>
        <p:spPr bwMode="auto">
          <a:xfrm>
            <a:off x="1665062" y="608132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勤怠ﾃﾞｰﾀ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1" name="コネクタ: 曲線 90"/>
          <p:cNvCxnSpPr>
            <a:cxnSpLocks/>
          </p:cNvCxnSpPr>
          <p:nvPr/>
        </p:nvCxnSpPr>
        <p:spPr bwMode="auto">
          <a:xfrm rot="5400000" flipH="1" flipV="1">
            <a:off x="5153461" y="1982860"/>
            <a:ext cx="141671" cy="6489168"/>
          </a:xfrm>
          <a:prstGeom prst="curvedConnector3">
            <a:avLst>
              <a:gd name="adj1" fmla="val 9608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2" name="テキスト ボックス 101"/>
          <p:cNvSpPr txBox="1"/>
          <p:nvPr/>
        </p:nvSpPr>
        <p:spPr>
          <a:xfrm>
            <a:off x="7655090" y="450505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シフト計画で予算を上書き</a:t>
            </a: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636617" y="769028"/>
            <a:ext cx="5457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全体の加工ステップで表すと赤枠の部分となる。</a:t>
            </a:r>
            <a:endParaRPr kumimoji="1" lang="en-US" altLang="ja-JP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4853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36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確定データによる上書き処理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52471" y="792941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前述のように３種類のデータから全体の日別費用実績データを生成するが、弥生会計で確定した「月別確定費用」を使って、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最終的には３種の費用データを勘定科目ごとに月合計値が合うような特別調整をする。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正方形/長方形 19"/>
          <p:cNvSpPr/>
          <p:nvPr/>
        </p:nvSpPr>
        <p:spPr bwMode="auto">
          <a:xfrm>
            <a:off x="1544941" y="4965985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3130233" y="4965985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4641285" y="4965985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4640467" y="602128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2853687" y="1276485"/>
            <a:ext cx="32057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ロジック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・該当月の合計値と、確定費用との差分を計算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・その差分を日別の値の割合で按分してならす。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6" name="直線矢印コネクタ 35"/>
          <p:cNvCxnSpPr>
            <a:cxnSpLocks/>
            <a:stCxn id="34" idx="0"/>
            <a:endCxn id="22" idx="2"/>
          </p:cNvCxnSpPr>
          <p:nvPr/>
        </p:nvCxnSpPr>
        <p:spPr bwMode="auto">
          <a:xfrm flipV="1">
            <a:off x="5000507" y="5398033"/>
            <a:ext cx="818" cy="62325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41" name="正方形/長方形 40"/>
          <p:cNvSpPr/>
          <p:nvPr/>
        </p:nvSpPr>
        <p:spPr bwMode="auto">
          <a:xfrm>
            <a:off x="5940152" y="4965985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29" name="正方形/長方形 28"/>
          <p:cNvSpPr/>
          <p:nvPr/>
        </p:nvSpPr>
        <p:spPr bwMode="auto">
          <a:xfrm>
            <a:off x="1544941" y="3212976"/>
            <a:ext cx="3815606" cy="93806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31" name="直線矢印コネクタ 30"/>
          <p:cNvCxnSpPr>
            <a:cxnSpLocks/>
            <a:stCxn id="20" idx="0"/>
            <a:endCxn id="59" idx="2"/>
          </p:cNvCxnSpPr>
          <p:nvPr/>
        </p:nvCxnSpPr>
        <p:spPr bwMode="auto">
          <a:xfrm flipV="1">
            <a:off x="1904981" y="3934035"/>
            <a:ext cx="891833" cy="1031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直線矢印コネクタ 31"/>
          <p:cNvCxnSpPr>
            <a:cxnSpLocks/>
            <a:stCxn id="21" idx="0"/>
            <a:endCxn id="59" idx="2"/>
          </p:cNvCxnSpPr>
          <p:nvPr/>
        </p:nvCxnSpPr>
        <p:spPr bwMode="auto">
          <a:xfrm flipH="1" flipV="1">
            <a:off x="2796814" y="3934035"/>
            <a:ext cx="693459" cy="103195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線矢印コネクタ 36"/>
          <p:cNvCxnSpPr>
            <a:cxnSpLocks/>
            <a:stCxn id="22" idx="0"/>
            <a:endCxn id="61" idx="2"/>
          </p:cNvCxnSpPr>
          <p:nvPr/>
        </p:nvCxnSpPr>
        <p:spPr bwMode="auto">
          <a:xfrm flipH="1" flipV="1">
            <a:off x="4820896" y="3931279"/>
            <a:ext cx="180429" cy="10347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コネクタ: カギ線 37"/>
          <p:cNvCxnSpPr>
            <a:cxnSpLocks/>
            <a:stCxn id="41" idx="0"/>
            <a:endCxn id="61" idx="0"/>
          </p:cNvCxnSpPr>
          <p:nvPr/>
        </p:nvCxnSpPr>
        <p:spPr bwMode="auto">
          <a:xfrm rot="16200000" flipV="1">
            <a:off x="4827167" y="3492960"/>
            <a:ext cx="1466754" cy="1479296"/>
          </a:xfrm>
          <a:prstGeom prst="bentConnector3">
            <a:avLst>
              <a:gd name="adj1" fmla="val 138004"/>
            </a:avLst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59" name="正方形/長方形 58"/>
          <p:cNvSpPr/>
          <p:nvPr/>
        </p:nvSpPr>
        <p:spPr bwMode="auto">
          <a:xfrm>
            <a:off x="1762080" y="3501987"/>
            <a:ext cx="2069468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人件費＋変動費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1475656" y="2988150"/>
            <a:ext cx="1080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日別費用実績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 bwMode="auto">
          <a:xfrm>
            <a:off x="4460856" y="349923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賞与含む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cxnSp>
        <p:nvCxnSpPr>
          <p:cNvPr id="24" name="コネクタ: カギ線 23"/>
          <p:cNvCxnSpPr>
            <a:cxnSpLocks/>
            <a:stCxn id="41" idx="0"/>
            <a:endCxn id="59" idx="0"/>
          </p:cNvCxnSpPr>
          <p:nvPr/>
        </p:nvCxnSpPr>
        <p:spPr bwMode="auto">
          <a:xfrm rot="16200000" flipV="1">
            <a:off x="3816504" y="2482297"/>
            <a:ext cx="1463998" cy="3503378"/>
          </a:xfrm>
          <a:prstGeom prst="bentConnector3">
            <a:avLst>
              <a:gd name="adj1" fmla="val 212534"/>
            </a:avLst>
          </a:prstGeom>
          <a:solidFill>
            <a:schemeClr val="accent1"/>
          </a:solidFill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0" name="テキスト ボックス 29"/>
          <p:cNvSpPr txBox="1"/>
          <p:nvPr/>
        </p:nvSpPr>
        <p:spPr>
          <a:xfrm>
            <a:off x="6476656" y="3284984"/>
            <a:ext cx="22676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弥生の確定費用は人手による取込をするため、いつ発生するかコントロールできない。そのため、過去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年分をすべて処理するのに越したことはないが、そこは処理速度との関係で、最終的に実装段階で調整必要。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大かっこ 9"/>
          <p:cNvSpPr/>
          <p:nvPr/>
        </p:nvSpPr>
        <p:spPr bwMode="auto">
          <a:xfrm>
            <a:off x="6406188" y="3212976"/>
            <a:ext cx="2414284" cy="1087671"/>
          </a:xfrm>
          <a:prstGeom prst="bracketPair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6406188" y="1173700"/>
            <a:ext cx="1444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注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小数点以下の扱いの関係で、按分後の合計値が確定データと一致しないこともある。</a:t>
            </a:r>
          </a:p>
        </p:txBody>
      </p:sp>
      <p:cxnSp>
        <p:nvCxnSpPr>
          <p:cNvPr id="39" name="直線矢印コネクタ 38"/>
          <p:cNvCxnSpPr>
            <a:cxnSpLocks/>
            <a:stCxn id="33" idx="1"/>
          </p:cNvCxnSpPr>
          <p:nvPr/>
        </p:nvCxnSpPr>
        <p:spPr bwMode="auto">
          <a:xfrm flipH="1">
            <a:off x="5743906" y="1466088"/>
            <a:ext cx="662282" cy="1962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2" name="テキスト ボックス 41"/>
          <p:cNvSpPr txBox="1"/>
          <p:nvPr/>
        </p:nvSpPr>
        <p:spPr>
          <a:xfrm>
            <a:off x="3779912" y="2167786"/>
            <a:ext cx="25922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ロジック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</a:p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・該当月の確定費用を、営業日マスタの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日数で割って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日あたり費用を計算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・その計算値を日別の値として上書き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3" name="直線矢印コネクタ 42"/>
          <p:cNvCxnSpPr>
            <a:cxnSpLocks/>
            <a:stCxn id="33" idx="1"/>
          </p:cNvCxnSpPr>
          <p:nvPr/>
        </p:nvCxnSpPr>
        <p:spPr bwMode="auto">
          <a:xfrm flipH="1">
            <a:off x="5796136" y="1466088"/>
            <a:ext cx="610052" cy="8391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342980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37</a:t>
            </a:fld>
            <a:endParaRPr lang="en-US" altLang="ja-JP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加工ステップ（②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２：費用実績全体）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四角形: 角を丸くする 3"/>
          <p:cNvSpPr/>
          <p:nvPr/>
        </p:nvSpPr>
        <p:spPr bwMode="auto">
          <a:xfrm>
            <a:off x="179512" y="5949279"/>
            <a:ext cx="265791" cy="704177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ソースＣＳＶ</a:t>
            </a:r>
          </a:p>
        </p:txBody>
      </p:sp>
      <p:sp>
        <p:nvSpPr>
          <p:cNvPr id="5" name="四角形: 角を丸くする 4"/>
          <p:cNvSpPr/>
          <p:nvPr/>
        </p:nvSpPr>
        <p:spPr bwMode="auto">
          <a:xfrm>
            <a:off x="177517" y="3683804"/>
            <a:ext cx="265791" cy="2193468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ＤＢ：計算ソース</a:t>
            </a:r>
          </a:p>
        </p:txBody>
      </p:sp>
      <p:sp>
        <p:nvSpPr>
          <p:cNvPr id="6" name="四角形: 角を丸くする 5"/>
          <p:cNvSpPr/>
          <p:nvPr/>
        </p:nvSpPr>
        <p:spPr bwMode="auto">
          <a:xfrm>
            <a:off x="175358" y="1700809"/>
            <a:ext cx="265791" cy="1877222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ＤＢ：計算結果</a:t>
            </a:r>
          </a:p>
        </p:txBody>
      </p:sp>
      <p:sp>
        <p:nvSpPr>
          <p:cNvPr id="7" name="四角形: 角を丸くする 6"/>
          <p:cNvSpPr/>
          <p:nvPr/>
        </p:nvSpPr>
        <p:spPr bwMode="auto">
          <a:xfrm>
            <a:off x="175359" y="671511"/>
            <a:ext cx="265791" cy="89871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出力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ＣＳＶ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2716032" y="1550136"/>
            <a:ext cx="2802346" cy="138727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34"/>
          <p:cNvSpPr txBox="1"/>
          <p:nvPr/>
        </p:nvSpPr>
        <p:spPr>
          <a:xfrm>
            <a:off x="2710067" y="1587077"/>
            <a:ext cx="26015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集計部門 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555776" y="1288534"/>
            <a:ext cx="1466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＜日別費用実績＞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456592" y="3855423"/>
            <a:ext cx="82755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トランザクションデータは、他箇所で生成したものをそのまま利用する。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確定データは、入ってきた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は全て取り込む（既にある年月は上書きする）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486875" y="1881558"/>
            <a:ext cx="9726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ヶ月分のデータを計算し、総入れ替え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ただし、確定データの反映だけは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年分</a:t>
            </a:r>
          </a:p>
        </p:txBody>
      </p:sp>
      <p:sp>
        <p:nvSpPr>
          <p:cNvPr id="62" name="矢印: 上 61"/>
          <p:cNvSpPr/>
          <p:nvPr/>
        </p:nvSpPr>
        <p:spPr bwMode="auto">
          <a:xfrm>
            <a:off x="4034315" y="1211213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9" name="テキスト ボックス 36"/>
          <p:cNvSpPr txBox="1"/>
          <p:nvPr/>
        </p:nvSpPr>
        <p:spPr>
          <a:xfrm>
            <a:off x="2740531" y="1817387"/>
            <a:ext cx="2723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社員給与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アルバイト給与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従業員賞与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通勤交通費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荷造運賃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混在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カード手数料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外注作業費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1043608" y="3498409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日別労務データ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28" name="正方形/長方形 27"/>
          <p:cNvSpPr/>
          <p:nvPr/>
        </p:nvSpPr>
        <p:spPr bwMode="auto">
          <a:xfrm>
            <a:off x="1240128" y="3756491"/>
            <a:ext cx="3115619" cy="1616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テキスト ボックス 34"/>
          <p:cNvSpPr txBox="1"/>
          <p:nvPr/>
        </p:nvSpPr>
        <p:spPr>
          <a:xfrm>
            <a:off x="1234164" y="3859689"/>
            <a:ext cx="30241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kumimoji="1" lang="ja-JP" altLang="en-US" sz="9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労務費実績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</a:p>
        </p:txBody>
      </p:sp>
      <p:sp>
        <p:nvSpPr>
          <p:cNvPr id="30" name="テキスト ボックス 36"/>
          <p:cNvSpPr txBox="1"/>
          <p:nvPr/>
        </p:nvSpPr>
        <p:spPr>
          <a:xfrm>
            <a:off x="1234162" y="4090521"/>
            <a:ext cx="3018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岩本浩司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2017/4/3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テキスト ボックス 37"/>
          <p:cNvSpPr txBox="1"/>
          <p:nvPr/>
        </p:nvSpPr>
        <p:spPr>
          <a:xfrm>
            <a:off x="1234162" y="4903988"/>
            <a:ext cx="312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3200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4000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01982" y="4651855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  <p:sp>
        <p:nvSpPr>
          <p:cNvPr id="35" name="正方形/長方形 34"/>
          <p:cNvSpPr/>
          <p:nvPr/>
        </p:nvSpPr>
        <p:spPr bwMode="auto">
          <a:xfrm>
            <a:off x="4606380" y="4807606"/>
            <a:ext cx="2595580" cy="11188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テキスト ボックス 34"/>
          <p:cNvSpPr txBox="1"/>
          <p:nvPr/>
        </p:nvSpPr>
        <p:spPr>
          <a:xfrm>
            <a:off x="4600415" y="4910803"/>
            <a:ext cx="26015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 集計部門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600415" y="5141635"/>
            <a:ext cx="27234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従業員賞与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通勤交通費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・・・・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従業員賞与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通勤交通費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571213" y="4568819"/>
            <a:ext cx="1466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費実績＞</a:t>
            </a:r>
          </a:p>
        </p:txBody>
      </p:sp>
      <p:sp>
        <p:nvSpPr>
          <p:cNvPr id="40" name="正方形/長方形 39"/>
          <p:cNvSpPr/>
          <p:nvPr/>
        </p:nvSpPr>
        <p:spPr bwMode="auto">
          <a:xfrm>
            <a:off x="4725332" y="3257840"/>
            <a:ext cx="2802346" cy="111885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1" name="テキスト ボックス 34"/>
          <p:cNvSpPr txBox="1"/>
          <p:nvPr/>
        </p:nvSpPr>
        <p:spPr>
          <a:xfrm>
            <a:off x="4719367" y="3361037"/>
            <a:ext cx="26015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集計部門  勘定科目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36"/>
          <p:cNvSpPr txBox="1"/>
          <p:nvPr/>
        </p:nvSpPr>
        <p:spPr>
          <a:xfrm>
            <a:off x="4719367" y="3591869"/>
            <a:ext cx="27234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荷造運賃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混在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カード手数料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決済手数料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販売手数料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外注作業費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7138657" y="4472533"/>
            <a:ext cx="1466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＜月別確定費用＞</a:t>
            </a:r>
          </a:p>
        </p:txBody>
      </p:sp>
      <p:sp>
        <p:nvSpPr>
          <p:cNvPr id="45" name="矢印: 上 44"/>
          <p:cNvSpPr/>
          <p:nvPr/>
        </p:nvSpPr>
        <p:spPr bwMode="auto">
          <a:xfrm>
            <a:off x="3523667" y="3060016"/>
            <a:ext cx="472269" cy="596579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7" name="矢印: 上 46"/>
          <p:cNvSpPr/>
          <p:nvPr/>
        </p:nvSpPr>
        <p:spPr bwMode="auto">
          <a:xfrm rot="18980686">
            <a:off x="4301147" y="2962960"/>
            <a:ext cx="472269" cy="65041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8" name="矢印: 上 47"/>
          <p:cNvSpPr/>
          <p:nvPr/>
        </p:nvSpPr>
        <p:spPr bwMode="auto">
          <a:xfrm rot="20300142">
            <a:off x="4116124" y="2993906"/>
            <a:ext cx="472269" cy="167609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079198" y="3117357"/>
            <a:ext cx="1413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社員給与、アルバイト給与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を店舗別日別に集計し、セット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5742570" y="2540459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店舗別日別に集約するのみ</a:t>
            </a:r>
          </a:p>
        </p:txBody>
      </p:sp>
      <p:sp>
        <p:nvSpPr>
          <p:cNvPr id="54" name="フローチャート: 書類 53"/>
          <p:cNvSpPr/>
          <p:nvPr/>
        </p:nvSpPr>
        <p:spPr bwMode="auto">
          <a:xfrm>
            <a:off x="7791279" y="6021288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正方形/長方形 54"/>
          <p:cNvSpPr/>
          <p:nvPr/>
        </p:nvSpPr>
        <p:spPr bwMode="auto">
          <a:xfrm>
            <a:off x="7308304" y="4717594"/>
            <a:ext cx="1650283" cy="7772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8384306" y="5588780"/>
            <a:ext cx="719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フォーマット変換要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8" name="直線矢印コネクタ 57"/>
          <p:cNvCxnSpPr>
            <a:cxnSpLocks/>
          </p:cNvCxnSpPr>
          <p:nvPr/>
        </p:nvCxnSpPr>
        <p:spPr bwMode="auto">
          <a:xfrm>
            <a:off x="3283568" y="3400511"/>
            <a:ext cx="473009" cy="759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0" name="直線矢印コネクタ 59"/>
          <p:cNvCxnSpPr>
            <a:cxnSpLocks/>
            <a:stCxn id="53" idx="1"/>
          </p:cNvCxnSpPr>
          <p:nvPr/>
        </p:nvCxnSpPr>
        <p:spPr bwMode="auto">
          <a:xfrm flipH="1">
            <a:off x="4505177" y="2709736"/>
            <a:ext cx="1237393" cy="635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1" name="直線矢印コネクタ 60"/>
          <p:cNvCxnSpPr>
            <a:cxnSpLocks/>
            <a:stCxn id="53" idx="1"/>
          </p:cNvCxnSpPr>
          <p:nvPr/>
        </p:nvCxnSpPr>
        <p:spPr bwMode="auto">
          <a:xfrm flipH="1">
            <a:off x="4248515" y="2709736"/>
            <a:ext cx="1494055" cy="9283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矢印: 上 63"/>
          <p:cNvSpPr/>
          <p:nvPr/>
        </p:nvSpPr>
        <p:spPr bwMode="auto">
          <a:xfrm>
            <a:off x="7937094" y="5606103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11" name="矢印: 上向き折線 10"/>
          <p:cNvSpPr/>
          <p:nvPr/>
        </p:nvSpPr>
        <p:spPr bwMode="auto">
          <a:xfrm rot="16200000">
            <a:off x="5764859" y="1830362"/>
            <a:ext cx="2593529" cy="2695477"/>
          </a:xfrm>
          <a:prstGeom prst="bentUpArrow">
            <a:avLst>
              <a:gd name="adj1" fmla="val 12531"/>
              <a:gd name="adj2" fmla="val 9713"/>
              <a:gd name="adj3" fmla="val 16802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6732240" y="1977333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存在すれば確定データを反映</a:t>
            </a:r>
          </a:p>
        </p:txBody>
      </p:sp>
      <p:sp>
        <p:nvSpPr>
          <p:cNvPr id="46" name="フローチャート: 書類 45"/>
          <p:cNvSpPr/>
          <p:nvPr/>
        </p:nvSpPr>
        <p:spPr bwMode="auto">
          <a:xfrm>
            <a:off x="3848172" y="743636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7" name="直線矢印コネクタ 56"/>
          <p:cNvCxnSpPr>
            <a:cxnSpLocks/>
          </p:cNvCxnSpPr>
          <p:nvPr/>
        </p:nvCxnSpPr>
        <p:spPr bwMode="auto">
          <a:xfrm flipH="1" flipV="1">
            <a:off x="2130259" y="5164450"/>
            <a:ext cx="137485" cy="71282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6" name="テキスト ボックス 65"/>
          <p:cNvSpPr txBox="1"/>
          <p:nvPr/>
        </p:nvSpPr>
        <p:spPr>
          <a:xfrm>
            <a:off x="2036984" y="5896417"/>
            <a:ext cx="16019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所属店舗でなく、勤務店舗であることに注意。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日別費用実績に取り込む際も勤務店舗のままで取り込む。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5019202" y="3045850"/>
            <a:ext cx="1466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＜日別変動費実績＞</a:t>
            </a:r>
          </a:p>
        </p:txBody>
      </p:sp>
      <p:sp>
        <p:nvSpPr>
          <p:cNvPr id="68" name="テキスト ボックス 34"/>
          <p:cNvSpPr txBox="1"/>
          <p:nvPr/>
        </p:nvSpPr>
        <p:spPr>
          <a:xfrm>
            <a:off x="7265550" y="4774271"/>
            <a:ext cx="16930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 集計部門 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 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58639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214822"/>
            <a:ext cx="7524328" cy="43002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38</a:t>
            </a:fld>
            <a:endParaRPr lang="en-US" altLang="ja-JP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２：費用実績全体）：データソース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972" y="2836809"/>
            <a:ext cx="2409926" cy="31040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822" y="4685104"/>
            <a:ext cx="2395755" cy="191224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8" name="四角形: 角を丸くする 57"/>
          <p:cNvSpPr/>
          <p:nvPr/>
        </p:nvSpPr>
        <p:spPr bwMode="auto">
          <a:xfrm>
            <a:off x="1115616" y="4709017"/>
            <a:ext cx="2088232" cy="86409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9" name="四角形: 角を丸くする 58"/>
          <p:cNvSpPr/>
          <p:nvPr/>
        </p:nvSpPr>
        <p:spPr bwMode="auto">
          <a:xfrm>
            <a:off x="3635896" y="2835301"/>
            <a:ext cx="2051002" cy="3169860"/>
          </a:xfrm>
          <a:prstGeom prst="roundRect">
            <a:avLst>
              <a:gd name="adj" fmla="val 9420"/>
            </a:avLst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6" name="四角形: 角を丸くする 65"/>
          <p:cNvSpPr/>
          <p:nvPr/>
        </p:nvSpPr>
        <p:spPr bwMode="auto">
          <a:xfrm>
            <a:off x="6407198" y="4637009"/>
            <a:ext cx="2051002" cy="288032"/>
          </a:xfrm>
          <a:prstGeom prst="roundRect">
            <a:avLst>
              <a:gd name="adj" fmla="val 9420"/>
            </a:avLst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67" name="四角形: 角を丸くする 66"/>
          <p:cNvSpPr/>
          <p:nvPr/>
        </p:nvSpPr>
        <p:spPr bwMode="auto">
          <a:xfrm>
            <a:off x="6407198" y="5940898"/>
            <a:ext cx="2051002" cy="144016"/>
          </a:xfrm>
          <a:prstGeom prst="roundRect">
            <a:avLst>
              <a:gd name="adj" fmla="val 9420"/>
            </a:avLst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2" name="四角形: 角を丸くする 81"/>
          <p:cNvSpPr/>
          <p:nvPr/>
        </p:nvSpPr>
        <p:spPr bwMode="auto">
          <a:xfrm>
            <a:off x="1099990" y="1828697"/>
            <a:ext cx="1455786" cy="14401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3" name="四角形: 角を丸くする 82"/>
          <p:cNvSpPr/>
          <p:nvPr/>
        </p:nvSpPr>
        <p:spPr bwMode="auto">
          <a:xfrm>
            <a:off x="3205610" y="2044721"/>
            <a:ext cx="2158477" cy="14401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4" name="四角形: 角を丸くする 83"/>
          <p:cNvSpPr/>
          <p:nvPr/>
        </p:nvSpPr>
        <p:spPr bwMode="auto">
          <a:xfrm>
            <a:off x="5686898" y="2047165"/>
            <a:ext cx="2158477" cy="144016"/>
          </a:xfrm>
          <a:prstGeom prst="roundRect">
            <a:avLst/>
          </a:prstGeom>
          <a:noFill/>
          <a:ln w="38100" cap="flat" cmpd="sng" algn="ctr">
            <a:solidFill>
              <a:srgbClr val="00B05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85" name="吹き出し: 角を丸めた四角形 84"/>
          <p:cNvSpPr/>
          <p:nvPr/>
        </p:nvSpPr>
        <p:spPr bwMode="auto">
          <a:xfrm>
            <a:off x="100601" y="2479449"/>
            <a:ext cx="1015015" cy="1147325"/>
          </a:xfrm>
          <a:prstGeom prst="wedgeRoundRectCallout">
            <a:avLst>
              <a:gd name="adj1" fmla="val 56498"/>
              <a:gd name="adj2" fmla="val -96313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年はここで判断。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フォーマットを固定するために、運用上、必ず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日～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日としてもらう</a:t>
            </a:r>
            <a:endParaRPr kumimoji="1" lang="ja-JP" altLang="en-US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吹き出し: 角を丸めた四角形 85"/>
          <p:cNvSpPr/>
          <p:nvPr/>
        </p:nvSpPr>
        <p:spPr bwMode="auto">
          <a:xfrm>
            <a:off x="5680317" y="1270211"/>
            <a:ext cx="1038439" cy="427859"/>
          </a:xfrm>
          <a:prstGeom prst="wedgeRoundRectCallout">
            <a:avLst>
              <a:gd name="adj1" fmla="val -26842"/>
              <a:gd name="adj2" fmla="val 119616"/>
              <a:gd name="adj3" fmla="val 16667"/>
            </a:avLst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月の位置（列</a:t>
            </a:r>
            <a:r>
              <a:rPr kumimoji="1" lang="en-US" altLang="ja-JP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No</a:t>
            </a:r>
            <a:r>
              <a:rPr kumimoji="1" lang="ja-JP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）は固定</a:t>
            </a:r>
          </a:p>
        </p:txBody>
      </p:sp>
      <p:sp>
        <p:nvSpPr>
          <p:cNvPr id="87" name="テキスト ボックス 86"/>
          <p:cNvSpPr txBox="1"/>
          <p:nvPr/>
        </p:nvSpPr>
        <p:spPr>
          <a:xfrm>
            <a:off x="652471" y="792941"/>
            <a:ext cx="7807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弥生会計ソフトから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年分のデータを出力し、それの取込み処理を行う。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データの抽出キーは「集計部門」（＝店舗）と「勘定科目」の文字列となる。（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これらの名称は変わらない前提で設計している）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4217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39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830416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２：費用実績全体） ：生成ロジック（日別費用実績）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138696" y="1033274"/>
            <a:ext cx="665807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＜作成手順＞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１．日別費用実績テーブルの２ヶ月分をクリアする（生成しなおすということ）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２．日別労務データから人件費をセット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・・日別に社員分の労務費実績を合計し、勘定科目「社員給与」にセット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・・日別にアルバイト分の労務費実績を合計し、勘定科目「アルバイト給与」にセット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３．日別変動費実績から変動費をセット（勘定科目別に）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４．日別固定費実績から固定費をセット（勘定科目別に）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５．月別確定データ（弥生データ）を反映　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反映ロジックは前述のとおり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・人件費、変動費への反映</a:t>
            </a:r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・固定費への反映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3716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40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771800" y="2708920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②－３</a:t>
            </a:r>
            <a:endParaRPr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kumimoji="1"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80616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正方形/長方形 75"/>
          <p:cNvSpPr/>
          <p:nvPr/>
        </p:nvSpPr>
        <p:spPr bwMode="auto">
          <a:xfrm>
            <a:off x="4022515" y="4298325"/>
            <a:ext cx="1205719" cy="2282504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7" name="正方形/長方形 76"/>
          <p:cNvSpPr/>
          <p:nvPr/>
        </p:nvSpPr>
        <p:spPr bwMode="auto">
          <a:xfrm>
            <a:off x="1525340" y="2780928"/>
            <a:ext cx="5550463" cy="3886572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41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データソースと加工ステップ　 ～②費用関連　→　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３：変動費～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3568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619673" y="284776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8108840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7232779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619672" y="529827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401461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5265557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" name="コネクタ: カギ線 5"/>
          <p:cNvCxnSpPr>
            <a:cxnSpLocks/>
            <a:stCxn id="15" idx="2"/>
            <a:endCxn id="21" idx="0"/>
          </p:cNvCxnSpPr>
          <p:nvPr/>
        </p:nvCxnSpPr>
        <p:spPr bwMode="auto">
          <a:xfrm rot="16200000" flipH="1">
            <a:off x="2790190" y="2469340"/>
            <a:ext cx="1160834" cy="278178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コネクタ: カギ線 27"/>
          <p:cNvCxnSpPr>
            <a:cxnSpLocks/>
            <a:stCxn id="15" idx="2"/>
            <a:endCxn id="22" idx="0"/>
          </p:cNvCxnSpPr>
          <p:nvPr/>
        </p:nvCxnSpPr>
        <p:spPr bwMode="auto">
          <a:xfrm rot="16200000" flipH="1">
            <a:off x="3222238" y="2037292"/>
            <a:ext cx="1160834" cy="3645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コネクタ: カギ線 43"/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970482" y="4289048"/>
            <a:ext cx="201846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正方形/長方形 135"/>
          <p:cNvSpPr/>
          <p:nvPr/>
        </p:nvSpPr>
        <p:spPr bwMode="auto">
          <a:xfrm>
            <a:off x="5899843" y="385859"/>
            <a:ext cx="296480" cy="1881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202803" y="367653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</a:p>
        </p:txBody>
      </p:sp>
      <p:sp>
        <p:nvSpPr>
          <p:cNvPr id="2" name="フローチャート: 書類 1"/>
          <p:cNvSpPr/>
          <p:nvPr/>
        </p:nvSpPr>
        <p:spPr bwMode="auto">
          <a:xfrm>
            <a:off x="684476" y="609329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フローチャート: 書類 98"/>
          <p:cNvSpPr/>
          <p:nvPr/>
        </p:nvSpPr>
        <p:spPr bwMode="auto">
          <a:xfrm>
            <a:off x="6262771" y="6106340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正方形/長方形 102"/>
          <p:cNvSpPr/>
          <p:nvPr/>
        </p:nvSpPr>
        <p:spPr bwMode="auto">
          <a:xfrm>
            <a:off x="6300192" y="5345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106" name="フローチャート: 書類 105"/>
          <p:cNvSpPr/>
          <p:nvPr/>
        </p:nvSpPr>
        <p:spPr bwMode="auto">
          <a:xfrm>
            <a:off x="8028384" y="609717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フローチャート: 書類 106"/>
          <p:cNvSpPr/>
          <p:nvPr/>
        </p:nvSpPr>
        <p:spPr bwMode="auto">
          <a:xfrm>
            <a:off x="7258436" y="6101102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" name="直線矢印コネクタ 9"/>
          <p:cNvCxnSpPr>
            <a:cxnSpLocks/>
            <a:stCxn id="2" idx="0"/>
            <a:endCxn id="14" idx="2"/>
          </p:cNvCxnSpPr>
          <p:nvPr/>
        </p:nvCxnSpPr>
        <p:spPr bwMode="auto">
          <a:xfrm flipH="1" flipV="1">
            <a:off x="1043608" y="5717072"/>
            <a:ext cx="908" cy="37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直線矢印コネクタ 108"/>
          <p:cNvCxnSpPr>
            <a:cxnSpLocks/>
            <a:stCxn id="107" idx="0"/>
            <a:endCxn id="17" idx="2"/>
          </p:cNvCxnSpPr>
          <p:nvPr/>
        </p:nvCxnSpPr>
        <p:spPr bwMode="auto">
          <a:xfrm flipH="1" flipV="1">
            <a:off x="7592819" y="5588656"/>
            <a:ext cx="25657" cy="5124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線矢印コネクタ 109"/>
          <p:cNvCxnSpPr>
            <a:cxnSpLocks/>
            <a:stCxn id="106" idx="0"/>
            <a:endCxn id="16" idx="2"/>
          </p:cNvCxnSpPr>
          <p:nvPr/>
        </p:nvCxnSpPr>
        <p:spPr bwMode="auto">
          <a:xfrm flipV="1">
            <a:off x="8388424" y="5588656"/>
            <a:ext cx="80456" cy="5085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円弧 41"/>
          <p:cNvSpPr/>
          <p:nvPr/>
        </p:nvSpPr>
        <p:spPr bwMode="auto">
          <a:xfrm>
            <a:off x="7455535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5" name="直線コネクタ 44"/>
          <p:cNvCxnSpPr>
            <a:cxnSpLocks/>
            <a:stCxn id="42" idx="2"/>
          </p:cNvCxnSpPr>
          <p:nvPr/>
        </p:nvCxnSpPr>
        <p:spPr bwMode="auto">
          <a:xfrm flipV="1">
            <a:off x="7730103" y="4998839"/>
            <a:ext cx="495381" cy="1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/>
          <p:cNvCxnSpPr>
            <a:cxnSpLocks/>
          </p:cNvCxnSpPr>
          <p:nvPr/>
        </p:nvCxnSpPr>
        <p:spPr bwMode="auto">
          <a:xfrm>
            <a:off x="8224216" y="4992891"/>
            <a:ext cx="635" cy="1582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線コネクタ 118"/>
          <p:cNvCxnSpPr>
            <a:cxnSpLocks/>
            <a:endCxn id="101" idx="0"/>
          </p:cNvCxnSpPr>
          <p:nvPr/>
        </p:nvCxnSpPr>
        <p:spPr bwMode="auto">
          <a:xfrm>
            <a:off x="5727160" y="4992891"/>
            <a:ext cx="802534" cy="5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線コネクタ 121"/>
          <p:cNvCxnSpPr>
            <a:cxnSpLocks/>
          </p:cNvCxnSpPr>
          <p:nvPr/>
        </p:nvCxnSpPr>
        <p:spPr bwMode="auto">
          <a:xfrm>
            <a:off x="5734976" y="4869160"/>
            <a:ext cx="0" cy="116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フローチャート: 書類 124"/>
          <p:cNvSpPr/>
          <p:nvPr/>
        </p:nvSpPr>
        <p:spPr bwMode="auto">
          <a:xfrm>
            <a:off x="6982851" y="389342"/>
            <a:ext cx="289983" cy="22362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7344918" y="384317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フローチャート: 書類 127"/>
          <p:cNvSpPr/>
          <p:nvPr/>
        </p:nvSpPr>
        <p:spPr bwMode="auto">
          <a:xfrm>
            <a:off x="787648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9" name="直線矢印コネクタ 128"/>
          <p:cNvCxnSpPr>
            <a:cxnSpLocks/>
            <a:stCxn id="14" idx="0"/>
            <a:endCxn id="128" idx="2"/>
          </p:cNvCxnSpPr>
          <p:nvPr/>
        </p:nvCxnSpPr>
        <p:spPr bwMode="auto">
          <a:xfrm flipV="1">
            <a:off x="1043608" y="1333397"/>
            <a:ext cx="111974" cy="39516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1" name="テキスト ボックス 130"/>
          <p:cNvSpPr txBox="1"/>
          <p:nvPr/>
        </p:nvSpPr>
        <p:spPr>
          <a:xfrm>
            <a:off x="191465" y="845787"/>
            <a:ext cx="658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これを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へ送る→</a:t>
            </a:r>
          </a:p>
        </p:txBody>
      </p:sp>
      <p:sp>
        <p:nvSpPr>
          <p:cNvPr id="62" name="正方形/長方形 61"/>
          <p:cNvSpPr/>
          <p:nvPr/>
        </p:nvSpPr>
        <p:spPr bwMode="auto">
          <a:xfrm>
            <a:off x="2393381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cxnSp>
        <p:nvCxnSpPr>
          <p:cNvPr id="63" name="直線矢印コネクタ 62"/>
          <p:cNvCxnSpPr>
            <a:cxnSpLocks/>
            <a:endCxn id="62" idx="2"/>
          </p:cNvCxnSpPr>
          <p:nvPr/>
        </p:nvCxnSpPr>
        <p:spPr bwMode="auto">
          <a:xfrm flipV="1">
            <a:off x="2025102" y="5717072"/>
            <a:ext cx="728319" cy="3642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直線矢印コネクタ 65"/>
          <p:cNvCxnSpPr>
            <a:cxnSpLocks/>
            <a:endCxn id="18" idx="2"/>
          </p:cNvCxnSpPr>
          <p:nvPr/>
        </p:nvCxnSpPr>
        <p:spPr bwMode="auto">
          <a:xfrm flipH="1" flipV="1">
            <a:off x="1979712" y="5730327"/>
            <a:ext cx="45390" cy="35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テキスト ボックス 69"/>
          <p:cNvSpPr txBox="1"/>
          <p:nvPr/>
        </p:nvSpPr>
        <p:spPr>
          <a:xfrm>
            <a:off x="5767109" y="5805533"/>
            <a:ext cx="80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売上分は生成しない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1503460" y="4125517"/>
            <a:ext cx="84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人件費を計算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199994" y="4118373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例外的に賞与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/>
          <p:cNvCxnSpPr>
            <a:cxnSpLocks/>
            <a:stCxn id="99" idx="0"/>
            <a:endCxn id="103" idx="2"/>
          </p:cNvCxnSpPr>
          <p:nvPr/>
        </p:nvCxnSpPr>
        <p:spPr bwMode="auto">
          <a:xfrm flipV="1">
            <a:off x="6622811" y="5777166"/>
            <a:ext cx="37421" cy="32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コネクタ: カギ線 77"/>
          <p:cNvCxnSpPr>
            <a:cxnSpLocks/>
            <a:stCxn id="15" idx="3"/>
            <a:endCxn id="103" idx="0"/>
          </p:cNvCxnSpPr>
          <p:nvPr/>
        </p:nvCxnSpPr>
        <p:spPr bwMode="auto">
          <a:xfrm>
            <a:off x="2339753" y="3063793"/>
            <a:ext cx="4320479" cy="228132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4" name="フローチャート: 書類 83"/>
          <p:cNvSpPr/>
          <p:nvPr/>
        </p:nvSpPr>
        <p:spPr bwMode="auto">
          <a:xfrm>
            <a:off x="2726331" y="898377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5" name="直線矢印コネクタ 84"/>
          <p:cNvCxnSpPr>
            <a:cxnSpLocks/>
            <a:stCxn id="18" idx="0"/>
            <a:endCxn id="84" idx="2"/>
          </p:cNvCxnSpPr>
          <p:nvPr/>
        </p:nvCxnSpPr>
        <p:spPr bwMode="auto">
          <a:xfrm flipV="1">
            <a:off x="1979712" y="1327876"/>
            <a:ext cx="1100590" cy="39704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4" name="フローチャート: 書類 93"/>
          <p:cNvSpPr/>
          <p:nvPr/>
        </p:nvSpPr>
        <p:spPr bwMode="auto">
          <a:xfrm>
            <a:off x="3623301" y="891819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8" name="直線矢印コネクタ 97"/>
          <p:cNvCxnSpPr>
            <a:cxnSpLocks/>
            <a:stCxn id="62" idx="0"/>
            <a:endCxn id="94" idx="2"/>
          </p:cNvCxnSpPr>
          <p:nvPr/>
        </p:nvCxnSpPr>
        <p:spPr bwMode="auto">
          <a:xfrm flipV="1">
            <a:off x="2753421" y="1321318"/>
            <a:ext cx="1223851" cy="39637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5" name="正方形/長方形 74"/>
          <p:cNvSpPr/>
          <p:nvPr/>
        </p:nvSpPr>
        <p:spPr bwMode="auto">
          <a:xfrm>
            <a:off x="3168286" y="5287237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2" name="直線矢印コネクタ 81"/>
          <p:cNvCxnSpPr>
            <a:cxnSpLocks/>
            <a:endCxn id="75" idx="2"/>
          </p:cNvCxnSpPr>
          <p:nvPr/>
        </p:nvCxnSpPr>
        <p:spPr bwMode="auto">
          <a:xfrm flipV="1">
            <a:off x="3528326" y="5719285"/>
            <a:ext cx="0" cy="338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フローチャート: 書類 87"/>
          <p:cNvSpPr/>
          <p:nvPr/>
        </p:nvSpPr>
        <p:spPr bwMode="auto">
          <a:xfrm>
            <a:off x="4517185" y="886586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/>
          <p:cNvCxnSpPr>
            <a:cxnSpLocks/>
            <a:stCxn id="75" idx="0"/>
            <a:endCxn id="88" idx="2"/>
          </p:cNvCxnSpPr>
          <p:nvPr/>
        </p:nvCxnSpPr>
        <p:spPr bwMode="auto">
          <a:xfrm flipV="1">
            <a:off x="3528326" y="1316085"/>
            <a:ext cx="1398014" cy="39711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9" name="テキスト ボックス 78"/>
          <p:cNvSpPr txBox="1"/>
          <p:nvPr/>
        </p:nvSpPr>
        <p:spPr>
          <a:xfrm>
            <a:off x="3970720" y="410431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例外的に福利費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3" name="直線矢印コネクタ 82"/>
          <p:cNvCxnSpPr>
            <a:cxnSpLocks/>
            <a:stCxn id="18" idx="3"/>
            <a:endCxn id="21" idx="1"/>
          </p:cNvCxnSpPr>
          <p:nvPr/>
        </p:nvCxnSpPr>
        <p:spPr bwMode="auto">
          <a:xfrm flipV="1">
            <a:off x="2339752" y="4656675"/>
            <a:ext cx="2061709" cy="857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正方形/長方形 70"/>
          <p:cNvSpPr/>
          <p:nvPr/>
        </p:nvSpPr>
        <p:spPr bwMode="auto">
          <a:xfrm>
            <a:off x="206346" y="460748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3" name="直線矢印コネクタ 92"/>
          <p:cNvCxnSpPr>
            <a:cxnSpLocks/>
            <a:stCxn id="71" idx="3"/>
            <a:endCxn id="21" idx="1"/>
          </p:cNvCxnSpPr>
          <p:nvPr/>
        </p:nvCxnSpPr>
        <p:spPr bwMode="auto">
          <a:xfrm flipV="1">
            <a:off x="926426" y="4656675"/>
            <a:ext cx="3475035" cy="16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コネクタ: カギ線 94"/>
          <p:cNvCxnSpPr>
            <a:cxnSpLocks/>
            <a:stCxn id="71" idx="2"/>
            <a:endCxn id="14" idx="1"/>
          </p:cNvCxnSpPr>
          <p:nvPr/>
        </p:nvCxnSpPr>
        <p:spPr bwMode="auto">
          <a:xfrm rot="16200000" flipH="1">
            <a:off x="394218" y="5211697"/>
            <a:ext cx="461519" cy="1171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フローチャート: 複数書類 25"/>
          <p:cNvSpPr/>
          <p:nvPr/>
        </p:nvSpPr>
        <p:spPr bwMode="auto">
          <a:xfrm>
            <a:off x="4421158" y="5976909"/>
            <a:ext cx="621549" cy="603920"/>
          </a:xfrm>
          <a:prstGeom prst="flowChartMulti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直線矢印コネクタ 99"/>
          <p:cNvCxnSpPr>
            <a:cxnSpLocks/>
            <a:stCxn id="26" idx="0"/>
            <a:endCxn id="21" idx="2"/>
          </p:cNvCxnSpPr>
          <p:nvPr/>
        </p:nvCxnSpPr>
        <p:spPr bwMode="auto">
          <a:xfrm flipH="1" flipV="1">
            <a:off x="4761501" y="4872699"/>
            <a:ext cx="13192" cy="1104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円弧 100"/>
          <p:cNvSpPr/>
          <p:nvPr/>
        </p:nvSpPr>
        <p:spPr bwMode="auto">
          <a:xfrm>
            <a:off x="6529680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04" name="直線コネクタ 103"/>
          <p:cNvCxnSpPr>
            <a:cxnSpLocks/>
            <a:stCxn id="101" idx="2"/>
            <a:endCxn id="42" idx="0"/>
          </p:cNvCxnSpPr>
          <p:nvPr/>
        </p:nvCxnSpPr>
        <p:spPr bwMode="auto">
          <a:xfrm flipV="1">
            <a:off x="6804248" y="4998088"/>
            <a:ext cx="651301" cy="2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フローチャート: 書類 91"/>
          <p:cNvSpPr/>
          <p:nvPr/>
        </p:nvSpPr>
        <p:spPr bwMode="auto">
          <a:xfrm>
            <a:off x="1639809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6" name="直線矢印コネクタ 95"/>
          <p:cNvCxnSpPr>
            <a:cxnSpLocks/>
            <a:stCxn id="15" idx="0"/>
            <a:endCxn id="92" idx="2"/>
          </p:cNvCxnSpPr>
          <p:nvPr/>
        </p:nvCxnSpPr>
        <p:spPr bwMode="auto">
          <a:xfrm flipV="1">
            <a:off x="1979713" y="1333397"/>
            <a:ext cx="28030" cy="15143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4" name="フローチャート: 書類 113"/>
          <p:cNvSpPr/>
          <p:nvPr/>
        </p:nvSpPr>
        <p:spPr bwMode="auto">
          <a:xfrm>
            <a:off x="7176223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フローチャート: 書類 114"/>
          <p:cNvSpPr/>
          <p:nvPr/>
        </p:nvSpPr>
        <p:spPr bwMode="auto">
          <a:xfrm>
            <a:off x="8028384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6" name="直線矢印コネクタ 115"/>
          <p:cNvCxnSpPr>
            <a:cxnSpLocks/>
            <a:stCxn id="16" idx="0"/>
            <a:endCxn id="115" idx="2"/>
          </p:cNvCxnSpPr>
          <p:nvPr/>
        </p:nvCxnSpPr>
        <p:spPr bwMode="auto">
          <a:xfrm flipH="1" flipV="1">
            <a:off x="8396318" y="1313404"/>
            <a:ext cx="725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7" name="直線矢印コネクタ 116"/>
          <p:cNvCxnSpPr>
            <a:cxnSpLocks/>
            <a:stCxn id="17" idx="0"/>
            <a:endCxn id="114" idx="2"/>
          </p:cNvCxnSpPr>
          <p:nvPr/>
        </p:nvCxnSpPr>
        <p:spPr bwMode="auto">
          <a:xfrm flipH="1" flipV="1">
            <a:off x="7544157" y="1313404"/>
            <a:ext cx="486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80" name="フローチャート: 書類 79"/>
          <p:cNvSpPr/>
          <p:nvPr/>
        </p:nvSpPr>
        <p:spPr bwMode="auto">
          <a:xfrm>
            <a:off x="3168286" y="6057373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7" name="フローチャート: 書類 86"/>
          <p:cNvSpPr/>
          <p:nvPr/>
        </p:nvSpPr>
        <p:spPr bwMode="auto">
          <a:xfrm>
            <a:off x="1665062" y="608132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勤怠ﾃﾞｰﾀ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0" name="コネクタ: 曲線 89"/>
          <p:cNvCxnSpPr>
            <a:cxnSpLocks/>
          </p:cNvCxnSpPr>
          <p:nvPr/>
        </p:nvCxnSpPr>
        <p:spPr bwMode="auto">
          <a:xfrm rot="5400000" flipH="1" flipV="1">
            <a:off x="5153461" y="1982860"/>
            <a:ext cx="141671" cy="6489168"/>
          </a:xfrm>
          <a:prstGeom prst="curvedConnector3">
            <a:avLst>
              <a:gd name="adj1" fmla="val 9608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テキスト ボックス 90"/>
          <p:cNvSpPr txBox="1"/>
          <p:nvPr/>
        </p:nvSpPr>
        <p:spPr>
          <a:xfrm>
            <a:off x="7655090" y="450505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シフト計画で予算を上書き</a:t>
            </a:r>
          </a:p>
        </p:txBody>
      </p:sp>
    </p:spTree>
    <p:extLst>
      <p:ext uri="{BB962C8B-B14F-4D97-AF65-F5344CB8AC3E}">
        <p14:creationId xmlns:p14="http://schemas.microsoft.com/office/powerpoint/2010/main" val="362835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42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加工ステップ（ 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３：変動費）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四角形: 角を丸くする 3"/>
          <p:cNvSpPr/>
          <p:nvPr/>
        </p:nvSpPr>
        <p:spPr bwMode="auto">
          <a:xfrm>
            <a:off x="179512" y="5285305"/>
            <a:ext cx="265791" cy="1368152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ソースＣＳＶ</a:t>
            </a:r>
          </a:p>
        </p:txBody>
      </p:sp>
      <p:sp>
        <p:nvSpPr>
          <p:cNvPr id="5" name="四角形: 角を丸くする 4"/>
          <p:cNvSpPr/>
          <p:nvPr/>
        </p:nvSpPr>
        <p:spPr bwMode="auto">
          <a:xfrm>
            <a:off x="177517" y="3683804"/>
            <a:ext cx="265791" cy="1368152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ＤＢ：計算ソース</a:t>
            </a:r>
          </a:p>
        </p:txBody>
      </p:sp>
      <p:sp>
        <p:nvSpPr>
          <p:cNvPr id="6" name="四角形: 角を丸くする 5"/>
          <p:cNvSpPr/>
          <p:nvPr/>
        </p:nvSpPr>
        <p:spPr bwMode="auto">
          <a:xfrm>
            <a:off x="175358" y="1700809"/>
            <a:ext cx="265791" cy="1877222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ＤＢ：計算結果</a:t>
            </a:r>
          </a:p>
        </p:txBody>
      </p:sp>
      <p:sp>
        <p:nvSpPr>
          <p:cNvPr id="7" name="四角形: 角を丸くする 6"/>
          <p:cNvSpPr/>
          <p:nvPr/>
        </p:nvSpPr>
        <p:spPr bwMode="auto">
          <a:xfrm>
            <a:off x="175359" y="671511"/>
            <a:ext cx="265791" cy="89871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出力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ＣＳＶ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フローチャート: 書類 13"/>
          <p:cNvSpPr/>
          <p:nvPr/>
        </p:nvSpPr>
        <p:spPr bwMode="auto">
          <a:xfrm>
            <a:off x="4729192" y="5546125"/>
            <a:ext cx="720008" cy="430089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決済手数料マスタ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3661532" y="1807883"/>
            <a:ext cx="2802346" cy="11998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34"/>
          <p:cNvSpPr txBox="1"/>
          <p:nvPr/>
        </p:nvSpPr>
        <p:spPr>
          <a:xfrm>
            <a:off x="3655567" y="1911080"/>
            <a:ext cx="26015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　店舗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36"/>
          <p:cNvSpPr txBox="1"/>
          <p:nvPr/>
        </p:nvSpPr>
        <p:spPr>
          <a:xfrm>
            <a:off x="3655567" y="2141912"/>
            <a:ext cx="27234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荷造運賃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混在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カード手数料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決済手数料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販売手数料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外注作業費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1508135" y="3673419"/>
            <a:ext cx="1888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＜日別売上実績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32" name="テキスト ボックス 34"/>
          <p:cNvSpPr txBox="1"/>
          <p:nvPr/>
        </p:nvSpPr>
        <p:spPr>
          <a:xfrm>
            <a:off x="1691680" y="3952731"/>
            <a:ext cx="16890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配送先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や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配送会社など、変動費計算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に必要な情報が、揃っている（伝票単位）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かつ、ネット各店舗別にデータが存在している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1691680" y="3929596"/>
            <a:ext cx="1689078" cy="89343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6156176" y="3662115"/>
            <a:ext cx="14401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日別労務データ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36" name="正方形/長方形 35"/>
          <p:cNvSpPr/>
          <p:nvPr/>
        </p:nvSpPr>
        <p:spPr bwMode="auto">
          <a:xfrm>
            <a:off x="6251835" y="3919076"/>
            <a:ext cx="1080007" cy="61978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6279731" y="3990932"/>
            <a:ext cx="1096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日別店舗別人別に給与データがある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3501276" y="1546281"/>
            <a:ext cx="1466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＜日別変動費実績＞</a:t>
            </a: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1271593" y="5051956"/>
            <a:ext cx="1440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売上取込の際に、キャンセルなど除いた純粋な売上明細データから、伝票ごとに集計したもので税込額。</a:t>
            </a:r>
          </a:p>
        </p:txBody>
      </p:sp>
      <p:sp>
        <p:nvSpPr>
          <p:cNvPr id="41" name="正方形/長方形 40"/>
          <p:cNvSpPr/>
          <p:nvPr/>
        </p:nvSpPr>
        <p:spPr bwMode="auto">
          <a:xfrm>
            <a:off x="3841410" y="3893982"/>
            <a:ext cx="732382" cy="452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荷造運賃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正方形/長方形 42"/>
          <p:cNvSpPr/>
          <p:nvPr/>
        </p:nvSpPr>
        <p:spPr bwMode="auto">
          <a:xfrm>
            <a:off x="4675150" y="4422310"/>
            <a:ext cx="732382" cy="452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ネット店販売手数料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正方形/長方形 25"/>
          <p:cNvSpPr/>
          <p:nvPr/>
        </p:nvSpPr>
        <p:spPr bwMode="auto">
          <a:xfrm>
            <a:off x="4659134" y="3893981"/>
            <a:ext cx="732382" cy="452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決済手数料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正方形/長方形 26"/>
          <p:cNvSpPr/>
          <p:nvPr/>
        </p:nvSpPr>
        <p:spPr bwMode="auto">
          <a:xfrm>
            <a:off x="3841410" y="4424948"/>
            <a:ext cx="732382" cy="452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ネット店外注作業費マスタ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正方形/長方形 27"/>
          <p:cNvSpPr/>
          <p:nvPr/>
        </p:nvSpPr>
        <p:spPr bwMode="auto">
          <a:xfrm>
            <a:off x="7456351" y="3920481"/>
            <a:ext cx="732382" cy="45200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法定福利費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左中かっこ 1"/>
          <p:cNvSpPr/>
          <p:nvPr/>
        </p:nvSpPr>
        <p:spPr bwMode="auto">
          <a:xfrm rot="5400000">
            <a:off x="3422226" y="1647404"/>
            <a:ext cx="182749" cy="3787861"/>
          </a:xfrm>
          <a:prstGeom prst="leftBrace">
            <a:avLst>
              <a:gd name="adj1" fmla="val 4620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2" name="左中かっこ 41"/>
          <p:cNvSpPr/>
          <p:nvPr/>
        </p:nvSpPr>
        <p:spPr bwMode="auto">
          <a:xfrm rot="5400000">
            <a:off x="7135996" y="2512734"/>
            <a:ext cx="180872" cy="2035295"/>
          </a:xfrm>
          <a:prstGeom prst="leftBrace">
            <a:avLst>
              <a:gd name="adj1" fmla="val 4620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5" name="矢印: 上 44"/>
          <p:cNvSpPr/>
          <p:nvPr/>
        </p:nvSpPr>
        <p:spPr bwMode="auto">
          <a:xfrm rot="3204952">
            <a:off x="3416151" y="2839400"/>
            <a:ext cx="318270" cy="632544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7" name="矢印: 上 46"/>
          <p:cNvSpPr/>
          <p:nvPr/>
        </p:nvSpPr>
        <p:spPr bwMode="auto">
          <a:xfrm rot="17519360">
            <a:off x="6490752" y="2758081"/>
            <a:ext cx="331691" cy="80374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526999" y="5734233"/>
            <a:ext cx="93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マスタデータは全データが置かれる。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456872" y="3728517"/>
            <a:ext cx="10888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トランザクションデータは、他箇所で生成したものをそのまま利用する。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マスタデータは全データを総入れ替え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5559962" y="813486"/>
            <a:ext cx="1243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この段階では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用の出力はしない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459487" y="2347032"/>
            <a:ext cx="713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ヶ月分のデータを計算し、総入れ替え</a:t>
            </a:r>
          </a:p>
        </p:txBody>
      </p:sp>
      <p:sp>
        <p:nvSpPr>
          <p:cNvPr id="52" name="フローチャート: 書類 51"/>
          <p:cNvSpPr/>
          <p:nvPr/>
        </p:nvSpPr>
        <p:spPr bwMode="auto">
          <a:xfrm>
            <a:off x="3942862" y="5546124"/>
            <a:ext cx="720008" cy="430089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荷造運賃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</a:p>
        </p:txBody>
      </p:sp>
      <p:sp>
        <p:nvSpPr>
          <p:cNvPr id="53" name="フローチャート: 書類 52"/>
          <p:cNvSpPr/>
          <p:nvPr/>
        </p:nvSpPr>
        <p:spPr bwMode="auto">
          <a:xfrm>
            <a:off x="3937033" y="6069985"/>
            <a:ext cx="720008" cy="554301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ネット店外注作業費マスタ</a:t>
            </a:r>
          </a:p>
        </p:txBody>
      </p:sp>
      <p:sp>
        <p:nvSpPr>
          <p:cNvPr id="54" name="フローチャート: 書類 53"/>
          <p:cNvSpPr/>
          <p:nvPr/>
        </p:nvSpPr>
        <p:spPr bwMode="auto">
          <a:xfrm>
            <a:off x="4752546" y="6069985"/>
            <a:ext cx="720008" cy="523862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ネット店販売手数料マスタ</a:t>
            </a:r>
          </a:p>
        </p:txBody>
      </p:sp>
      <p:sp>
        <p:nvSpPr>
          <p:cNvPr id="55" name="フローチャート: 書類 54"/>
          <p:cNvSpPr/>
          <p:nvPr/>
        </p:nvSpPr>
        <p:spPr bwMode="auto">
          <a:xfrm>
            <a:off x="7459673" y="5519189"/>
            <a:ext cx="720008" cy="430089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法定福利費マスタ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矢印: 上 55"/>
          <p:cNvSpPr/>
          <p:nvPr/>
        </p:nvSpPr>
        <p:spPr bwMode="auto">
          <a:xfrm>
            <a:off x="4169022" y="5078890"/>
            <a:ext cx="848132" cy="288033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8" name="矢印: 上 57"/>
          <p:cNvSpPr/>
          <p:nvPr/>
        </p:nvSpPr>
        <p:spPr bwMode="auto">
          <a:xfrm>
            <a:off x="7382964" y="5051956"/>
            <a:ext cx="848132" cy="288033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60" name="直線矢印コネクタ 59"/>
          <p:cNvCxnSpPr>
            <a:cxnSpLocks/>
          </p:cNvCxnSpPr>
          <p:nvPr/>
        </p:nvCxnSpPr>
        <p:spPr bwMode="auto">
          <a:xfrm flipV="1">
            <a:off x="2135671" y="4832982"/>
            <a:ext cx="222941" cy="2189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矢印: 上 61"/>
          <p:cNvSpPr/>
          <p:nvPr/>
        </p:nvSpPr>
        <p:spPr bwMode="auto">
          <a:xfrm>
            <a:off x="4918468" y="1310483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3" name="直線コネクタ 12"/>
          <p:cNvCxnSpPr/>
          <p:nvPr/>
        </p:nvCxnSpPr>
        <p:spPr bwMode="auto">
          <a:xfrm>
            <a:off x="4874217" y="861525"/>
            <a:ext cx="602713" cy="28803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線コネクタ 62"/>
          <p:cNvCxnSpPr>
            <a:cxnSpLocks/>
          </p:cNvCxnSpPr>
          <p:nvPr/>
        </p:nvCxnSpPr>
        <p:spPr bwMode="auto">
          <a:xfrm flipV="1">
            <a:off x="4874217" y="856659"/>
            <a:ext cx="602713" cy="29289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テキスト ボックス 43"/>
          <p:cNvSpPr txBox="1"/>
          <p:nvPr/>
        </p:nvSpPr>
        <p:spPr>
          <a:xfrm>
            <a:off x="3824731" y="3287303"/>
            <a:ext cx="9446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グループ</a:t>
            </a:r>
            <a:r>
              <a:rPr lang="en-US" altLang="ja-JP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</a:t>
            </a:r>
            <a:endParaRPr kumimoji="1" lang="ja-JP" altLang="en-US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7354075" y="3281868"/>
            <a:ext cx="9446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グループ</a:t>
            </a:r>
            <a:r>
              <a:rPr lang="en-US" altLang="ja-JP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</a:t>
            </a:r>
            <a:endParaRPr kumimoji="1" lang="ja-JP" altLang="en-US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423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43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３：変動費） ：データソース（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11960" y="750988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ここでは主要項目だけ示しています。全項目はファイル定義を参照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02496" y="2895426"/>
            <a:ext cx="18867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＜変動費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荷造運賃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29" name="フローチャート: 書類 28"/>
          <p:cNvSpPr/>
          <p:nvPr/>
        </p:nvSpPr>
        <p:spPr bwMode="auto">
          <a:xfrm>
            <a:off x="102496" y="3206903"/>
            <a:ext cx="3956669" cy="1109588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07504" y="3292651"/>
            <a:ext cx="38727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　注文タイプ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配送会社　都道府県　単価　有効期間</a:t>
            </a: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107504" y="3564305"/>
            <a:ext cx="4185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荷造運賃　自転車含む　　　西濃　　　　北海道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4000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荷造運賃　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自転車含む　　　西濃　　　　青森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荷造運賃　自転車以外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佐川　　　　北海道　　　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2016/5/5</a:t>
            </a: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荷造運賃　自転車以外　　　佐川　　　　北海道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2016/5/6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950269" y="5148467"/>
            <a:ext cx="55659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　支払区分コード　掛元　　　　単価　割合　　有効期間　　　備考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945616" y="5387400"/>
            <a:ext cx="6290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カード手数料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998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売上の合計金額　　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管理は売上の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カード手数料　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  売上の合計金額 　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Amazon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ペイメント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会員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は売上の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カード手数料　 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　売上の合計金額  　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Amazon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ペイメント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ｹﾞｽﾄ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は売上の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4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決済手数料　　　 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37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  注文件数　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220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コンビニ決済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ｲｰｺﾝ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は注文件数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単価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決済手数料　　　 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　売上の合計金額　 　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0.035  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リクルート支払は売上の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3.5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フローチャート: 書類 45"/>
          <p:cNvSpPr/>
          <p:nvPr/>
        </p:nvSpPr>
        <p:spPr bwMode="auto">
          <a:xfrm>
            <a:off x="827584" y="5142345"/>
            <a:ext cx="6696744" cy="1384351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408105" y="994828"/>
            <a:ext cx="18142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＜日別売上実績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53" name="テキスト ボックス 34"/>
          <p:cNvSpPr txBox="1"/>
          <p:nvPr/>
        </p:nvSpPr>
        <p:spPr>
          <a:xfrm>
            <a:off x="525409" y="1274704"/>
            <a:ext cx="81810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受注番号  支店名略称　店舗区分　集計部門　売上日　注文タイプ　自転車台数　合計金額　配送先都道府県コード　配送会社コード　支払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区分コード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テキスト ボックス 34"/>
          <p:cNvSpPr txBox="1"/>
          <p:nvPr/>
        </p:nvSpPr>
        <p:spPr>
          <a:xfrm>
            <a:off x="3364360" y="1475508"/>
            <a:ext cx="9916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自転車含む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自転車含む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自転車以外</a:t>
            </a:r>
          </a:p>
        </p:txBody>
      </p:sp>
      <p:sp>
        <p:nvSpPr>
          <p:cNvPr id="59" name="正方形/長方形 58"/>
          <p:cNvSpPr/>
          <p:nvPr/>
        </p:nvSpPr>
        <p:spPr bwMode="auto">
          <a:xfrm>
            <a:off x="525411" y="1251569"/>
            <a:ext cx="8007029" cy="89343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708639" y="4882297"/>
            <a:ext cx="20308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＜変動費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決済手数料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マスタ＞</a:t>
            </a:r>
          </a:p>
        </p:txBody>
      </p:sp>
      <p:sp>
        <p:nvSpPr>
          <p:cNvPr id="21" name="テキスト ボックス 34"/>
          <p:cNvSpPr txBox="1"/>
          <p:nvPr/>
        </p:nvSpPr>
        <p:spPr>
          <a:xfrm>
            <a:off x="1498965" y="6066725"/>
            <a:ext cx="924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名称の前方一致でなくコードで変換する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大かっこ 1"/>
          <p:cNvSpPr/>
          <p:nvPr/>
        </p:nvSpPr>
        <p:spPr bwMode="auto">
          <a:xfrm>
            <a:off x="1485226" y="6122492"/>
            <a:ext cx="924131" cy="314605"/>
          </a:xfrm>
          <a:prstGeom prst="bracketPair">
            <a:avLst/>
          </a:prstGeom>
          <a:noFill/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3" name="テキスト ボックス 34"/>
          <p:cNvSpPr txBox="1"/>
          <p:nvPr/>
        </p:nvSpPr>
        <p:spPr>
          <a:xfrm>
            <a:off x="2603675" y="4873990"/>
            <a:ext cx="38405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支払区分コードが一致するものを本マスタで計算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テキスト ボックス 34"/>
          <p:cNvSpPr txBox="1"/>
          <p:nvPr/>
        </p:nvSpPr>
        <p:spPr>
          <a:xfrm>
            <a:off x="1886959" y="2708920"/>
            <a:ext cx="22902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集計部門＝「ネット」かつ 配送会社、注文タイプ、都道府県が一致する場合だけが計算対象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テキスト ボックス 34"/>
          <p:cNvSpPr txBox="1"/>
          <p:nvPr/>
        </p:nvSpPr>
        <p:spPr>
          <a:xfrm>
            <a:off x="1820989" y="4280782"/>
            <a:ext cx="206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自転車含む、は自転車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台あたり、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自転車以外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、は注文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あたり</a:t>
            </a:r>
          </a:p>
        </p:txBody>
      </p:sp>
      <p:sp>
        <p:nvSpPr>
          <p:cNvPr id="32" name="テキスト ボックス 34"/>
          <p:cNvSpPr txBox="1"/>
          <p:nvPr/>
        </p:nvSpPr>
        <p:spPr>
          <a:xfrm>
            <a:off x="2208628" y="980728"/>
            <a:ext cx="36554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ネット各店は、集計部門「ネット」として集計されている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4387198" y="2912533"/>
            <a:ext cx="39097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　単価　有効期間　　　備考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433222" y="3127016"/>
            <a:ext cx="44574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外注作業費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売上伝票データにて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自転車以外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注文件数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単価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フローチャート: 書類 35"/>
          <p:cNvSpPr/>
          <p:nvPr/>
        </p:nvSpPr>
        <p:spPr bwMode="auto">
          <a:xfrm>
            <a:off x="4315190" y="2913718"/>
            <a:ext cx="4544275" cy="717263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283968" y="2696509"/>
            <a:ext cx="28473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＜変動費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ネット店外注作業費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マスタ＞</a:t>
            </a:r>
          </a:p>
        </p:txBody>
      </p:sp>
      <p:cxnSp>
        <p:nvCxnSpPr>
          <p:cNvPr id="38" name="直線矢印コネクタ 37"/>
          <p:cNvCxnSpPr>
            <a:cxnSpLocks/>
          </p:cNvCxnSpPr>
          <p:nvPr/>
        </p:nvCxnSpPr>
        <p:spPr bwMode="auto">
          <a:xfrm flipV="1">
            <a:off x="2526677" y="4060222"/>
            <a:ext cx="245123" cy="2647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テキスト ボックス 34"/>
          <p:cNvSpPr txBox="1"/>
          <p:nvPr/>
        </p:nvSpPr>
        <p:spPr>
          <a:xfrm>
            <a:off x="6605744" y="2488395"/>
            <a:ext cx="228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集計部門＝「ネット」かつ 注文タイプが「自転車以外」の場合のみ 計算対象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テキスト ボックス 34"/>
          <p:cNvSpPr txBox="1"/>
          <p:nvPr/>
        </p:nvSpPr>
        <p:spPr>
          <a:xfrm>
            <a:off x="2483768" y="6201236"/>
            <a:ext cx="30891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「売上の合計金額」選択時は「割合」を使用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「注文件数」選択時は「単価」を使用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左中かっこ 47"/>
          <p:cNvSpPr/>
          <p:nvPr/>
        </p:nvSpPr>
        <p:spPr bwMode="auto">
          <a:xfrm rot="5400000" flipH="1" flipV="1">
            <a:off x="3215050" y="5376753"/>
            <a:ext cx="196273" cy="1509519"/>
          </a:xfrm>
          <a:prstGeom prst="leftBrace">
            <a:avLst>
              <a:gd name="adj1" fmla="val 4620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60" name="直線矢印コネクタ 59"/>
          <p:cNvCxnSpPr>
            <a:cxnSpLocks/>
          </p:cNvCxnSpPr>
          <p:nvPr/>
        </p:nvCxnSpPr>
        <p:spPr bwMode="auto">
          <a:xfrm flipH="1" flipV="1">
            <a:off x="3517319" y="1939064"/>
            <a:ext cx="304310" cy="3219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3" name="テキスト ボックス 34"/>
          <p:cNvSpPr txBox="1"/>
          <p:nvPr/>
        </p:nvSpPr>
        <p:spPr>
          <a:xfrm>
            <a:off x="3517319" y="2271332"/>
            <a:ext cx="1054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この２タイプに分類されている</a:t>
            </a:r>
          </a:p>
        </p:txBody>
      </p:sp>
      <p:sp>
        <p:nvSpPr>
          <p:cNvPr id="49" name="テキスト ボックス 34"/>
          <p:cNvSpPr txBox="1"/>
          <p:nvPr/>
        </p:nvSpPr>
        <p:spPr>
          <a:xfrm>
            <a:off x="986458" y="1467326"/>
            <a:ext cx="19434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Yahoo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ストア　モール　  ネット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下鴨店　　　実店舗　　  下鴨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本店</a:t>
            </a:r>
            <a:r>
              <a:rPr kumimoji="1"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QBEI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本店　　　 ネット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0" name="直線矢印コネクタ 49"/>
          <p:cNvCxnSpPr>
            <a:cxnSpLocks/>
          </p:cNvCxnSpPr>
          <p:nvPr/>
        </p:nvCxnSpPr>
        <p:spPr bwMode="auto">
          <a:xfrm flipH="1" flipV="1">
            <a:off x="2043883" y="2064030"/>
            <a:ext cx="264199" cy="2507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左中かっこ 50"/>
          <p:cNvSpPr/>
          <p:nvPr/>
        </p:nvSpPr>
        <p:spPr bwMode="auto">
          <a:xfrm rot="16200000" flipV="1">
            <a:off x="1871416" y="1042911"/>
            <a:ext cx="173504" cy="1943421"/>
          </a:xfrm>
          <a:prstGeom prst="leftBrace">
            <a:avLst>
              <a:gd name="adj1" fmla="val 4620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54" name="テキスト ボックス 34"/>
          <p:cNvSpPr txBox="1"/>
          <p:nvPr/>
        </p:nvSpPr>
        <p:spPr>
          <a:xfrm>
            <a:off x="827584" y="2241558"/>
            <a:ext cx="245544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基本は店舗別には集計部門を利用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するが、販売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手数料計算では、店舗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区分＝「モール」を対象として、個別の支店別にみる。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4292803" y="3654889"/>
            <a:ext cx="25936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＜変動費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ネット店販売手数料</a:t>
            </a:r>
            <a:r>
              <a:rPr kumimoji="1"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マスタ＞</a:t>
            </a: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4332456" y="4004287"/>
            <a:ext cx="4374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　支店コード　割合　　有効期間　　　備考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テキスト ボックス 56"/>
          <p:cNvSpPr txBox="1"/>
          <p:nvPr/>
        </p:nvSpPr>
        <p:spPr>
          <a:xfrm>
            <a:off x="4314019" y="4250508"/>
            <a:ext cx="4520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販売手数料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91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QBEI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Yahoo!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店は売上総合計金額の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販売手数料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92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自転車の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QBEI</a:t>
            </a:r>
            <a:r>
              <a:rPr lang="ja-JP" altLang="en-US" sz="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は売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上総合計金額の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販売手数料　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93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0.08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QBEI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Amazon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店は売上総合計金額の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フローチャート: 書類 60"/>
          <p:cNvSpPr/>
          <p:nvPr/>
        </p:nvSpPr>
        <p:spPr bwMode="auto">
          <a:xfrm>
            <a:off x="4297813" y="3901896"/>
            <a:ext cx="4464496" cy="923755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テキスト ボックス 34"/>
          <p:cNvSpPr txBox="1"/>
          <p:nvPr/>
        </p:nvSpPr>
        <p:spPr>
          <a:xfrm>
            <a:off x="6677683" y="3676280"/>
            <a:ext cx="22143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店舗区分＝「モール」の場合に計算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3781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44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３：変動費） ：データソース（</a:t>
            </a:r>
            <a:r>
              <a:rPr lang="ja-JP" altLang="en-US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グループ</a:t>
            </a:r>
            <a:r>
              <a:rPr lang="en-US" altLang="ja-JP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4211960" y="750988"/>
            <a:ext cx="43924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ここでは主要項目だけ示しています。全項目はファイル定義を参照</a:t>
            </a:r>
            <a:endParaRPr kumimoji="1" lang="ja-JP" altLang="en-US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2339752" y="1340768"/>
            <a:ext cx="2160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日別労務データ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＞</a:t>
            </a:r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2267744" y="4071999"/>
            <a:ext cx="31041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 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割合　 有効期間　　　備考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267744" y="4286482"/>
            <a:ext cx="4048453" cy="218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法定福利費　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0.15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2015/1/1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～ 　　日別実働実績にて社員給与の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％　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フローチャート: 書類 46"/>
          <p:cNvSpPr/>
          <p:nvPr/>
        </p:nvSpPr>
        <p:spPr bwMode="auto">
          <a:xfrm>
            <a:off x="2195736" y="4073184"/>
            <a:ext cx="4120461" cy="717263"/>
          </a:xfrm>
          <a:prstGeom prst="flowChartDocumen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テキスト ボックス 47"/>
          <p:cNvSpPr txBox="1"/>
          <p:nvPr/>
        </p:nvSpPr>
        <p:spPr>
          <a:xfrm>
            <a:off x="2164514" y="3855975"/>
            <a:ext cx="23709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＜変動費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法定福利費</a:t>
            </a:r>
            <a:r>
              <a:rPr lang="en-US" altLang="ja-JP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マスタ＞</a:t>
            </a: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2591219" y="1642992"/>
            <a:ext cx="3115619" cy="161672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34"/>
          <p:cNvSpPr txBox="1"/>
          <p:nvPr/>
        </p:nvSpPr>
        <p:spPr>
          <a:xfrm>
            <a:off x="2585255" y="1746190"/>
            <a:ext cx="302414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</a:t>
            </a:r>
            <a:r>
              <a:rPr kumimoji="1" lang="ja-JP" altLang="en-US" sz="900" b="1" u="sng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勤務店舗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氏名　従業員種別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労務費実績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</a:p>
        </p:txBody>
      </p:sp>
      <p:sp>
        <p:nvSpPr>
          <p:cNvPr id="17" name="テキスト ボックス 36"/>
          <p:cNvSpPr txBox="1"/>
          <p:nvPr/>
        </p:nvSpPr>
        <p:spPr>
          <a:xfrm>
            <a:off x="2585253" y="1977022"/>
            <a:ext cx="3018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岩本浩司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岩本浩司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 7500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2017/4/3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岩本浩司　社員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37"/>
          <p:cNvSpPr txBox="1"/>
          <p:nvPr/>
        </p:nvSpPr>
        <p:spPr>
          <a:xfrm>
            <a:off x="2585253" y="2790489"/>
            <a:ext cx="3121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3200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2017/4/2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浅井重正　アルバイト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 4000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　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3553073" y="2538356"/>
            <a:ext cx="338554" cy="28469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dirty="0"/>
              <a:t>・・・</a:t>
            </a:r>
          </a:p>
        </p:txBody>
      </p:sp>
    </p:spTree>
    <p:extLst>
      <p:ext uri="{BB962C8B-B14F-4D97-AF65-F5344CB8AC3E}">
        <p14:creationId xmlns:p14="http://schemas.microsoft.com/office/powerpoint/2010/main" val="6641027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45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３：変動費） ：生成ロジック（日別変動費実績）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827584" y="890131"/>
            <a:ext cx="733787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＜作成手順＞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以下でいう２ヶ月分とは、勤怠関連と同じく「今月と先月」。つまり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日時点では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6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月分と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7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月分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１．日別変動費実績テーブルの２ヶ月分をクリアする（生成しなおすということ）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２．店別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日別に、以下の勘定科目について実績データを２ヶ月分計算して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日別変動費実績テーブルに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生成する。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ただし、各マスタの値を使う際には、計算元データの該当日付にマッチした有効期間のマスタデータを使用すること。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２－１．法定福利費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57188" indent="-357188"/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・日別労務データ（②－１で生成済）を見て、従業員種別＝「社員」の給与（労務費）データを日別に合計し、そこに変動費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法定福利費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マスタの「割合」をかけた金額をセットする。（店舗は勤務店舗を使用する）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２－２．外注作業費（変動）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57188" indent="-357188"/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・日別売上実績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テーブル（①で生成済）を見て、集計部門＝「ネット」かつ　注文タイプ＝「自転車以外」のデータを抽出し、日別の件数（レコード件数）に変動費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ネット店外注作業費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マスタの「単価」をかけた金額をセットする。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２－３．荷造運賃（混在）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57188" indent="-357188"/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・日別売上実績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テーブル（①で生成済）を見て、集計部門＝「ネット」かつ　配送会社が入ってるデータのみを日別に抽出する。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57188" indent="-357188"/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・そのうえで、注文タイプ＝「自転車含む」「自転車以外」のデータを抽出し、その「配送先都道府県」「配送会社」「台数」を見て、それに対応する変動費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荷造運賃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マスタの「単価」をかけた金額をセットする。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・なお、注文タイプ＝「自転車含む」の場合は台数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単価、「自転車以外」の場合は注文件数（レコード数）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×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単価。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２－４．</a:t>
            </a:r>
            <a:r>
              <a:rPr kumimoji="1"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カード手数料（非課税）、決済手数料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（課税）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・日別売上実績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テーブル（①で生成済）を見て、支払区分が入ってるデータのみを日別に抽出する。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57188" indent="-357188"/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・そのうえで、変動費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決済手数料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マスタに存在する支払区分コードと合致する場合、そのマスタに設定されている計算ロジックに従って計算し、勘定科目別に合計して金額をセットする。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２－５．販売手数料（課税）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（①で生成済）を見て、店舗区分＝「モール」のデータのみを日別に抽出する。</a:t>
            </a:r>
            <a:endParaRPr lang="en-US" altLang="ja-JP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57188" indent="-357188"/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・支店コードに従った掛け率が変動費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ネット店販売手数料</a:t>
            </a:r>
            <a:r>
              <a: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マスタに登録されているので、それを掛けて日別に金額を合計してセットする。</a:t>
            </a:r>
            <a:endParaRPr kumimoji="1" lang="ja-JP" altLang="en-US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3568" y="5932173"/>
            <a:ext cx="79208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9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※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注文タイプの定義</a:t>
            </a:r>
            <a:endParaRPr kumimoji="0" lang="en-US" altLang="ja-JP" sz="900" dirty="0">
              <a:solidFill>
                <a:srgbClr val="22222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ja-JP" altLang="ja-JP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kumimoji="0" lang="ja-JP" altLang="ja-JP" sz="9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・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「自転車含む」＝同じ受注番号（同じ伝票）内に「売上区分</a:t>
            </a:r>
            <a:r>
              <a:rPr kumimoji="0" lang="en-US" altLang="ja-JP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1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」が「</a:t>
            </a:r>
            <a:r>
              <a:rPr kumimoji="0" lang="ja-JP" altLang="ja-JP" sz="9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自転車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」の商品を一つ以上含む伝票</a:t>
            </a:r>
            <a:endParaRPr kumimoji="0" lang="en-US" altLang="ja-JP" sz="900" dirty="0">
              <a:solidFill>
                <a:srgbClr val="22222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  <a:p>
            <a:pPr lvl="0"/>
            <a:r>
              <a:rPr kumimoji="0" lang="ja-JP" altLang="en-US" sz="9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・「自転車以外」＝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同じ受注番号（同じ伝票）内に「売上区分</a:t>
            </a:r>
            <a:r>
              <a:rPr kumimoji="0" lang="en-US" altLang="ja-JP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1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」が「</a:t>
            </a:r>
            <a:r>
              <a:rPr kumimoji="0" lang="ja-JP" altLang="ja-JP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自転車</a:t>
            </a:r>
            <a:r>
              <a:rPr kumimoji="0" lang="ja-JP" altLang="en-US" sz="900" dirty="0">
                <a:solidFill>
                  <a:srgbClr val="222222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 panose="020B0604020202020204" pitchFamily="34" charset="0"/>
              </a:rPr>
              <a:t>」の商品を一つも含まない伝票</a:t>
            </a:r>
            <a:endParaRPr kumimoji="0" lang="en-US" altLang="ja-JP" sz="900" dirty="0">
              <a:solidFill>
                <a:srgbClr val="222222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4" name="大かっこ 3"/>
          <p:cNvSpPr/>
          <p:nvPr/>
        </p:nvSpPr>
        <p:spPr bwMode="auto">
          <a:xfrm>
            <a:off x="611560" y="6021288"/>
            <a:ext cx="6048672" cy="576063"/>
          </a:xfrm>
          <a:prstGeom prst="bracketPair">
            <a:avLst>
              <a:gd name="adj" fmla="val 11515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61046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46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771800" y="2708920"/>
            <a:ext cx="2952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②－４</a:t>
            </a:r>
            <a:endParaRPr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  <a:endParaRPr kumimoji="1" lang="en-US" altLang="ja-JP" sz="3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339919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正方形/長方形 79"/>
          <p:cNvSpPr/>
          <p:nvPr/>
        </p:nvSpPr>
        <p:spPr bwMode="auto">
          <a:xfrm>
            <a:off x="5212583" y="4095702"/>
            <a:ext cx="1205719" cy="1130432"/>
          </a:xfrm>
          <a:prstGeom prst="rect">
            <a:avLst/>
          </a:prstGeom>
          <a:solidFill>
            <a:srgbClr val="FFCCCC"/>
          </a:soli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77" name="正方形/長方形 76"/>
          <p:cNvSpPr/>
          <p:nvPr/>
        </p:nvSpPr>
        <p:spPr bwMode="auto">
          <a:xfrm>
            <a:off x="1525340" y="2780928"/>
            <a:ext cx="5550463" cy="3886572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47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データソースと加工ステップ　 ～②費用関連　→　②－４：固定費～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正方形/長方形 13"/>
          <p:cNvSpPr/>
          <p:nvPr/>
        </p:nvSpPr>
        <p:spPr bwMode="auto">
          <a:xfrm>
            <a:off x="683568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正方形/長方形 14"/>
          <p:cNvSpPr/>
          <p:nvPr/>
        </p:nvSpPr>
        <p:spPr bwMode="auto">
          <a:xfrm>
            <a:off x="1619673" y="284776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/>
          <p:cNvSpPr/>
          <p:nvPr/>
        </p:nvSpPr>
        <p:spPr bwMode="auto">
          <a:xfrm>
            <a:off x="8108840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/>
          <p:cNvSpPr/>
          <p:nvPr/>
        </p:nvSpPr>
        <p:spPr bwMode="auto">
          <a:xfrm>
            <a:off x="7232779" y="515660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日別予算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 bwMode="auto">
          <a:xfrm>
            <a:off x="1619672" y="5298279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4401461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日別変動費実績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/>
          <p:cNvSpPr/>
          <p:nvPr/>
        </p:nvSpPr>
        <p:spPr bwMode="auto">
          <a:xfrm>
            <a:off x="5265557" y="444065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固定費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6" name="コネクタ: カギ線 5"/>
          <p:cNvCxnSpPr>
            <a:cxnSpLocks/>
            <a:stCxn id="15" idx="2"/>
            <a:endCxn id="21" idx="0"/>
          </p:cNvCxnSpPr>
          <p:nvPr/>
        </p:nvCxnSpPr>
        <p:spPr bwMode="auto">
          <a:xfrm rot="16200000" flipH="1">
            <a:off x="2790190" y="2469340"/>
            <a:ext cx="1160834" cy="2781788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コネクタ: カギ線 27"/>
          <p:cNvCxnSpPr>
            <a:cxnSpLocks/>
            <a:stCxn id="15" idx="2"/>
            <a:endCxn id="22" idx="0"/>
          </p:cNvCxnSpPr>
          <p:nvPr/>
        </p:nvCxnSpPr>
        <p:spPr bwMode="auto">
          <a:xfrm rot="16200000" flipH="1">
            <a:off x="3222238" y="2037292"/>
            <a:ext cx="1160834" cy="3645884"/>
          </a:xfrm>
          <a:prstGeom prst="bentConnector3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コネクタ: カギ線 43"/>
          <p:cNvCxnSpPr>
            <a:cxnSpLocks/>
            <a:stCxn id="15" idx="2"/>
            <a:endCxn id="18" idx="0"/>
          </p:cNvCxnSpPr>
          <p:nvPr/>
        </p:nvCxnSpPr>
        <p:spPr bwMode="auto">
          <a:xfrm rot="5400000">
            <a:off x="970482" y="4289048"/>
            <a:ext cx="2018462" cy="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正方形/長方形 135"/>
          <p:cNvSpPr/>
          <p:nvPr/>
        </p:nvSpPr>
        <p:spPr bwMode="auto">
          <a:xfrm>
            <a:off x="5899843" y="385859"/>
            <a:ext cx="296480" cy="18810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6" name="テキスト ボックス 85"/>
          <p:cNvSpPr txBox="1"/>
          <p:nvPr/>
        </p:nvSpPr>
        <p:spPr>
          <a:xfrm>
            <a:off x="6202803" y="367653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テーブル</a:t>
            </a:r>
          </a:p>
        </p:txBody>
      </p:sp>
      <p:sp>
        <p:nvSpPr>
          <p:cNvPr id="2" name="フローチャート: 書類 1"/>
          <p:cNvSpPr/>
          <p:nvPr/>
        </p:nvSpPr>
        <p:spPr bwMode="auto">
          <a:xfrm>
            <a:off x="684476" y="609329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する蔵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売上ﾃﾞｰﾀ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フローチャート: 書類 98"/>
          <p:cNvSpPr/>
          <p:nvPr/>
        </p:nvSpPr>
        <p:spPr bwMode="auto">
          <a:xfrm>
            <a:off x="6262771" y="6106340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弥生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会計ﾃﾞｰﾀ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3" name="正方形/長方形 102"/>
          <p:cNvSpPr/>
          <p:nvPr/>
        </p:nvSpPr>
        <p:spPr bwMode="auto">
          <a:xfrm>
            <a:off x="6300192" y="5345118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6000" rIns="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確定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</a:p>
        </p:txBody>
      </p:sp>
      <p:sp>
        <p:nvSpPr>
          <p:cNvPr id="106" name="フローチャート: 書類 105"/>
          <p:cNvSpPr/>
          <p:nvPr/>
        </p:nvSpPr>
        <p:spPr bwMode="auto">
          <a:xfrm>
            <a:off x="8028384" y="609717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費用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7" name="フローチャート: 書類 106"/>
          <p:cNvSpPr/>
          <p:nvPr/>
        </p:nvSpPr>
        <p:spPr bwMode="auto">
          <a:xfrm>
            <a:off x="7258436" y="6101102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ja-JP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kintone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</a:t>
            </a: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予算ﾃﾞｰﾀ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" name="直線矢印コネクタ 9"/>
          <p:cNvCxnSpPr>
            <a:cxnSpLocks/>
            <a:stCxn id="2" idx="0"/>
            <a:endCxn id="14" idx="2"/>
          </p:cNvCxnSpPr>
          <p:nvPr/>
        </p:nvCxnSpPr>
        <p:spPr bwMode="auto">
          <a:xfrm flipH="1" flipV="1">
            <a:off x="1043608" y="5717072"/>
            <a:ext cx="908" cy="3762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9" name="直線矢印コネクタ 108"/>
          <p:cNvCxnSpPr>
            <a:cxnSpLocks/>
            <a:stCxn id="107" idx="0"/>
            <a:endCxn id="17" idx="2"/>
          </p:cNvCxnSpPr>
          <p:nvPr/>
        </p:nvCxnSpPr>
        <p:spPr bwMode="auto">
          <a:xfrm flipH="1" flipV="1">
            <a:off x="7592819" y="5588656"/>
            <a:ext cx="25657" cy="5124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0" name="直線矢印コネクタ 109"/>
          <p:cNvCxnSpPr>
            <a:cxnSpLocks/>
            <a:stCxn id="106" idx="0"/>
            <a:endCxn id="16" idx="2"/>
          </p:cNvCxnSpPr>
          <p:nvPr/>
        </p:nvCxnSpPr>
        <p:spPr bwMode="auto">
          <a:xfrm flipV="1">
            <a:off x="8388424" y="5588656"/>
            <a:ext cx="80456" cy="5085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円弧 41"/>
          <p:cNvSpPr/>
          <p:nvPr/>
        </p:nvSpPr>
        <p:spPr bwMode="auto">
          <a:xfrm>
            <a:off x="7455535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45" name="直線コネクタ 44"/>
          <p:cNvCxnSpPr>
            <a:cxnSpLocks/>
            <a:stCxn id="42" idx="2"/>
          </p:cNvCxnSpPr>
          <p:nvPr/>
        </p:nvCxnSpPr>
        <p:spPr bwMode="auto">
          <a:xfrm flipV="1">
            <a:off x="7730103" y="4998839"/>
            <a:ext cx="495381" cy="145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2" name="直線コネクタ 111"/>
          <p:cNvCxnSpPr>
            <a:cxnSpLocks/>
          </p:cNvCxnSpPr>
          <p:nvPr/>
        </p:nvCxnSpPr>
        <p:spPr bwMode="auto">
          <a:xfrm>
            <a:off x="8224216" y="4992891"/>
            <a:ext cx="635" cy="1582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9" name="直線コネクタ 118"/>
          <p:cNvCxnSpPr>
            <a:cxnSpLocks/>
            <a:endCxn id="101" idx="0"/>
          </p:cNvCxnSpPr>
          <p:nvPr/>
        </p:nvCxnSpPr>
        <p:spPr bwMode="auto">
          <a:xfrm>
            <a:off x="5727160" y="4992891"/>
            <a:ext cx="802534" cy="51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2" name="直線コネクタ 121"/>
          <p:cNvCxnSpPr>
            <a:cxnSpLocks/>
          </p:cNvCxnSpPr>
          <p:nvPr/>
        </p:nvCxnSpPr>
        <p:spPr bwMode="auto">
          <a:xfrm>
            <a:off x="5734976" y="4869160"/>
            <a:ext cx="0" cy="11623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5" name="フローチャート: 書類 124"/>
          <p:cNvSpPr/>
          <p:nvPr/>
        </p:nvSpPr>
        <p:spPr bwMode="auto">
          <a:xfrm>
            <a:off x="6982851" y="389342"/>
            <a:ext cx="289983" cy="223620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/>
          <p:cNvSpPr txBox="1"/>
          <p:nvPr/>
        </p:nvSpPr>
        <p:spPr>
          <a:xfrm>
            <a:off x="7344918" y="384317"/>
            <a:ext cx="726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CSV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フローチャート: 書類 127"/>
          <p:cNvSpPr/>
          <p:nvPr/>
        </p:nvSpPr>
        <p:spPr bwMode="auto">
          <a:xfrm>
            <a:off x="787648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29" name="直線矢印コネクタ 128"/>
          <p:cNvCxnSpPr>
            <a:cxnSpLocks/>
            <a:stCxn id="14" idx="0"/>
            <a:endCxn id="128" idx="2"/>
          </p:cNvCxnSpPr>
          <p:nvPr/>
        </p:nvCxnSpPr>
        <p:spPr bwMode="auto">
          <a:xfrm flipV="1">
            <a:off x="1043608" y="1333397"/>
            <a:ext cx="111974" cy="39516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1" name="テキスト ボックス 130"/>
          <p:cNvSpPr txBox="1"/>
          <p:nvPr/>
        </p:nvSpPr>
        <p:spPr>
          <a:xfrm>
            <a:off x="191465" y="845787"/>
            <a:ext cx="658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これを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へ送る→</a:t>
            </a:r>
          </a:p>
        </p:txBody>
      </p:sp>
      <p:sp>
        <p:nvSpPr>
          <p:cNvPr id="62" name="正方形/長方形 61"/>
          <p:cNvSpPr/>
          <p:nvPr/>
        </p:nvSpPr>
        <p:spPr bwMode="auto">
          <a:xfrm>
            <a:off x="2393381" y="5285024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</a:p>
        </p:txBody>
      </p:sp>
      <p:cxnSp>
        <p:nvCxnSpPr>
          <p:cNvPr id="63" name="直線矢印コネクタ 62"/>
          <p:cNvCxnSpPr>
            <a:cxnSpLocks/>
            <a:endCxn id="62" idx="2"/>
          </p:cNvCxnSpPr>
          <p:nvPr/>
        </p:nvCxnSpPr>
        <p:spPr bwMode="auto">
          <a:xfrm flipV="1">
            <a:off x="2025102" y="5717072"/>
            <a:ext cx="728319" cy="3642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6" name="直線矢印コネクタ 65"/>
          <p:cNvCxnSpPr>
            <a:cxnSpLocks/>
            <a:endCxn id="18" idx="2"/>
          </p:cNvCxnSpPr>
          <p:nvPr/>
        </p:nvCxnSpPr>
        <p:spPr bwMode="auto">
          <a:xfrm flipH="1" flipV="1">
            <a:off x="1979712" y="5730327"/>
            <a:ext cx="45390" cy="35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テキスト ボックス 69"/>
          <p:cNvSpPr txBox="1"/>
          <p:nvPr/>
        </p:nvSpPr>
        <p:spPr>
          <a:xfrm>
            <a:off x="5767109" y="5805533"/>
            <a:ext cx="8058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売上分は生成しない</a:t>
            </a: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1503460" y="4125517"/>
            <a:ext cx="8430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人件費を計算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賞与除く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5199994" y="4118373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例外的に賞与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74" name="直線矢印コネクタ 73"/>
          <p:cNvCxnSpPr>
            <a:cxnSpLocks/>
            <a:stCxn id="99" idx="0"/>
            <a:endCxn id="103" idx="2"/>
          </p:cNvCxnSpPr>
          <p:nvPr/>
        </p:nvCxnSpPr>
        <p:spPr bwMode="auto">
          <a:xfrm flipV="1">
            <a:off x="6622811" y="5777166"/>
            <a:ext cx="37421" cy="3291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コネクタ: カギ線 77"/>
          <p:cNvCxnSpPr>
            <a:cxnSpLocks/>
            <a:stCxn id="15" idx="3"/>
            <a:endCxn id="103" idx="0"/>
          </p:cNvCxnSpPr>
          <p:nvPr/>
        </p:nvCxnSpPr>
        <p:spPr bwMode="auto">
          <a:xfrm>
            <a:off x="2339753" y="3063793"/>
            <a:ext cx="4320479" cy="228132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4" name="フローチャート: 書類 83"/>
          <p:cNvSpPr/>
          <p:nvPr/>
        </p:nvSpPr>
        <p:spPr bwMode="auto">
          <a:xfrm>
            <a:off x="2726331" y="898377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日別労務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データ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5" name="直線矢印コネクタ 84"/>
          <p:cNvCxnSpPr>
            <a:cxnSpLocks/>
            <a:stCxn id="18" idx="0"/>
            <a:endCxn id="84" idx="2"/>
          </p:cNvCxnSpPr>
          <p:nvPr/>
        </p:nvCxnSpPr>
        <p:spPr bwMode="auto">
          <a:xfrm flipV="1">
            <a:off x="1979712" y="1327876"/>
            <a:ext cx="1100590" cy="39704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4" name="フローチャート: 書類 93"/>
          <p:cNvSpPr/>
          <p:nvPr/>
        </p:nvSpPr>
        <p:spPr bwMode="auto">
          <a:xfrm>
            <a:off x="3623301" y="891819"/>
            <a:ext cx="707942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月別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残業時間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8" name="直線矢印コネクタ 97"/>
          <p:cNvCxnSpPr>
            <a:cxnSpLocks/>
            <a:stCxn id="62" idx="0"/>
            <a:endCxn id="94" idx="2"/>
          </p:cNvCxnSpPr>
          <p:nvPr/>
        </p:nvCxnSpPr>
        <p:spPr bwMode="auto">
          <a:xfrm flipV="1">
            <a:off x="2753421" y="1321318"/>
            <a:ext cx="1223851" cy="39637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5" name="正方形/長方形 74"/>
          <p:cNvSpPr/>
          <p:nvPr/>
        </p:nvSpPr>
        <p:spPr bwMode="auto">
          <a:xfrm>
            <a:off x="3168286" y="5287237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2" name="直線矢印コネクタ 81"/>
          <p:cNvCxnSpPr>
            <a:cxnSpLocks/>
            <a:endCxn id="75" idx="2"/>
          </p:cNvCxnSpPr>
          <p:nvPr/>
        </p:nvCxnSpPr>
        <p:spPr bwMode="auto">
          <a:xfrm flipV="1">
            <a:off x="3528326" y="5719285"/>
            <a:ext cx="0" cy="3380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8" name="フローチャート: 書類 87"/>
          <p:cNvSpPr/>
          <p:nvPr/>
        </p:nvSpPr>
        <p:spPr bwMode="auto">
          <a:xfrm>
            <a:off x="4517185" y="886586"/>
            <a:ext cx="81831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実働実績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9" name="直線矢印コネクタ 88"/>
          <p:cNvCxnSpPr>
            <a:cxnSpLocks/>
            <a:stCxn id="75" idx="0"/>
            <a:endCxn id="88" idx="2"/>
          </p:cNvCxnSpPr>
          <p:nvPr/>
        </p:nvCxnSpPr>
        <p:spPr bwMode="auto">
          <a:xfrm flipV="1">
            <a:off x="3528326" y="1316085"/>
            <a:ext cx="1398014" cy="39711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9" name="テキスト ボックス 78"/>
          <p:cNvSpPr txBox="1"/>
          <p:nvPr/>
        </p:nvSpPr>
        <p:spPr>
          <a:xfrm>
            <a:off x="3970720" y="410431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例外的に福利費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が含まれる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83" name="直線矢印コネクタ 82"/>
          <p:cNvCxnSpPr>
            <a:cxnSpLocks/>
            <a:stCxn id="18" idx="3"/>
            <a:endCxn id="21" idx="1"/>
          </p:cNvCxnSpPr>
          <p:nvPr/>
        </p:nvCxnSpPr>
        <p:spPr bwMode="auto">
          <a:xfrm flipV="1">
            <a:off x="2339752" y="4656675"/>
            <a:ext cx="2061709" cy="857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正方形/長方形 70"/>
          <p:cNvSpPr/>
          <p:nvPr/>
        </p:nvSpPr>
        <p:spPr bwMode="auto">
          <a:xfrm>
            <a:off x="206346" y="4607481"/>
            <a:ext cx="720080" cy="432048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45720" rIns="36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日別売上実績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伝票毎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3" name="直線矢印コネクタ 92"/>
          <p:cNvCxnSpPr>
            <a:cxnSpLocks/>
            <a:stCxn id="71" idx="3"/>
            <a:endCxn id="21" idx="1"/>
          </p:cNvCxnSpPr>
          <p:nvPr/>
        </p:nvCxnSpPr>
        <p:spPr bwMode="auto">
          <a:xfrm flipV="1">
            <a:off x="926426" y="4656675"/>
            <a:ext cx="3475035" cy="1668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コネクタ: カギ線 94"/>
          <p:cNvCxnSpPr>
            <a:cxnSpLocks/>
            <a:stCxn id="71" idx="2"/>
            <a:endCxn id="14" idx="1"/>
          </p:cNvCxnSpPr>
          <p:nvPr/>
        </p:nvCxnSpPr>
        <p:spPr bwMode="auto">
          <a:xfrm rot="16200000" flipH="1">
            <a:off x="394218" y="5211697"/>
            <a:ext cx="461519" cy="11718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フローチャート: 複数書類 25"/>
          <p:cNvSpPr/>
          <p:nvPr/>
        </p:nvSpPr>
        <p:spPr bwMode="auto">
          <a:xfrm>
            <a:off x="4421158" y="5976909"/>
            <a:ext cx="621549" cy="603920"/>
          </a:xfrm>
          <a:prstGeom prst="flowChartMulti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変動費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マスタ</a:t>
            </a: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00" name="直線矢印コネクタ 99"/>
          <p:cNvCxnSpPr>
            <a:cxnSpLocks/>
            <a:stCxn id="26" idx="0"/>
            <a:endCxn id="21" idx="2"/>
          </p:cNvCxnSpPr>
          <p:nvPr/>
        </p:nvCxnSpPr>
        <p:spPr bwMode="auto">
          <a:xfrm flipH="1" flipV="1">
            <a:off x="4761501" y="4872699"/>
            <a:ext cx="13192" cy="11042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1" name="円弧 100"/>
          <p:cNvSpPr/>
          <p:nvPr/>
        </p:nvSpPr>
        <p:spPr bwMode="auto">
          <a:xfrm>
            <a:off x="6529680" y="4843396"/>
            <a:ext cx="274568" cy="313796"/>
          </a:xfrm>
          <a:prstGeom prst="arc">
            <a:avLst>
              <a:gd name="adj1" fmla="val 10855253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04" name="直線コネクタ 103"/>
          <p:cNvCxnSpPr>
            <a:cxnSpLocks/>
            <a:stCxn id="101" idx="2"/>
            <a:endCxn id="42" idx="0"/>
          </p:cNvCxnSpPr>
          <p:nvPr/>
        </p:nvCxnSpPr>
        <p:spPr bwMode="auto">
          <a:xfrm flipV="1">
            <a:off x="6804248" y="4998088"/>
            <a:ext cx="651301" cy="220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2" name="フローチャート: 書類 91"/>
          <p:cNvSpPr/>
          <p:nvPr/>
        </p:nvSpPr>
        <p:spPr bwMode="auto">
          <a:xfrm>
            <a:off x="1639809" y="903898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6" name="直線矢印コネクタ 95"/>
          <p:cNvCxnSpPr>
            <a:cxnSpLocks/>
            <a:stCxn id="15" idx="0"/>
            <a:endCxn id="92" idx="2"/>
          </p:cNvCxnSpPr>
          <p:nvPr/>
        </p:nvCxnSpPr>
        <p:spPr bwMode="auto">
          <a:xfrm flipV="1">
            <a:off x="1979713" y="1333397"/>
            <a:ext cx="28030" cy="15143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4" name="フローチャート: 書類 113"/>
          <p:cNvSpPr/>
          <p:nvPr/>
        </p:nvSpPr>
        <p:spPr bwMode="auto">
          <a:xfrm>
            <a:off x="7176223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日別売上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5" name="フローチャート: 書類 114"/>
          <p:cNvSpPr/>
          <p:nvPr/>
        </p:nvSpPr>
        <p:spPr bwMode="auto">
          <a:xfrm>
            <a:off x="8028384" y="883905"/>
            <a:ext cx="735868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日別費用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実績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116" name="直線矢印コネクタ 115"/>
          <p:cNvCxnSpPr>
            <a:cxnSpLocks/>
            <a:stCxn id="16" idx="0"/>
            <a:endCxn id="115" idx="2"/>
          </p:cNvCxnSpPr>
          <p:nvPr/>
        </p:nvCxnSpPr>
        <p:spPr bwMode="auto">
          <a:xfrm flipH="1" flipV="1">
            <a:off x="8396318" y="1313404"/>
            <a:ext cx="725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7" name="直線矢印コネクタ 116"/>
          <p:cNvCxnSpPr>
            <a:cxnSpLocks/>
            <a:stCxn id="17" idx="0"/>
            <a:endCxn id="114" idx="2"/>
          </p:cNvCxnSpPr>
          <p:nvPr/>
        </p:nvCxnSpPr>
        <p:spPr bwMode="auto">
          <a:xfrm flipH="1" flipV="1">
            <a:off x="7544157" y="1313404"/>
            <a:ext cx="48662" cy="38432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87" name="フローチャート: 書類 86"/>
          <p:cNvSpPr/>
          <p:nvPr/>
        </p:nvSpPr>
        <p:spPr bwMode="auto">
          <a:xfrm>
            <a:off x="3168286" y="6057373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作業別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実働ﾃﾞｰﾀ</a:t>
            </a:r>
            <a:endParaRPr kumimoji="1" lang="en-US" altLang="ja-JP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フローチャート: 書類 89"/>
          <p:cNvSpPr/>
          <p:nvPr/>
        </p:nvSpPr>
        <p:spPr bwMode="auto">
          <a:xfrm>
            <a:off x="1665062" y="6081326"/>
            <a:ext cx="720080" cy="459904"/>
          </a:xfrm>
          <a:prstGeom prst="flowChartDocumen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DAIM</a:t>
            </a:r>
          </a:p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勤怠ﾃﾞｰﾀ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1" name="コネクタ: 曲線 90"/>
          <p:cNvCxnSpPr>
            <a:cxnSpLocks/>
          </p:cNvCxnSpPr>
          <p:nvPr/>
        </p:nvCxnSpPr>
        <p:spPr bwMode="auto">
          <a:xfrm rot="5400000" flipH="1" flipV="1">
            <a:off x="5153461" y="1982860"/>
            <a:ext cx="141671" cy="6489168"/>
          </a:xfrm>
          <a:prstGeom prst="curvedConnector3">
            <a:avLst>
              <a:gd name="adj1" fmla="val 9608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2" name="テキスト ボックス 101"/>
          <p:cNvSpPr txBox="1"/>
          <p:nvPr/>
        </p:nvSpPr>
        <p:spPr>
          <a:xfrm>
            <a:off x="7655090" y="4505059"/>
            <a:ext cx="812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シフト計画で予算を上書き</a:t>
            </a:r>
          </a:p>
        </p:txBody>
      </p:sp>
    </p:spTree>
    <p:extLst>
      <p:ext uri="{BB962C8B-B14F-4D97-AF65-F5344CB8AC3E}">
        <p14:creationId xmlns:p14="http://schemas.microsoft.com/office/powerpoint/2010/main" val="39780574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48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加工ステップ（ 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４：固定費）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四角形: 角を丸くする 3"/>
          <p:cNvSpPr/>
          <p:nvPr/>
        </p:nvSpPr>
        <p:spPr bwMode="auto">
          <a:xfrm>
            <a:off x="179512" y="5285305"/>
            <a:ext cx="265791" cy="1368152"/>
          </a:xfrm>
          <a:prstGeom prst="roundRect">
            <a:avLst/>
          </a:prstGeom>
          <a:solidFill>
            <a:srgbClr val="CCE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ソースＣＳＶ</a:t>
            </a:r>
          </a:p>
        </p:txBody>
      </p:sp>
      <p:sp>
        <p:nvSpPr>
          <p:cNvPr id="5" name="四角形: 角を丸くする 4"/>
          <p:cNvSpPr/>
          <p:nvPr/>
        </p:nvSpPr>
        <p:spPr bwMode="auto">
          <a:xfrm>
            <a:off x="177517" y="3683804"/>
            <a:ext cx="265791" cy="1368152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ＤＢ：計算ソース</a:t>
            </a:r>
          </a:p>
        </p:txBody>
      </p:sp>
      <p:sp>
        <p:nvSpPr>
          <p:cNvPr id="6" name="四角形: 角を丸くする 5"/>
          <p:cNvSpPr/>
          <p:nvPr/>
        </p:nvSpPr>
        <p:spPr bwMode="auto">
          <a:xfrm>
            <a:off x="175358" y="1700809"/>
            <a:ext cx="265791" cy="1877222"/>
          </a:xfrm>
          <a:prstGeom prst="roundRec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ＤＢ：計算結果</a:t>
            </a:r>
          </a:p>
        </p:txBody>
      </p:sp>
      <p:sp>
        <p:nvSpPr>
          <p:cNvPr id="7" name="四角形: 角を丸くする 6"/>
          <p:cNvSpPr/>
          <p:nvPr/>
        </p:nvSpPr>
        <p:spPr bwMode="auto">
          <a:xfrm>
            <a:off x="175359" y="671511"/>
            <a:ext cx="265791" cy="898711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</a:rPr>
              <a:t>出力</a:t>
            </a:r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ＣＳＶ</a:t>
            </a:r>
            <a:endParaRPr kumimoji="1" lang="en-US" altLang="ja-JP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/>
          <p:cNvSpPr/>
          <p:nvPr/>
        </p:nvSpPr>
        <p:spPr bwMode="auto">
          <a:xfrm>
            <a:off x="2716032" y="1807883"/>
            <a:ext cx="2802346" cy="119985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34"/>
          <p:cNvSpPr txBox="1"/>
          <p:nvPr/>
        </p:nvSpPr>
        <p:spPr>
          <a:xfrm>
            <a:off x="2710067" y="1911080"/>
            <a:ext cx="26015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　店舗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36"/>
          <p:cNvSpPr txBox="1"/>
          <p:nvPr/>
        </p:nvSpPr>
        <p:spPr>
          <a:xfrm>
            <a:off x="2710067" y="2141912"/>
            <a:ext cx="272346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従業員賞与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通勤交通費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・・・・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従業員賞与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通勤交通費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483768" y="3605406"/>
            <a:ext cx="1203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＜日別予算費用＞</a:t>
            </a:r>
          </a:p>
        </p:txBody>
      </p:sp>
      <p:sp>
        <p:nvSpPr>
          <p:cNvPr id="34" name="正方形/長方形 33"/>
          <p:cNvSpPr/>
          <p:nvPr/>
        </p:nvSpPr>
        <p:spPr bwMode="auto">
          <a:xfrm>
            <a:off x="2743840" y="3882503"/>
            <a:ext cx="2774537" cy="143261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2555776" y="1546281"/>
            <a:ext cx="14662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＜日別</a:t>
            </a:r>
            <a:r>
              <a:rPr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固定</a:t>
            </a:r>
            <a:r>
              <a:rPr kumimoji="1" lang="ja-JP" altLang="en-US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費実績＞</a:t>
            </a:r>
          </a:p>
        </p:txBody>
      </p:sp>
      <p:sp>
        <p:nvSpPr>
          <p:cNvPr id="49" name="テキスト ボックス 48"/>
          <p:cNvSpPr txBox="1"/>
          <p:nvPr/>
        </p:nvSpPr>
        <p:spPr>
          <a:xfrm>
            <a:off x="451579" y="3933056"/>
            <a:ext cx="1088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トランザクションデータは、他箇所で生成したものをそのまま利用する。</a:t>
            </a:r>
            <a:endParaRPr kumimoji="1"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テキスト ボックス 49"/>
          <p:cNvSpPr txBox="1"/>
          <p:nvPr/>
        </p:nvSpPr>
        <p:spPr>
          <a:xfrm>
            <a:off x="4614462" y="813486"/>
            <a:ext cx="12432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この段階では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MBC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用の出力はしない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テキスト ボックス 50"/>
          <p:cNvSpPr txBox="1"/>
          <p:nvPr/>
        </p:nvSpPr>
        <p:spPr>
          <a:xfrm>
            <a:off x="459487" y="2347032"/>
            <a:ext cx="7137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ヶ月分のデータを計算し、総入れ替え</a:t>
            </a:r>
          </a:p>
        </p:txBody>
      </p:sp>
      <p:sp>
        <p:nvSpPr>
          <p:cNvPr id="62" name="矢印: 上 61"/>
          <p:cNvSpPr/>
          <p:nvPr/>
        </p:nvSpPr>
        <p:spPr bwMode="auto">
          <a:xfrm>
            <a:off x="3972968" y="1310483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cxnSp>
        <p:nvCxnSpPr>
          <p:cNvPr id="13" name="直線コネクタ 12"/>
          <p:cNvCxnSpPr/>
          <p:nvPr/>
        </p:nvCxnSpPr>
        <p:spPr bwMode="auto">
          <a:xfrm>
            <a:off x="3928717" y="861525"/>
            <a:ext cx="602713" cy="28803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線コネクタ 62"/>
          <p:cNvCxnSpPr>
            <a:cxnSpLocks/>
          </p:cNvCxnSpPr>
          <p:nvPr/>
        </p:nvCxnSpPr>
        <p:spPr bwMode="auto">
          <a:xfrm flipV="1">
            <a:off x="3928717" y="856659"/>
            <a:ext cx="602713" cy="29289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4" name="矢印: 上 43"/>
          <p:cNvSpPr/>
          <p:nvPr/>
        </p:nvSpPr>
        <p:spPr bwMode="auto">
          <a:xfrm>
            <a:off x="3972967" y="3291342"/>
            <a:ext cx="472269" cy="303908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pitchFamily="50" charset="-128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4484569" y="3293638"/>
            <a:ext cx="10955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該当する科目のみ抜き出すだけ</a:t>
            </a:r>
          </a:p>
        </p:txBody>
      </p:sp>
      <p:sp>
        <p:nvSpPr>
          <p:cNvPr id="57" name="テキスト ボックス 34"/>
          <p:cNvSpPr txBox="1"/>
          <p:nvPr/>
        </p:nvSpPr>
        <p:spPr>
          <a:xfrm>
            <a:off x="2699792" y="3925506"/>
            <a:ext cx="26015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年月日　　　店舗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勘定科目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　　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金額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テキスト ボックス 36"/>
          <p:cNvSpPr txBox="1"/>
          <p:nvPr/>
        </p:nvSpPr>
        <p:spPr>
          <a:xfrm>
            <a:off x="2699792" y="4156338"/>
            <a:ext cx="272346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umimoji="1" sz="1000" kern="12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社員給与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アルバイト給与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従業員賞与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75000</a:t>
            </a:r>
            <a:r>
              <a:rPr kumimoji="1"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通勤交通費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38000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修学院　・・・・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15600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従業員賞与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80000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lang="en-US" altLang="ja-JP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2017/4/1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ネット　通勤交通費　　</a:t>
            </a:r>
            <a:r>
              <a:rPr lang="en-US" altLang="ja-JP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15000</a:t>
            </a:r>
            <a:r>
              <a:rPr lang="ja-JP" altLang="en-US" sz="9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円</a:t>
            </a:r>
            <a:endParaRPr kumimoji="1" lang="ja-JP" altLang="en-US" sz="9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35849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49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勤怠系マスタ ファイル定義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67849" y="764704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■項目定義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8954" y="2348880"/>
            <a:ext cx="3989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■データ例</a:t>
            </a:r>
            <a:endParaRPr kumimoji="1" lang="ja-JP" alt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" name="オブジェクト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3423934"/>
              </p:ext>
            </p:extLst>
          </p:nvPr>
        </p:nvGraphicFramePr>
        <p:xfrm>
          <a:off x="755650" y="1106488"/>
          <a:ext cx="7764462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4" name="Worksheet" r:id="rId4" imgW="7764728" imgH="921881" progId="Excel.Sheet.12">
                  <p:embed/>
                </p:oleObj>
              </mc:Choice>
              <mc:Fallback>
                <p:oleObj name="Worksheet" r:id="rId4" imgW="7764728" imgH="9218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650" y="1106488"/>
                        <a:ext cx="7764462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オブジェクト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059179"/>
              </p:ext>
            </p:extLst>
          </p:nvPr>
        </p:nvGraphicFramePr>
        <p:xfrm>
          <a:off x="755650" y="2708920"/>
          <a:ext cx="3562350" cy="225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25" name="Worksheet" r:id="rId6" imgW="3562220" imgH="2251918" progId="Excel.Sheet.12">
                  <p:embed/>
                </p:oleObj>
              </mc:Choice>
              <mc:Fallback>
                <p:oleObj name="Worksheet" r:id="rId6" imgW="3562220" imgH="225191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650" y="2708920"/>
                        <a:ext cx="3562350" cy="2252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1894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 4"/>
          <p:cNvSpPr>
            <a:spLocks noGrp="1"/>
          </p:cNvSpPr>
          <p:nvPr>
            <p:ph type="sldNum" sz="quarter" idx="11"/>
          </p:nvPr>
        </p:nvSpPr>
        <p:spPr>
          <a:xfrm>
            <a:off x="6553200" y="6553200"/>
            <a:ext cx="1905000" cy="22860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4B878D6-9DD2-024F-991D-885F032D960A}" type="slidenum">
              <a:rPr lang="en-US" altLang="ja-JP"/>
              <a:pPr eaLnBrk="1" hangingPunct="1"/>
              <a:t>50</a:t>
            </a:fld>
            <a:endParaRPr lang="en-US" altLang="ja-JP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04663"/>
            <a:ext cx="5182344" cy="266849"/>
          </a:xfrm>
        </p:spPr>
        <p:txBody>
          <a:bodyPr/>
          <a:lstStyle/>
          <a:p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加工ロジックの詳細（②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‐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４：固定費） ：生成ロジック（日別固定費実績）</a:t>
            </a:r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510140"/>
              </p:ext>
            </p:extLst>
          </p:nvPr>
        </p:nvGraphicFramePr>
        <p:xfrm>
          <a:off x="2051720" y="857063"/>
          <a:ext cx="5184575" cy="5840226"/>
        </p:xfrm>
        <a:graphic>
          <a:graphicData uri="http://schemas.openxmlformats.org/drawingml/2006/table">
            <a:tbl>
              <a:tblPr/>
              <a:tblGrid>
                <a:gridCol w="1237120">
                  <a:extLst>
                    <a:ext uri="{9D8B030D-6E8A-4147-A177-3AD203B41FA5}">
                      <a16:colId xmlns:a16="http://schemas.microsoft.com/office/drawing/2014/main" val="901289454"/>
                    </a:ext>
                  </a:extLst>
                </a:gridCol>
                <a:gridCol w="831042">
                  <a:extLst>
                    <a:ext uri="{9D8B030D-6E8A-4147-A177-3AD203B41FA5}">
                      <a16:colId xmlns:a16="http://schemas.microsoft.com/office/drawing/2014/main" val="3584528772"/>
                    </a:ext>
                  </a:extLst>
                </a:gridCol>
                <a:gridCol w="538289">
                  <a:extLst>
                    <a:ext uri="{9D8B030D-6E8A-4147-A177-3AD203B41FA5}">
                      <a16:colId xmlns:a16="http://schemas.microsoft.com/office/drawing/2014/main" val="3404964101"/>
                    </a:ext>
                  </a:extLst>
                </a:gridCol>
                <a:gridCol w="339973">
                  <a:extLst>
                    <a:ext uri="{9D8B030D-6E8A-4147-A177-3AD203B41FA5}">
                      <a16:colId xmlns:a16="http://schemas.microsoft.com/office/drawing/2014/main" val="3806709485"/>
                    </a:ext>
                  </a:extLst>
                </a:gridCol>
                <a:gridCol w="1303228">
                  <a:extLst>
                    <a:ext uri="{9D8B030D-6E8A-4147-A177-3AD203B41FA5}">
                      <a16:colId xmlns:a16="http://schemas.microsoft.com/office/drawing/2014/main" val="1187512865"/>
                    </a:ext>
                  </a:extLst>
                </a:gridCol>
                <a:gridCol w="934923">
                  <a:extLst>
                    <a:ext uri="{9D8B030D-6E8A-4147-A177-3AD203B41FA5}">
                      <a16:colId xmlns:a16="http://schemas.microsoft.com/office/drawing/2014/main" val="2491393840"/>
                    </a:ext>
                  </a:extLst>
                </a:gridCol>
              </a:tblGrid>
              <a:tr h="134870"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弥生の勘定科目名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小分類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中分類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大分類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算出基準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弥生で上書きするか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914321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役員報酬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4"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弥生会計には勘定科目として存在しますが、</a:t>
                      </a:r>
                      <a:r>
                        <a:rPr lang="en-US" altLang="ja-JP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MBC</a:t>
                      </a:r>
                      <a: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側では使用しませんので、無視して頂いて結構です。</a:t>
                      </a:r>
                      <a:br>
                        <a:rPr lang="ja-JP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endParaRPr lang="ja-JP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－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75735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役員賞与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－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788517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事確引当金繰入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－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750362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社員給与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社員人件費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DAIM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と給与マスタ</a:t>
                      </a:r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kintone)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9308832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アルバイト給与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アルバイト人件費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DAIM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57649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従業員賞与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社員人件費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9462146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通勤交通費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40935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法定福利費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社員人件費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人件費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社員給与✕</a:t>
                      </a:r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15%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158517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福利厚生費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7978743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人材採用費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353105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教育研修費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080463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外注費</a:t>
                      </a:r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</a:t>
                      </a:r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635339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外注作業費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</a:t>
                      </a:r>
                      <a:r>
                        <a:rPr lang="en-US" altLang="zh-TW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外注作業費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別シート参照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1988460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荷造運賃（混在）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荷造運賃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別シート参照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3939549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物流費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169829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カード手数料（非課税）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手数料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別シート参照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51167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決済手数料（課税）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手数料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別シート参照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601629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販売手数料（課税）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手数料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変動費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別シート参照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NO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0114376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投資費用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投資費用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企画固定費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56855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集客費</a:t>
                      </a:r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未払・前払計上</a:t>
                      </a:r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集客費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企画固定費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62513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販売促進費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770378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4031000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旅費交通費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6712024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通信費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248098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交際費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7249614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会議費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4052164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備品・消耗品費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541185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ja-JP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・業務効率費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144381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修繕費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家賃・設備費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084026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水道光熱費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4210650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支払手数料（混在）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574429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地代家賃（混在）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家賃・設備費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517592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設備減価償却費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家賃・設備費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796768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減価償却費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IT</a:t>
                      </a:r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費用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471741"/>
                  </a:ext>
                </a:extLst>
              </a:tr>
              <a:tr h="13487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長期前払費用償却費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6917287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顧問料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661347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保険料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732951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租税公課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256721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雑費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91920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全社費用調整勘定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全社費用調整勘定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460798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貸倒引当金繰入額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活動費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7406376"/>
                  </a:ext>
                </a:extLst>
              </a:tr>
              <a:tr h="123022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支払利息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支払利息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固定費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予算の固定値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YES</a:t>
                      </a:r>
                    </a:p>
                  </a:txBody>
                  <a:tcPr marL="2812" marR="2812" marT="281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579701"/>
                  </a:ext>
                </a:extLst>
              </a:tr>
            </a:tbl>
          </a:graphicData>
        </a:graphic>
      </p:graphicFrame>
      <p:sp>
        <p:nvSpPr>
          <p:cNvPr id="9" name="テキスト ボックス 8"/>
          <p:cNvSpPr txBox="1"/>
          <p:nvPr/>
        </p:nvSpPr>
        <p:spPr>
          <a:xfrm>
            <a:off x="611560" y="1002214"/>
            <a:ext cx="12432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背景オレンジ色の勘定科目についてここでは生成する。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1406881"/>
      </p:ext>
    </p:extLst>
  </p:cSld>
  <p:clrMapOvr>
    <a:masterClrMapping/>
  </p:clrMapOvr>
</p:sld>
</file>

<file path=ppt/theme/theme1.xml><?xml version="1.0" encoding="utf-8"?>
<a:theme xmlns:a="http://schemas.openxmlformats.org/drawingml/2006/main" name="R3_Template_NoMessage">
  <a:themeElements>
    <a:clrScheme name="Office テーマ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DDDDD"/>
      </a:accent1>
      <a:accent2>
        <a:srgbClr val="000000"/>
      </a:accent2>
      <a:accent3>
        <a:srgbClr val="FFFFFF"/>
      </a:accent3>
      <a:accent4>
        <a:srgbClr val="000000"/>
      </a:accent4>
      <a:accent5>
        <a:srgbClr val="EBEBEB"/>
      </a:accent5>
      <a:accent6>
        <a:srgbClr val="000000"/>
      </a:accent6>
      <a:hlink>
        <a:srgbClr val="CCCCFF"/>
      </a:hlink>
      <a:folHlink>
        <a:srgbClr val="B2B2B2"/>
      </a:folHlink>
    </a:clrScheme>
    <a:fontScheme name="Office テーマ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pitchFamily="50" charset="-128"/>
          </a:defRPr>
        </a:defPPr>
      </a:lstStyle>
    </a:lnDef>
  </a:objectDefaults>
  <a:extraClrSchemeLst>
    <a:extraClrScheme>
      <a:clrScheme name="Office テーマ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テーマ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テーマ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テーマ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テーマ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テーマ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テーマ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テーマ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DDDDDD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000000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5629</Words>
  <Application>Microsoft Office PowerPoint</Application>
  <PresentationFormat>画面に合わせる (4:3)</PresentationFormat>
  <Paragraphs>1491</Paragraphs>
  <Slides>51</Slides>
  <Notes>51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51</vt:i4>
      </vt:variant>
    </vt:vector>
  </HeadingPairs>
  <TitlesOfParts>
    <vt:vector size="59" baseType="lpstr">
      <vt:lpstr>Meiryo UI</vt:lpstr>
      <vt:lpstr>ＭＳ Ｐゴシック</vt:lpstr>
      <vt:lpstr>ＭＳ Ｐ明朝</vt:lpstr>
      <vt:lpstr>メイリオ</vt:lpstr>
      <vt:lpstr>Arial</vt:lpstr>
      <vt:lpstr>Times New Roman</vt:lpstr>
      <vt:lpstr>R3_Template_NoMessage</vt:lpstr>
      <vt:lpstr>Worksheet</vt:lpstr>
      <vt:lpstr>分析データ設計の方針</vt:lpstr>
      <vt:lpstr>データソースと加工ステップ　 ～①売上関連～</vt:lpstr>
      <vt:lpstr>日別売上実績 に持つ項目および概要</vt:lpstr>
      <vt:lpstr>日別売上実績 加工のポイント (1)</vt:lpstr>
      <vt:lpstr>日別売上実績 加工のポイント (2)</vt:lpstr>
      <vt:lpstr>日別売上実績 加工のポイント (3)</vt:lpstr>
      <vt:lpstr>日別売上実績 加工のポイント (4)</vt:lpstr>
      <vt:lpstr>日別売上実績 加工のポイント (5)</vt:lpstr>
      <vt:lpstr>日別売上実績 加工のポイント (6)</vt:lpstr>
      <vt:lpstr>加工ステップ　（①：売上関連）</vt:lpstr>
      <vt:lpstr>アウトプットイメージ　 ～②店舗詳細～</vt:lpstr>
      <vt:lpstr>②日別売上実績 ファイル定義</vt:lpstr>
      <vt:lpstr>日別売上実績（伝票毎） 加工のポイント</vt:lpstr>
      <vt:lpstr>日別売上実績（伝票毎） ファイル定義</vt:lpstr>
      <vt:lpstr>分析データ設計の方針</vt:lpstr>
      <vt:lpstr>データソースと加工ステップ　 ～②費用関連～</vt:lpstr>
      <vt:lpstr>PowerPoint プレゼンテーション</vt:lpstr>
      <vt:lpstr>アウトプットイメージ１　～労務時間・労務費～</vt:lpstr>
      <vt:lpstr>アウトプットイメージ２　～残業時間～</vt:lpstr>
      <vt:lpstr>アウトプットイメージ３　～作業別実働実績～</vt:lpstr>
      <vt:lpstr>データソースと加工ステップ　 ～②費用関連　→　②‐１：勤怠関連～</vt:lpstr>
      <vt:lpstr>加工ステップ　（②‐1：勤怠関連　１／２）</vt:lpstr>
      <vt:lpstr>加工ステップ　（②‐1：勤怠関連　２／２ ）</vt:lpstr>
      <vt:lpstr>加工ロジックの詳細（ ②‐1：勤怠関連）：データソース</vt:lpstr>
      <vt:lpstr>加工ロジックの詳細（②‐1：勤怠関連） ：生成ロジック（日別労務データ）</vt:lpstr>
      <vt:lpstr>日別労務データ ファイル定義</vt:lpstr>
      <vt:lpstr>月別残業時間 ファイル定義</vt:lpstr>
      <vt:lpstr>日別作業別実働実績 ファイル定義</vt:lpstr>
      <vt:lpstr>従業員マスタ ファイル定義 （kintoneよりデータ連携）</vt:lpstr>
      <vt:lpstr>加工ロジックの詳細（ ②‐1：勤怠関連） ：生成ロジック（月別残業時間）</vt:lpstr>
      <vt:lpstr>加工ロジックの詳細（ ②‐1：勤怠関連） ：生成ロジック（日別作業別実働実績）</vt:lpstr>
      <vt:lpstr>加工ロジックの詳細（ ②‐1：勤怠関連） ：サンプルデータによる説明</vt:lpstr>
      <vt:lpstr>PowerPoint プレゼンテーション</vt:lpstr>
      <vt:lpstr>アウトプットイメージ例　～月別店舗詳細～</vt:lpstr>
      <vt:lpstr>勘定科目ごとの費用</vt:lpstr>
      <vt:lpstr>データソースと加工ステップ　 ～②費用関連　→　②‐２：費用実績全体～</vt:lpstr>
      <vt:lpstr>確定データによる上書き処理</vt:lpstr>
      <vt:lpstr>加工ステップ（②‐２：費用実績全体）</vt:lpstr>
      <vt:lpstr>加工ロジックの詳細（②‐２：費用実績全体）：データソース</vt:lpstr>
      <vt:lpstr>加工ロジックの詳細（②‐２：費用実績全体） ：生成ロジック（日別費用実績）</vt:lpstr>
      <vt:lpstr>PowerPoint プレゼンテーション</vt:lpstr>
      <vt:lpstr>データソースと加工ステップ　 ～②費用関連　→　②‐３：変動費～</vt:lpstr>
      <vt:lpstr>加工ステップ（ ②‐３：変動費）</vt:lpstr>
      <vt:lpstr>加工ロジックの詳細（②‐３：変動費） ：データソース（グループA）</vt:lpstr>
      <vt:lpstr>加工ロジックの詳細（②‐３：変動費） ：データソース（グループB）</vt:lpstr>
      <vt:lpstr>加工ロジックの詳細（②‐３：変動費） ：生成ロジック（日別変動費実績）</vt:lpstr>
      <vt:lpstr>PowerPoint プレゼンテーション</vt:lpstr>
      <vt:lpstr>データソースと加工ステップ　 ～②費用関連　→　②－４：固定費～</vt:lpstr>
      <vt:lpstr>加工ステップ（ ②‐４：固定費）</vt:lpstr>
      <vt:lpstr>勤怠系マスタ ファイル定義</vt:lpstr>
      <vt:lpstr>加工ロジックの詳細（②‐４：固定費） ：生成ロジック（日別固定費実績）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2017-05-11T02:00:12Z</dcterms:created>
  <dcterms:modified xsi:type="dcterms:W3CDTF">2017-05-11T02:00:35Z</dcterms:modified>
</cp:coreProperties>
</file>